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3-2.svg" ContentType="image/svg+xml"/>
  <Override PartName="/ppt/media/image-17-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sits at the meeting point of three worlds: agronomy in the field, weed science in the lab, and bioinformatics at the computer. Over the next 15 minutes I'll go from the field problem, through the choices we made, into the results, and end on what's new and where we go next. One-line version: we asked whether resistance mutations across seven unrelated herbicide targets sit in the same kind of structural neighborhood, and we built a reproducible pipeline to answer it. Since I last showed this, the whole thing has been reframed after a hard internal review — the yes/no answer turned out to be the expected part, and the real contribution is a typology of HOW those mutations relate to the pocket. We also finished auditing the two emerging targets and got the manuscript to submission-ready for Pest Management Science. I'll flag those changes as we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field. For the agronomists this is daily reality: the chemistry we rely on is running out of road. Very few genuinely new herbicide mechanisms have reached the market in decades, while resistance keeps spreading across every major class. The sharp edge is target-site resistance — when a single mutation in the target enzyme spreads through a population, an entire herbicide chemistry can simply stop working across a field. Understanding those mutations structurally is how we stay ahead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framing for the mixed audience. A weed can survive a spray two broad ways. Non-target-site resistance is everything the plant does around the target — metabolizing the herbicide, pumping it out, over-expressing the enzyme. Target-site resistance is a change to the target enzyme itself, often a single amino-acid substitution or a deletion, that reduces herbicide binding while keeping the enzyme functional enough to live. This project is deliberately about the second kind, because that's the part that lives in protein structure and is therefore something we can map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gap that motivated the whole project. Target-site resistance is real and well-studied — but almost always one enzyme family at a time. The PPO people talk to the PPO people; the ALS people talk to the ALS people. Each community has its own structures, numbering, and conventions. What nobody had done systematically is stand back and ask a comparative question across unrelated targets using one consistent yardstick. That's the space we're working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question, stated plainly. If seven herbicide targets evolved resistance completely independently — different enzymes, different chemistries, different weeds — do their resistance mutations nonetheless land in a structurally similar place relative to the active site? A shared 'address'? If yes, that's a general property of target-site resistance we can measure. Keep this sentence in mind; everything after this is how we answered it and what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sites of action. Four are the pooled, fully-validated core of the analysis: PPO, ALS/AHAS, ACCase, and EPSPS — household names to any weed scientist. HPPD is kept deliberately as a contrast case; I'll explain why later. FAT and DHODH are emerging targets on the Phase 5 roadmap. Each maps to a real, herbicide-relevant protein structure — the four-letter codes are Protein Data Bank IDs and the links open the actual 3D models you can rotate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methods, the most important decision we made. We could have chased molecular dynamics and binding free-energy simulations — the glamorous, expensive route. We deliberately did not. We built a static structural resource: it tells you where a residue sits, how buried it is, how conserved it is. It does not claim to compute binding energy. That's a scope boundary, and stating it up front is what keeps the whole project honest. Static mapping answers a tractable question well; dynamics answers a different, harder one and we lean on published dynamics studies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pipeline on one slide — bioinformaticians, this is your map. Six stages, fully scripted and deterministic: curate mutations from primary sources; map each onto a herbicide-relevant structure; define the active-site core from ligand contacts; compute three residue-level metrics; run a within-family permutation test against random residues; and finally annotate the mechanism class. One command regenerates every table and figure downstream. Each of the next few slides zooms into one of these stages and the choice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and a choice we're proud of: evidence discipline. Every mutation row has to be backed by a primary source. We refused to infer accessions by sequence-length matching or guesswork — if a paper didn't give an accession, we kept the residue as literature-supported but never invented a database ID. We also refused to pool engineered or lab-selected mutations as if they were weed-evolved. This is boring and unglamorous and it's exactly what makes the downstream statistics trustworthy. Seventeen mutation rows survived this gate across four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which structure represents each family. We picked real, herbicide-relevant structures — ligand-bound where possible, plant or plant-like where possible. The PDB codes here are live links to the 3D models. One honest caveat sits on ACCase: there's no experimentally solved weed ACCase complex, so we built a SWISS-MODEL homology model of the black-grass CT domain on the yeast 1UYS template. That means ACCase numbers are homology-model-derived, not crystal-observed — and we flag that everywhere it appears rather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new, and it's here because a reviewer caught something important. When you map a weed's mutation onto a crystal structure from a distantly-related organism, you can end up measuring the wrong amino acid — the template may carry a different residue at that exact position. In our ACCase case the yeast template actually carried the RESISTANT residue at two of the positions. Backbone distance is robust to that, but any side-chain measurement like solvent exposure is not. So we did two things. First, every mutation row now carries an explicit flag for whether the template residue matches the weed residue — the mismatch is visible in the data, not hidden. Second, we rebuilt ACCase entirely on a SWISS-MODEL homology model of the black-grass sequence, so its numbers describe the weed, not yeast. This is exactly the kind of honesty that makes a reviewer trust the rest of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four: the three metrics, in plain language, because this room spans specialties. Distance-to-core percentile: how close a residue is to the active site, ranked within its own protein so a big enzyme and a small one are comparable — low percentile means close. RSA, relative solvent accessibility: how exposed the residue is to solvent, normalized by residue type. Conservation: how unchanged the position is across many species, from a multiple sequence alignment. Together they describe the structural context of a mutation without pretending to be a binding-energy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five: the statistical test, and it's simple to explain. For each family we take the observed resistance positions and ask: how close to the active-site core are they, on average? Then we draw ten thousand random sets of residues of the same size from the same structure and ask the same thing. If the real positions are consistently closer than almost all random sets, that's enrichment, and the empirical p-value is just the fraction of random draws that beat the real ones. Seed is fixed so it's fully reproducible. This is the honest way to ask 'is this closer than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specifically what tools were used and for what — here they are, grouped and linked. The analysis core is Python: biopython, pandas, numpy, plus pyKVFinder for cavity work and pypdf. Structure and surface work runs through ChimeraX, with a pure-Python fallback so the pipeline runs without it. Alignments use MAFFT. The ACCase homology model came from SWISS-MODEL. Mixed-effects stats use R with lme4. And yes — AI coding assistants (Claude / Codex) were used for scripting, refactoring, and documentation, always with the evidence gate and verification logs as the backstop. Every link here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being honest about what this result is: it's the EXPECTED baseline, not the headline. In PPO, ALS/AHAS, and ACCase, real resistance positions sit dramatically closer to the active-site core than random residues. Read the bars: grey is the random mean, always around the 50th percentile by construction; the colored bar is what we observed. ALS positions average the 5th percentile, PPO the 8th, ACCase the 13th — all with p-values well under 0.001. EPSPS points the same direction but has only one accepted position, so we call it descriptive, not a family-level test. The pattern is real and it's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intellectual heart of the paper, so slow down here. A skeptic will say: of course resistance positions are near the active site — direct-contact residues score zero distance by definition, so the enrichment is baked in. Fair. So we ran the test again with all the direct-contact residues removed, testing only the non-core positions. The enrichment survives: PPO non-core p=0.004, ACCase non-core p=0.010. That's the non-tautological result — the signal is not just the definition talking. This is what makes the finding a finding rather than a restatement.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resistance-zone map — one lane per family, each dot a resistance position placed by its distance-to-core percentile, left meaning closest. The shaded band on the left is the direct-contact core. Color encodes mechanism class. Read it left to right: ALS positions pile up right at the contact core; PPO and ACCase spread from the core outward through adjacent and second-shell positions to more distal interface sites; EPSPS Pro106 sits just outside the contact cutoff. This single picture is the typology the paper is really about — not whether positions are near the pocket, but how they relate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name the typology and give the two flagship non-obvious cases, because these are what a weed scientist will remember. Five classes: direct-core contact, adjacent, second-shell or channel, allosteric hinge, and interface induced-fit. The flagship is PPO Delta-G210 — a glycine deletion whose effect isn't distance at all but helix destabilization and cavity expansion; distance alone would under-rate it, which is why we pair mapping with literature mechanism. The other is ACCase Cys2088Arg — the most distal accepted position, sitting out in the dimer-interface resistance zone yet still conferring broad resistance. The non-contact cases are where structural mapping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credibility. HPPD is a real herbicide target, but when we audited the literature we found no accepted weed-evolved target-site amino-acid mutation for it — resistance there runs through metabolism and over-expression instead. A weaker project would have forced a mutation in to keep the story tidy. We kept HPPD as an explicit contrast case with zero pooled mutation rows. Showing where the framework correctly says 'nothing here' is what tells a reviewer the positive results aren't manufactured.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limits, because this room includes people who will and should push back. This is a static structural resource. It does not model mutant-state ensembles, free-energy changes, metabolism, expression, copy number, or field-level evolution. Distance percentile is context, not causation. EPSPS is underpowered at one position. ACCase rests on a homology model, not a solved weed structure. And structure choice and core definition influence the output — which is exactly why everything is scripted, seeded, documented, and run both with and without the direct-core residues. The limits are stated so the claims stay inside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it together — why this is different from prior work, and what it's good for. Different: prior work is family-by-family; this is the first reproducible cross-family yardstick, and it moves past the obvious 'mutations are near the pocket' to a tested typology of how they relate to it. Practically: it's a triage lens. When a new resistance mutation is reported, you can place it in the shared framework in minutes and get a structurally-informed first read — is this a direct-contact, a second-shell, or an interface case — which shapes what assay or which alternative chemistry to try next. It's a starting map for a new mutation, not the final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changed the most since last time. We had FAT and DHODH pencilled in as 'coming to the pipeline soon.' We actually audited both against primary sources this round — and the honest answer is: neither belongs in the pooled analysis yet, and I want to tell you why, because the reasoning is the point. FAT: the strong resistance mutation, R171K, is a lab construct. It has a big resistance index on paper, but it needs three simultaneous nucleotide changes to arise from the wild-type codon, so the authors themselves conclude field evolution is extremely unlikely. Meanwhile there IS real cinmethylin resistance out in Australian ryegrass — but it's metabolic, P450-driven, not a target-site mutation, so it isn't the mechanism our structural framework measures. DHODH: the two mutations we found, G198E and A141T, come from EMS-mutagenised Arabidopsis in the lab, not from weeds. And a real rice DHODH structure exists, but it was never publicly deposited, so we're careful to say 'no PUBLIC plant structure' rather than 'none at all.' We even ran a numbering check that refuted our own earlier hunch: the black-grass R171 and the Arabidopsis Arg176 in the crystal are most likely different residues, about seventy positions apart. Better to catch that ourselves than have a referee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principle that ties the whole project together, and it's worth stating out loud because it's what makes the positive results credible. Nothing enters the pooled statistical test until it is shown to be weed-evolved. Engineered mutants and EMS lab lines are perfectly good science, but they are not the same thing as resistance that arose in a real field under real selection. So FAT and DHODH go into a separate Phase 5 risk table — fully cited, fully characterised — but they never touch the Phase 4 enrichment analysis. It's the exact same six-point evidence gate that made us keep HPPD as a zero-mutation contrast case. FAT is flagged 'audit first,' DHODH 'hold for a model source.' The roadmap is disciplined, not opportunistic — and that discipline is the reason you can trust the enrichment result when it does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where this stands and where you can dig in. The manuscript is now built for Pest Management Science — abstract trimmed to their length, citations converted to their style, every reference cited once, figures in vector format. The reproducibility scaffolding is done: a pinned environment, a citation file, an MIT license, one command that regenerates every table and figure, and a passing test suite. What's left is genuinely just submission-day housekeeping — cutting a Zenodo release for a data DOI and adding ORCID. Everything is open: the full repository, the data, the decision log, and the verification log are all linked here, along with the key papers and the 3D models, so you can chase anything in the Q and A.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rcsb.org/3d-view/1SEZ" TargetMode="External"/><Relationship Id="rId2" Type="http://schemas.openxmlformats.org/officeDocument/2006/relationships/hyperlink" Target="https://www.rcsb.org/3d-view/1Z8N" TargetMode="External"/><Relationship Id="rId3" Type="http://schemas.openxmlformats.org/officeDocument/2006/relationships/hyperlink" Target="https://www.rcsb.org/3d-view/1UYS" TargetMode="External"/><Relationship Id="rId4" Type="http://schemas.openxmlformats.org/officeDocument/2006/relationships/hyperlink" Target="https://www.rcsb.org/3d-view/8UMJ" TargetMode="External"/><Relationship Id="rId5" Type="http://schemas.openxmlformats.org/officeDocument/2006/relationships/hyperlink" Target="https://www.rcsb.org/3d-view/5YWG" TargetMode="External"/><Relationship Id="rId6" Type="http://schemas.openxmlformats.org/officeDocument/2006/relationships/hyperlink" Target="https://www.rcsb.org/3d-view/8P8K" TargetMode="External"/><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rcsb.org/3d-view/1SEZ" TargetMode="External"/><Relationship Id="rId2" Type="http://schemas.openxmlformats.org/officeDocument/2006/relationships/hyperlink" Target="https://www.rcsb.org/3d-view/1Z8N" TargetMode="External"/><Relationship Id="rId3" Type="http://schemas.openxmlformats.org/officeDocument/2006/relationships/hyperlink" Target="https://www.rcsb.org/3d-view/8UMJ" TargetMode="External"/><Relationship Id="rId4" Type="http://schemas.openxmlformats.org/officeDocument/2006/relationships/hyperlink" Target="https://www.rcsb.org/3d-view/1UYS" TargetMode="External"/><Relationship Id="rId5" Type="http://schemas.openxmlformats.org/officeDocument/2006/relationships/hyperlink" Target="https://swissmodel.expasy.org/"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biopython.org/" TargetMode="External"/><Relationship Id="rId2" Type="http://schemas.openxmlformats.org/officeDocument/2006/relationships/hyperlink" Target="https://pandas.pydata.org/" TargetMode="External"/><Relationship Id="rId3" Type="http://schemas.openxmlformats.org/officeDocument/2006/relationships/hyperlink" Target="https://numpy.org/" TargetMode="External"/><Relationship Id="rId4" Type="http://schemas.openxmlformats.org/officeDocument/2006/relationships/hyperlink" Target="https://github.com/LBC-LNBio/pyKVFinder" TargetMode="External"/><Relationship Id="rId5" Type="http://schemas.openxmlformats.org/officeDocument/2006/relationships/hyperlink" Target="https://www.cgl.ucsf.edu/chimerax/" TargetMode="External"/><Relationship Id="rId6" Type="http://schemas.openxmlformats.org/officeDocument/2006/relationships/hyperlink" Target="https://www.rcsb.org/" TargetMode="External"/><Relationship Id="rId7" Type="http://schemas.openxmlformats.org/officeDocument/2006/relationships/hyperlink" Target="https://swissmodel.expasy.org/" TargetMode="External"/><Relationship Id="rId8" Type="http://schemas.openxmlformats.org/officeDocument/2006/relationships/hyperlink" Target="https://mafft.cbrc.jp/alignment/software/" TargetMode="External"/><Relationship Id="rId9" Type="http://schemas.openxmlformats.org/officeDocument/2006/relationships/hyperlink" Target="https://www.r-project.org/" TargetMode="External"/><Relationship Id="rId10" Type="http://schemas.openxmlformats.org/officeDocument/2006/relationships/hyperlink" Target="https://cran.r-project.org/package=lme4" TargetMode="External"/><Relationship Id="rId11" Type="http://schemas.openxmlformats.org/officeDocument/2006/relationships/hyperlink" Target="https://claude.ai/" TargetMode="External"/><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rcsb.org/3d-view/5YWG"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gzc0063-hub/herbicide-resistance-structural-bioinf" TargetMode="External"/><Relationship Id="rId2" Type="http://schemas.openxmlformats.org/officeDocument/2006/relationships/hyperlink" Target="https://www.rcsb.org/" TargetMode="External"/><Relationship Id="rId3" Type="http://schemas.openxmlformats.org/officeDocument/2006/relationships/hyperlink" Target="https://doi.org/10.1104/pp.104.046144" TargetMode="External"/><Relationship Id="rId4" Type="http://schemas.openxmlformats.org/officeDocument/2006/relationships/hyperlink" Target="https://doi.org/10.1016/j.bbapap.2010.04.004" TargetMode="Externa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1B"/>
        </a:solidFill>
      </p:bgPr>
    </p:bg>
    <p:spTree>
      <p:nvGrpSpPr>
        <p:cNvPr id="1" name=""/>
        <p:cNvGrpSpPr/>
        <p:nvPr/>
      </p:nvGrpSpPr>
      <p:grpSpPr>
        <a:xfrm>
          <a:off x="0" y="0"/>
          <a:ext cx="0" cy="0"/>
          <a:chOff x="0" y="0"/>
          <a:chExt cx="0" cy="0"/>
        </a:xfrm>
      </p:grpSpPr>
      <p:sp>
        <p:nvSpPr>
          <p:cNvPr id="2" name="Text 0"/>
          <p:cNvSpPr/>
          <p:nvPr/>
        </p:nvSpPr>
        <p:spPr>
          <a:xfrm>
            <a:off x="1066800" y="914400"/>
            <a:ext cx="17769840" cy="333375"/>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8FB7A0"/>
                </a:solidFill>
                <a:latin typeface="Courier New" pitchFamily="34" charset="0"/>
                <a:ea typeface="Courier New" pitchFamily="34" charset="-122"/>
                <a:cs typeface="Courier New" pitchFamily="34" charset="-120"/>
              </a:rPr>
              <a:t>COMPARATIVE STRUCTURAL BIOINFORMATICS</a:t>
            </a:r>
            <a:endParaRPr lang="en-US" sz="1800" dirty="0"/>
          </a:p>
        </p:txBody>
      </p:sp>
      <p:sp>
        <p:nvSpPr>
          <p:cNvPr id="3" name="Text 1"/>
          <p:cNvSpPr/>
          <p:nvPr/>
        </p:nvSpPr>
        <p:spPr>
          <a:xfrm>
            <a:off x="1066800" y="2969270"/>
            <a:ext cx="14912340" cy="3069282"/>
          </a:xfrm>
          <a:prstGeom prst="rect">
            <a:avLst/>
          </a:prstGeom>
          <a:noFill/>
          <a:ln/>
        </p:spPr>
        <p:txBody>
          <a:bodyPr wrap="square" lIns="25400" tIns="25400" rIns="25400" bIns="25400" rtlCol="0" anchor="t">
            <a:normAutofit/>
          </a:bodyPr>
          <a:lstStyle/>
          <a:p>
            <a:pPr algn="l" indent="0" marL="0">
              <a:lnSpc>
                <a:spcPct val="102000"/>
              </a:lnSpc>
              <a:buNone/>
            </a:pPr>
            <a:r>
              <a:rPr lang="en-US" sz="7800" spc="-117" kern="0" dirty="0">
                <a:solidFill>
                  <a:srgbClr val="F4F1EA"/>
                </a:solidFill>
                <a:latin typeface="Georgia" pitchFamily="34" charset="0"/>
                <a:ea typeface="Georgia" pitchFamily="34" charset="-122"/>
                <a:cs typeface="Georgia" pitchFamily="34" charset="-120"/>
              </a:rPr>
              <a:t>Do herbicide-resistance mutations share a structural address?</a:t>
            </a:r>
            <a:endParaRPr lang="en-US" sz="7800" dirty="0"/>
          </a:p>
        </p:txBody>
      </p:sp>
      <p:sp>
        <p:nvSpPr>
          <p:cNvPr id="4" name="Text 2"/>
          <p:cNvSpPr/>
          <p:nvPr/>
        </p:nvSpPr>
        <p:spPr>
          <a:xfrm>
            <a:off x="1066800" y="6381452"/>
            <a:ext cx="12263438" cy="998190"/>
          </a:xfrm>
          <a:prstGeom prst="rect">
            <a:avLst/>
          </a:prstGeom>
          <a:noFill/>
          <a:ln/>
        </p:spPr>
        <p:txBody>
          <a:bodyPr wrap="square" lIns="25400" tIns="25400" rIns="25400" bIns="25400" rtlCol="0" anchor="t">
            <a:normAutofit/>
          </a:bodyPr>
          <a:lstStyle/>
          <a:p>
            <a:pPr algn="l" indent="0" marL="0">
              <a:lnSpc>
                <a:spcPct val="140000"/>
              </a:lnSpc>
              <a:buNone/>
            </a:pPr>
            <a:r>
              <a:rPr lang="en-US" sz="2700" dirty="0">
                <a:solidFill>
                  <a:srgbClr val="CBD8CE"/>
                </a:solidFill>
                <a:latin typeface="Arial" pitchFamily="34" charset="0"/>
                <a:ea typeface="Arial" pitchFamily="34" charset="-122"/>
                <a:cs typeface="Arial" pitchFamily="34" charset="-120"/>
              </a:rPr>
              <a:t>A cross-site-of-action structural comparison of target-site resistance across seven independently-evolved herbicide targets.</a:t>
            </a:r>
            <a:endParaRPr lang="en-US" sz="2700" dirty="0"/>
          </a:p>
        </p:txBody>
      </p:sp>
      <p:sp>
        <p:nvSpPr>
          <p:cNvPr id="5" name="Text 3"/>
          <p:cNvSpPr/>
          <p:nvPr/>
        </p:nvSpPr>
        <p:spPr>
          <a:xfrm>
            <a:off x="1066800" y="9101138"/>
            <a:ext cx="7191821"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FB7A0"/>
                </a:solidFill>
                <a:latin typeface="Courier New" pitchFamily="34" charset="0"/>
                <a:ea typeface="Courier New" pitchFamily="34" charset="-122"/>
                <a:cs typeface="Courier New" pitchFamily="34" charset="-120"/>
              </a:rPr>
              <a:t>PPO · ALS/AHAS · ACCase · EPSPS · HPPD · FAT · DHODH</a:t>
            </a:r>
            <a:endParaRPr lang="en-US" sz="1650" dirty="0"/>
          </a:p>
        </p:txBody>
      </p:sp>
      <p:sp>
        <p:nvSpPr>
          <p:cNvPr id="6" name="Text 4"/>
          <p:cNvSpPr/>
          <p:nvPr/>
        </p:nvSpPr>
        <p:spPr>
          <a:xfrm>
            <a:off x="10808940" y="9101138"/>
            <a:ext cx="7053486"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FB7A0"/>
                </a:solidFill>
                <a:latin typeface="Courier New" pitchFamily="34" charset="0"/>
                <a:ea typeface="Courier New" pitchFamily="34" charset="-122"/>
                <a:cs typeface="Courier New" pitchFamily="34" charset="-120"/>
              </a:rPr>
              <a:t>Manuscript in preparation · Pest Management Science</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90600" y="838200"/>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WHY IT MATTERS</a:t>
            </a:r>
            <a:endParaRPr lang="en-US" sz="1650" dirty="0"/>
          </a:p>
        </p:txBody>
      </p:sp>
      <p:sp>
        <p:nvSpPr>
          <p:cNvPr id="3" name="Text 1"/>
          <p:cNvSpPr/>
          <p:nvPr/>
        </p:nvSpPr>
        <p:spPr>
          <a:xfrm>
            <a:off x="990600" y="1262063"/>
            <a:ext cx="15716250" cy="738188"/>
          </a:xfrm>
          <a:prstGeom prst="rect">
            <a:avLst/>
          </a:prstGeom>
          <a:noFill/>
          <a:ln/>
        </p:spPr>
        <p:txBody>
          <a:bodyPr wrap="square" lIns="25400" tIns="25400" rIns="25400" bIns="25400" rtlCol="0" anchor="t">
            <a:normAutofit/>
          </a:bodyPr>
          <a:lstStyle/>
          <a:p>
            <a:pPr algn="l" indent="0" marL="0">
              <a:lnSpc>
                <a:spcPct val="105000"/>
              </a:lnSpc>
              <a:buNone/>
            </a:pPr>
            <a:r>
              <a:rPr lang="en-US" sz="5250" spc="-52" kern="0" dirty="0">
                <a:solidFill>
                  <a:srgbClr val="1C2A24"/>
                </a:solidFill>
                <a:latin typeface="Georgia" pitchFamily="34" charset="0"/>
                <a:ea typeface="Georgia" pitchFamily="34" charset="-122"/>
                <a:cs typeface="Georgia" pitchFamily="34" charset="-120"/>
              </a:rPr>
              <a:t>Fewer working herbicides, more resistant weeds</a:t>
            </a:r>
            <a:endParaRPr lang="en-US" sz="5250" dirty="0"/>
          </a:p>
        </p:txBody>
      </p:sp>
      <p:sp>
        <p:nvSpPr>
          <p:cNvPr id="4" name="Shape 2"/>
          <p:cNvSpPr/>
          <p:nvPr/>
        </p:nvSpPr>
        <p:spPr>
          <a:xfrm>
            <a:off x="990600" y="2571750"/>
            <a:ext cx="5181600" cy="6877050"/>
          </a:xfrm>
          <a:prstGeom prst="roundRect">
            <a:avLst>
              <a:gd name="adj" fmla="val 1471"/>
            </a:avLst>
          </a:prstGeom>
          <a:solidFill>
            <a:srgbClr val="FFFFFF"/>
          </a:solidFill>
          <a:ln w="9525">
            <a:solidFill>
              <a:srgbClr val="DED9CD"/>
            </a:solidFill>
            <a:prstDash val="solid"/>
          </a:ln>
        </p:spPr>
        <p:txBody>
          <a:bodyPr/>
          <a:p/>
        </p:txBody>
      </p:sp>
      <p:sp>
        <p:nvSpPr>
          <p:cNvPr id="5" name="Text 3"/>
          <p:cNvSpPr/>
          <p:nvPr/>
        </p:nvSpPr>
        <p:spPr>
          <a:xfrm>
            <a:off x="1381125" y="3000375"/>
            <a:ext cx="4840605"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2E5540"/>
                </a:solidFill>
                <a:latin typeface="Georgia" pitchFamily="34" charset="0"/>
                <a:ea typeface="Georgia" pitchFamily="34" charset="-122"/>
                <a:cs typeface="Georgia" pitchFamily="34" charset="-120"/>
              </a:rPr>
              <a:t>Decades</a:t>
            </a:r>
            <a:endParaRPr lang="en-US" sz="4500" dirty="0"/>
          </a:p>
        </p:txBody>
      </p:sp>
      <p:sp>
        <p:nvSpPr>
          <p:cNvPr id="6" name="Text 4"/>
          <p:cNvSpPr/>
          <p:nvPr/>
        </p:nvSpPr>
        <p:spPr>
          <a:xfrm>
            <a:off x="1381125" y="3800475"/>
            <a:ext cx="4532567" cy="1255216"/>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3A443E"/>
                </a:solidFill>
                <a:latin typeface="Arial" pitchFamily="34" charset="0"/>
                <a:ea typeface="Arial" pitchFamily="34" charset="-122"/>
                <a:cs typeface="Arial" pitchFamily="34" charset="-120"/>
              </a:rPr>
              <a:t>since a major new herbicide site of action reached the market — the toolbox is not being refilled.</a:t>
            </a:r>
            <a:endParaRPr lang="en-US" sz="2250" dirty="0"/>
          </a:p>
        </p:txBody>
      </p:sp>
      <p:sp>
        <p:nvSpPr>
          <p:cNvPr id="7" name="Shape 5"/>
          <p:cNvSpPr/>
          <p:nvPr/>
        </p:nvSpPr>
        <p:spPr>
          <a:xfrm>
            <a:off x="6553200" y="2571750"/>
            <a:ext cx="5181600" cy="6877050"/>
          </a:xfrm>
          <a:prstGeom prst="roundRect">
            <a:avLst>
              <a:gd name="adj" fmla="val 1471"/>
            </a:avLst>
          </a:prstGeom>
          <a:solidFill>
            <a:srgbClr val="FFFFFF"/>
          </a:solidFill>
          <a:ln w="9525">
            <a:solidFill>
              <a:srgbClr val="DED9CD"/>
            </a:solidFill>
            <a:prstDash val="solid"/>
          </a:ln>
        </p:spPr>
        <p:txBody>
          <a:bodyPr/>
          <a:p/>
        </p:txBody>
      </p:sp>
      <p:sp>
        <p:nvSpPr>
          <p:cNvPr id="8" name="Text 6"/>
          <p:cNvSpPr/>
          <p:nvPr/>
        </p:nvSpPr>
        <p:spPr>
          <a:xfrm>
            <a:off x="6943725" y="3000375"/>
            <a:ext cx="4840605"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2E5540"/>
                </a:solidFill>
                <a:latin typeface="Georgia" pitchFamily="34" charset="0"/>
                <a:ea typeface="Georgia" pitchFamily="34" charset="-122"/>
                <a:cs typeface="Georgia" pitchFamily="34" charset="-120"/>
              </a:rPr>
              <a:t>Every class</a:t>
            </a:r>
            <a:endParaRPr lang="en-US" sz="4500" dirty="0"/>
          </a:p>
        </p:txBody>
      </p:sp>
      <p:sp>
        <p:nvSpPr>
          <p:cNvPr id="9" name="Text 7"/>
          <p:cNvSpPr/>
          <p:nvPr/>
        </p:nvSpPr>
        <p:spPr>
          <a:xfrm>
            <a:off x="6943725" y="3800475"/>
            <a:ext cx="4532567" cy="1255216"/>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3A443E"/>
                </a:solidFill>
                <a:latin typeface="Arial" pitchFamily="34" charset="0"/>
                <a:ea typeface="Arial" pitchFamily="34" charset="-122"/>
                <a:cs typeface="Arial" pitchFamily="34" charset="-120"/>
              </a:rPr>
              <a:t>of herbicide now has documented resistant weed populations somewhere in the world.</a:t>
            </a:r>
            <a:endParaRPr lang="en-US" sz="2250" dirty="0"/>
          </a:p>
        </p:txBody>
      </p:sp>
      <p:sp>
        <p:nvSpPr>
          <p:cNvPr id="10" name="Shape 8"/>
          <p:cNvSpPr/>
          <p:nvPr/>
        </p:nvSpPr>
        <p:spPr>
          <a:xfrm>
            <a:off x="12115800" y="2571750"/>
            <a:ext cx="5181600" cy="6877050"/>
          </a:xfrm>
          <a:prstGeom prst="roundRect">
            <a:avLst>
              <a:gd name="adj" fmla="val 1471"/>
            </a:avLst>
          </a:prstGeom>
          <a:solidFill>
            <a:srgbClr val="14211B"/>
          </a:solidFill>
          <a:ln/>
        </p:spPr>
        <p:txBody>
          <a:bodyPr/>
          <a:p/>
        </p:txBody>
      </p:sp>
      <p:sp>
        <p:nvSpPr>
          <p:cNvPr id="11" name="Text 9"/>
          <p:cNvSpPr/>
          <p:nvPr/>
        </p:nvSpPr>
        <p:spPr>
          <a:xfrm>
            <a:off x="12496800" y="2990850"/>
            <a:ext cx="486156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8FBF9E"/>
                </a:solidFill>
                <a:latin typeface="Georgia" pitchFamily="34" charset="0"/>
                <a:ea typeface="Georgia" pitchFamily="34" charset="-122"/>
                <a:cs typeface="Georgia" pitchFamily="34" charset="-120"/>
              </a:rPr>
              <a:t>One mutation</a:t>
            </a:r>
            <a:endParaRPr lang="en-US" sz="4500" dirty="0"/>
          </a:p>
        </p:txBody>
      </p:sp>
      <p:sp>
        <p:nvSpPr>
          <p:cNvPr id="12" name="Text 10"/>
          <p:cNvSpPr/>
          <p:nvPr/>
        </p:nvSpPr>
        <p:spPr>
          <a:xfrm>
            <a:off x="12496800" y="3790950"/>
            <a:ext cx="4552188" cy="1255216"/>
          </a:xfrm>
          <a:prstGeom prst="rect">
            <a:avLst/>
          </a:prstGeom>
          <a:noFill/>
          <a:ln/>
        </p:spPr>
        <p:txBody>
          <a:bodyPr wrap="square" lIns="25400" tIns="25400" rIns="25400" bIns="25400" rtlCol="0" anchor="t">
            <a:normAutofit/>
          </a:bodyPr>
          <a:lstStyle/>
          <a:p>
            <a:pPr algn="l" indent="0" marL="0">
              <a:lnSpc>
                <a:spcPct val="142000"/>
              </a:lnSpc>
              <a:buNone/>
            </a:pPr>
            <a:r>
              <a:rPr lang="en-US" sz="2250" dirty="0">
                <a:solidFill>
                  <a:srgbClr val="CBD8CE"/>
                </a:solidFill>
                <a:latin typeface="Arial" pitchFamily="34" charset="0"/>
                <a:ea typeface="Arial" pitchFamily="34" charset="-122"/>
                <a:cs typeface="Arial" pitchFamily="34" charset="-120"/>
              </a:rPr>
              <a:t>in the target enzyme can spread and retire an entire chemistry across a field.</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90600" y="838200"/>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THE SCOPE</a:t>
            </a:r>
            <a:endParaRPr lang="en-US" sz="1650" dirty="0"/>
          </a:p>
        </p:txBody>
      </p:sp>
      <p:sp>
        <p:nvSpPr>
          <p:cNvPr id="3" name="Text 1"/>
          <p:cNvSpPr/>
          <p:nvPr/>
        </p:nvSpPr>
        <p:spPr>
          <a:xfrm>
            <a:off x="990600" y="1262063"/>
            <a:ext cx="17937480" cy="738188"/>
          </a:xfrm>
          <a:prstGeom prst="rect">
            <a:avLst/>
          </a:prstGeom>
          <a:noFill/>
          <a:ln/>
        </p:spPr>
        <p:txBody>
          <a:bodyPr wrap="square" lIns="25400" tIns="25400" rIns="25400" bIns="25400" rtlCol="0" anchor="t">
            <a:normAutofit/>
          </a:bodyPr>
          <a:lstStyle/>
          <a:p>
            <a:pPr algn="l" indent="0" marL="0">
              <a:lnSpc>
                <a:spcPct val="105000"/>
              </a:lnSpc>
              <a:buNone/>
            </a:pPr>
            <a:r>
              <a:rPr lang="en-US" sz="5250" spc="-52" kern="0" dirty="0">
                <a:solidFill>
                  <a:srgbClr val="1C2A24"/>
                </a:solidFill>
                <a:latin typeface="Georgia" pitchFamily="34" charset="0"/>
                <a:ea typeface="Georgia" pitchFamily="34" charset="-122"/>
                <a:cs typeface="Georgia" pitchFamily="34" charset="-120"/>
              </a:rPr>
              <a:t>Two ways a weed survives a spray</a:t>
            </a:r>
            <a:endParaRPr lang="en-US" sz="5250" dirty="0"/>
          </a:p>
        </p:txBody>
      </p:sp>
      <p:sp>
        <p:nvSpPr>
          <p:cNvPr id="4" name="Shape 2"/>
          <p:cNvSpPr/>
          <p:nvPr/>
        </p:nvSpPr>
        <p:spPr>
          <a:xfrm>
            <a:off x="990600" y="2533650"/>
            <a:ext cx="7924800" cy="6915150"/>
          </a:xfrm>
          <a:prstGeom prst="roundRect">
            <a:avLst>
              <a:gd name="adj" fmla="val 1102"/>
            </a:avLst>
          </a:prstGeom>
          <a:solidFill>
            <a:srgbClr val="FFFFFF"/>
          </a:solidFill>
          <a:ln w="9525">
            <a:solidFill>
              <a:srgbClr val="DED9CD"/>
            </a:solidFill>
            <a:prstDash val="solid"/>
          </a:ln>
        </p:spPr>
        <p:txBody>
          <a:bodyPr/>
          <a:p/>
        </p:txBody>
      </p:sp>
      <p:sp>
        <p:nvSpPr>
          <p:cNvPr id="5" name="Text 3"/>
          <p:cNvSpPr/>
          <p:nvPr/>
        </p:nvSpPr>
        <p:spPr>
          <a:xfrm>
            <a:off x="1457325" y="3000375"/>
            <a:ext cx="7690485" cy="309563"/>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8A9188"/>
                </a:solidFill>
                <a:latin typeface="Courier New" pitchFamily="34" charset="0"/>
                <a:ea typeface="Courier New" pitchFamily="34" charset="-122"/>
                <a:cs typeface="Courier New" pitchFamily="34" charset="-120"/>
              </a:rPr>
              <a:t>NON-TARGET-SITE (NTSR)</a:t>
            </a:r>
            <a:endParaRPr lang="en-US" sz="1650" dirty="0"/>
          </a:p>
        </p:txBody>
      </p:sp>
      <p:sp>
        <p:nvSpPr>
          <p:cNvPr id="6" name="Text 4"/>
          <p:cNvSpPr/>
          <p:nvPr/>
        </p:nvSpPr>
        <p:spPr>
          <a:xfrm>
            <a:off x="1457325" y="3405188"/>
            <a:ext cx="7690485" cy="676275"/>
          </a:xfrm>
          <a:prstGeom prst="rect">
            <a:avLst/>
          </a:prstGeom>
          <a:noFill/>
          <a:ln/>
        </p:spPr>
        <p:txBody>
          <a:bodyPr wrap="square" lIns="25400" tIns="25400" rIns="25400" bIns="25400" rtlCol="0" anchor="t">
            <a:normAutofit/>
          </a:bodyPr>
          <a:lstStyle/>
          <a:p>
            <a:pPr algn="l" indent="0" marL="0">
              <a:buNone/>
            </a:pPr>
            <a:r>
              <a:rPr lang="en-US" sz="3300" dirty="0">
                <a:solidFill>
                  <a:srgbClr val="5A6660"/>
                </a:solidFill>
                <a:latin typeface="Georgia" pitchFamily="34" charset="0"/>
                <a:ea typeface="Georgia" pitchFamily="34" charset="-122"/>
                <a:cs typeface="Georgia" pitchFamily="34" charset="-120"/>
              </a:rPr>
              <a:t>The plant works around it</a:t>
            </a:r>
            <a:endParaRPr lang="en-US" sz="3300" dirty="0"/>
          </a:p>
        </p:txBody>
      </p:sp>
      <p:sp>
        <p:nvSpPr>
          <p:cNvPr id="7" name="Text 5"/>
          <p:cNvSpPr/>
          <p:nvPr/>
        </p:nvSpPr>
        <p:spPr>
          <a:xfrm>
            <a:off x="1457325" y="4291013"/>
            <a:ext cx="7201091"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5A6660"/>
                </a:solidFill>
                <a:latin typeface="Arial" pitchFamily="34" charset="0"/>
                <a:ea typeface="Arial" pitchFamily="34" charset="-122"/>
                <a:cs typeface="Arial" pitchFamily="34" charset="-120"/>
              </a:rPr>
              <a:t>Enhanced metabolism, reduced uptake, sequestration, or over-expression. Powerful, but diffuse and hard to read from a single structure.</a:t>
            </a:r>
            <a:endParaRPr lang="en-US" sz="2250" dirty="0"/>
          </a:p>
        </p:txBody>
      </p:sp>
      <p:sp>
        <p:nvSpPr>
          <p:cNvPr id="8" name="Text 6"/>
          <p:cNvSpPr/>
          <p:nvPr/>
        </p:nvSpPr>
        <p:spPr>
          <a:xfrm>
            <a:off x="1457325" y="8686800"/>
            <a:ext cx="720109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A9188"/>
                </a:solidFill>
                <a:latin typeface="Courier New" pitchFamily="34" charset="0"/>
                <a:ea typeface="Courier New" pitchFamily="34" charset="-122"/>
                <a:cs typeface="Courier New" pitchFamily="34" charset="-120"/>
              </a:rPr>
              <a:t>Out of scope here</a:t>
            </a:r>
            <a:endParaRPr lang="en-US" sz="1800" dirty="0"/>
          </a:p>
        </p:txBody>
      </p:sp>
      <p:sp>
        <p:nvSpPr>
          <p:cNvPr id="9" name="Shape 7"/>
          <p:cNvSpPr/>
          <p:nvPr/>
        </p:nvSpPr>
        <p:spPr>
          <a:xfrm>
            <a:off x="9372600" y="2533650"/>
            <a:ext cx="7924800" cy="6915150"/>
          </a:xfrm>
          <a:prstGeom prst="roundRect">
            <a:avLst>
              <a:gd name="adj" fmla="val 1102"/>
            </a:avLst>
          </a:prstGeom>
          <a:solidFill>
            <a:srgbClr val="14211B"/>
          </a:solidFill>
          <a:ln/>
        </p:spPr>
        <p:txBody>
          <a:bodyPr/>
          <a:p/>
        </p:txBody>
      </p:sp>
      <p:sp>
        <p:nvSpPr>
          <p:cNvPr id="10" name="Text 8"/>
          <p:cNvSpPr/>
          <p:nvPr/>
        </p:nvSpPr>
        <p:spPr>
          <a:xfrm>
            <a:off x="9829800" y="2990850"/>
            <a:ext cx="7711440" cy="309563"/>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8FB7A0"/>
                </a:solidFill>
                <a:latin typeface="Courier New" pitchFamily="34" charset="0"/>
                <a:ea typeface="Courier New" pitchFamily="34" charset="-122"/>
                <a:cs typeface="Courier New" pitchFamily="34" charset="-120"/>
              </a:rPr>
              <a:t>TARGET-SITE (TSR)</a:t>
            </a:r>
            <a:endParaRPr lang="en-US" sz="1650" dirty="0"/>
          </a:p>
        </p:txBody>
      </p:sp>
      <p:sp>
        <p:nvSpPr>
          <p:cNvPr id="11" name="Text 9"/>
          <p:cNvSpPr/>
          <p:nvPr/>
        </p:nvSpPr>
        <p:spPr>
          <a:xfrm>
            <a:off x="9829800" y="3395663"/>
            <a:ext cx="7711440" cy="676275"/>
          </a:xfrm>
          <a:prstGeom prst="rect">
            <a:avLst/>
          </a:prstGeom>
          <a:noFill/>
          <a:ln/>
        </p:spPr>
        <p:txBody>
          <a:bodyPr wrap="square" lIns="25400" tIns="25400" rIns="25400" bIns="25400" rtlCol="0" anchor="t">
            <a:normAutofit/>
          </a:bodyPr>
          <a:lstStyle/>
          <a:p>
            <a:pPr algn="l" indent="0" marL="0">
              <a:buNone/>
            </a:pPr>
            <a:r>
              <a:rPr lang="en-US" sz="3300" dirty="0">
                <a:solidFill>
                  <a:srgbClr val="F4F1EA"/>
                </a:solidFill>
                <a:latin typeface="Georgia" pitchFamily="34" charset="0"/>
                <a:ea typeface="Georgia" pitchFamily="34" charset="-122"/>
                <a:cs typeface="Georgia" pitchFamily="34" charset="-120"/>
              </a:rPr>
              <a:t>The enzyme itself changes</a:t>
            </a:r>
            <a:endParaRPr lang="en-US" sz="3300" dirty="0"/>
          </a:p>
        </p:txBody>
      </p:sp>
      <p:sp>
        <p:nvSpPr>
          <p:cNvPr id="12" name="Text 10"/>
          <p:cNvSpPr/>
          <p:nvPr/>
        </p:nvSpPr>
        <p:spPr>
          <a:xfrm>
            <a:off x="9829800" y="4281488"/>
            <a:ext cx="7220712"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CBD8CE"/>
                </a:solidFill>
                <a:latin typeface="Arial" pitchFamily="34" charset="0"/>
                <a:ea typeface="Arial" pitchFamily="34" charset="-122"/>
                <a:cs typeface="Arial" pitchFamily="34" charset="-120"/>
              </a:rPr>
              <a:t>One amino-acid substitution or deletion lowers herbicide binding while keeping the enzyme alive. It lives in the protein structure — so we can map it.</a:t>
            </a:r>
            <a:endParaRPr lang="en-US" sz="2250" dirty="0"/>
          </a:p>
        </p:txBody>
      </p:sp>
      <p:sp>
        <p:nvSpPr>
          <p:cNvPr id="13" name="Text 11"/>
          <p:cNvSpPr/>
          <p:nvPr/>
        </p:nvSpPr>
        <p:spPr>
          <a:xfrm>
            <a:off x="9829800" y="8696325"/>
            <a:ext cx="722071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FBF9E"/>
                </a:solidFill>
                <a:latin typeface="Courier New" pitchFamily="34" charset="0"/>
                <a:ea typeface="Courier New" pitchFamily="34" charset="-122"/>
                <a:cs typeface="Courier New" pitchFamily="34" charset="-120"/>
              </a:rPr>
              <a:t>Our focus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5540"/>
        </a:solidFill>
      </p:bgPr>
    </p:bg>
    <p:spTree>
      <p:nvGrpSpPr>
        <p:cNvPr id="1" name=""/>
        <p:cNvGrpSpPr/>
        <p:nvPr/>
      </p:nvGrpSpPr>
      <p:grpSpPr>
        <a:xfrm>
          <a:off x="0" y="0"/>
          <a:ext cx="0" cy="0"/>
          <a:chOff x="0" y="0"/>
          <a:chExt cx="0" cy="0"/>
        </a:xfrm>
      </p:grpSpPr>
      <p:sp>
        <p:nvSpPr>
          <p:cNvPr id="2" name="Text 0"/>
          <p:cNvSpPr/>
          <p:nvPr/>
        </p:nvSpPr>
        <p:spPr>
          <a:xfrm>
            <a:off x="990600" y="3114824"/>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A9CDB6"/>
                </a:solidFill>
                <a:latin typeface="Courier New" pitchFamily="34" charset="0"/>
                <a:ea typeface="Courier New" pitchFamily="34" charset="-122"/>
                <a:cs typeface="Courier New" pitchFamily="34" charset="-120"/>
              </a:rPr>
              <a:t>THE GAP</a:t>
            </a:r>
            <a:endParaRPr lang="en-US" sz="1650" dirty="0"/>
          </a:p>
        </p:txBody>
      </p:sp>
      <p:sp>
        <p:nvSpPr>
          <p:cNvPr id="3" name="Text 1"/>
          <p:cNvSpPr/>
          <p:nvPr/>
        </p:nvSpPr>
        <p:spPr>
          <a:xfrm>
            <a:off x="990600" y="3614886"/>
            <a:ext cx="14225588" cy="1630561"/>
          </a:xfrm>
          <a:prstGeom prst="rect">
            <a:avLst/>
          </a:prstGeom>
          <a:noFill/>
          <a:ln/>
        </p:spPr>
        <p:txBody>
          <a:bodyPr wrap="square" lIns="25400" tIns="25400" rIns="25400" bIns="25400" rtlCol="0" anchor="t">
            <a:normAutofit/>
          </a:bodyPr>
          <a:lstStyle/>
          <a:p>
            <a:pPr algn="l" indent="0" marL="0">
              <a:lnSpc>
                <a:spcPct val="110000"/>
              </a:lnSpc>
              <a:buNone/>
            </a:pPr>
            <a:r>
              <a:rPr lang="en-US" sz="5700" spc="-57" kern="0" dirty="0">
                <a:solidFill>
                  <a:srgbClr val="F4F1EA"/>
                </a:solidFill>
                <a:latin typeface="Georgia" pitchFamily="34" charset="0"/>
                <a:ea typeface="Georgia" pitchFamily="34" charset="-122"/>
                <a:cs typeface="Georgia" pitchFamily="34" charset="-120"/>
              </a:rPr>
              <a:t>Resistance is studied one enzyme family at a time.</a:t>
            </a:r>
            <a:endParaRPr lang="en-US" sz="5700" dirty="0"/>
          </a:p>
        </p:txBody>
      </p:sp>
      <p:sp>
        <p:nvSpPr>
          <p:cNvPr id="4" name="Text 2"/>
          <p:cNvSpPr/>
          <p:nvPr/>
        </p:nvSpPr>
        <p:spPr>
          <a:xfrm>
            <a:off x="990600" y="5588347"/>
            <a:ext cx="13244513" cy="1621929"/>
          </a:xfrm>
          <a:prstGeom prst="rect">
            <a:avLst/>
          </a:prstGeom>
          <a:noFill/>
          <a:ln/>
        </p:spPr>
        <p:txBody>
          <a:bodyPr wrap="square" lIns="25400" tIns="25400" rIns="25400" bIns="25400" rtlCol="0" anchor="t">
            <a:normAutofit/>
          </a:bodyPr>
          <a:lstStyle/>
          <a:p>
            <a:pPr algn="l" indent="0" marL="0">
              <a:lnSpc>
                <a:spcPct val="145000"/>
              </a:lnSpc>
              <a:buNone/>
            </a:pPr>
            <a:r>
              <a:rPr lang="en-US" sz="2850" dirty="0">
                <a:solidFill>
                  <a:srgbClr val="D6E3DA"/>
                </a:solidFill>
                <a:latin typeface="Arial" pitchFamily="34" charset="0"/>
                <a:ea typeface="Arial" pitchFamily="34" charset="-122"/>
                <a:cs typeface="Arial" pitchFamily="34" charset="-120"/>
              </a:rPr>
              <a:t>Each family has its own structures, its own residue numbering, its own literature. No shared, reproducible yardstick had been used to compare </a:t>
            </a:r>
            <a:pPr algn="l" indent="0" marL="0">
              <a:lnSpc>
                <a:spcPct val="145000"/>
              </a:lnSpc>
              <a:buNone/>
            </a:pPr>
            <a:r>
              <a:rPr lang="en-US" sz="2850" i="1" dirty="0">
                <a:solidFill>
                  <a:srgbClr val="FFFFFF"/>
                </a:solidFill>
                <a:latin typeface="Arial" pitchFamily="34" charset="0"/>
                <a:ea typeface="Arial" pitchFamily="34" charset="-122"/>
                <a:cs typeface="Arial" pitchFamily="34" charset="-120"/>
              </a:rPr>
              <a:t>where </a:t>
            </a:r>
            <a:pPr algn="l" indent="0" marL="0">
              <a:lnSpc>
                <a:spcPct val="145000"/>
              </a:lnSpc>
              <a:buNone/>
            </a:pPr>
            <a:r>
              <a:rPr lang="en-US" sz="2850" dirty="0">
                <a:solidFill>
                  <a:srgbClr val="D6E3DA"/>
                </a:solidFill>
                <a:latin typeface="Arial" pitchFamily="34" charset="0"/>
                <a:ea typeface="Arial" pitchFamily="34" charset="-122"/>
                <a:cs typeface="Arial" pitchFamily="34" charset="-120"/>
              </a:rPr>
              <a:t>resistance mutations sit across independently-evolved targets.</a:t>
            </a:r>
            <a:endParaRPr lang="en-US" sz="2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066800" y="2787402"/>
            <a:ext cx="17769840" cy="333375"/>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3B6B4A"/>
                </a:solidFill>
                <a:latin typeface="Courier New" pitchFamily="34" charset="0"/>
                <a:ea typeface="Courier New" pitchFamily="34" charset="-122"/>
                <a:cs typeface="Courier New" pitchFamily="34" charset="-120"/>
              </a:rPr>
              <a:t>THE QUESTION</a:t>
            </a:r>
            <a:endParaRPr lang="en-US" sz="1800" dirty="0"/>
          </a:p>
        </p:txBody>
      </p:sp>
      <p:sp>
        <p:nvSpPr>
          <p:cNvPr id="3" name="Text 1"/>
          <p:cNvSpPr/>
          <p:nvPr/>
        </p:nvSpPr>
        <p:spPr>
          <a:xfrm>
            <a:off x="1066800" y="3387477"/>
            <a:ext cx="15304770" cy="2753841"/>
          </a:xfrm>
          <a:prstGeom prst="rect">
            <a:avLst/>
          </a:prstGeom>
          <a:noFill/>
          <a:ln/>
        </p:spPr>
        <p:txBody>
          <a:bodyPr wrap="square" lIns="25400" tIns="25400" rIns="25400" bIns="25400" rtlCol="0" anchor="t">
            <a:normAutofit/>
          </a:bodyPr>
          <a:lstStyle/>
          <a:p>
            <a:pPr algn="l" indent="0" marL="0">
              <a:lnSpc>
                <a:spcPct val="108000"/>
              </a:lnSpc>
              <a:buNone/>
            </a:pPr>
            <a:r>
              <a:rPr lang="en-US" sz="6600" spc="-99" kern="0" dirty="0">
                <a:solidFill>
                  <a:srgbClr val="1C2A24"/>
                </a:solidFill>
                <a:latin typeface="Georgia" pitchFamily="34" charset="0"/>
                <a:ea typeface="Georgia" pitchFamily="34" charset="-122"/>
                <a:cs typeface="Georgia" pitchFamily="34" charset="-120"/>
              </a:rPr>
              <a:t>Across unrelated targets, do resistance mutations cluster in a distinguishable structural zone near the active site?</a:t>
            </a:r>
            <a:endParaRPr lang="en-US" sz="6600" dirty="0"/>
          </a:p>
        </p:txBody>
      </p:sp>
      <p:sp>
        <p:nvSpPr>
          <p:cNvPr id="4" name="Text 2"/>
          <p:cNvSpPr/>
          <p:nvPr/>
        </p:nvSpPr>
        <p:spPr>
          <a:xfrm>
            <a:off x="1066800" y="6560418"/>
            <a:ext cx="12753975" cy="977205"/>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5A6660"/>
                </a:solidFill>
                <a:latin typeface="Arial" pitchFamily="34" charset="0"/>
                <a:ea typeface="Arial" pitchFamily="34" charset="-122"/>
                <a:cs typeface="Arial" pitchFamily="34" charset="-120"/>
              </a:rPr>
              <a:t>One consistent metric, applied the same way to every family — then tested against chance.</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7620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THE TARGET FAMILIES</a:t>
            </a:r>
            <a:endParaRPr lang="en-US" sz="1650" dirty="0"/>
          </a:p>
        </p:txBody>
      </p:sp>
      <p:sp>
        <p:nvSpPr>
          <p:cNvPr id="3" name="Text 1"/>
          <p:cNvSpPr/>
          <p:nvPr/>
        </p:nvSpPr>
        <p:spPr>
          <a:xfrm>
            <a:off x="914400" y="1166813"/>
            <a:ext cx="1810512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spc="-48" kern="0" dirty="0">
                <a:solidFill>
                  <a:srgbClr val="1C2A24"/>
                </a:solidFill>
                <a:latin typeface="Georgia" pitchFamily="34" charset="0"/>
                <a:ea typeface="Georgia" pitchFamily="34" charset="-122"/>
                <a:cs typeface="Georgia" pitchFamily="34" charset="-120"/>
              </a:rPr>
              <a:t>Seven sites of action, one framework</a:t>
            </a:r>
            <a:endParaRPr lang="en-US" sz="4800" dirty="0"/>
          </a:p>
        </p:txBody>
      </p:sp>
      <p:sp>
        <p:nvSpPr>
          <p:cNvPr id="4" name="Shape 2"/>
          <p:cNvSpPr/>
          <p:nvPr/>
        </p:nvSpPr>
        <p:spPr>
          <a:xfrm>
            <a:off x="914400" y="2264048"/>
            <a:ext cx="3943350" cy="2205930"/>
          </a:xfrm>
          <a:prstGeom prst="roundRect">
            <a:avLst>
              <a:gd name="adj" fmla="val 3454"/>
            </a:avLst>
          </a:prstGeom>
          <a:solidFill>
            <a:srgbClr val="14211B"/>
          </a:solidFill>
          <a:ln/>
        </p:spPr>
        <p:txBody>
          <a:bodyPr/>
          <a:p/>
        </p:txBody>
      </p:sp>
      <p:sp>
        <p:nvSpPr>
          <p:cNvPr id="5" name="Text 3"/>
          <p:cNvSpPr/>
          <p:nvPr/>
        </p:nvSpPr>
        <p:spPr>
          <a:xfrm>
            <a:off x="1200150" y="2568848"/>
            <a:ext cx="3709035"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dirty="0">
                <a:solidFill>
                  <a:srgbClr val="F4F1EA"/>
                </a:solidFill>
                <a:latin typeface="Georgia" pitchFamily="34" charset="0"/>
                <a:ea typeface="Georgia" pitchFamily="34" charset="-122"/>
                <a:cs typeface="Georgia" pitchFamily="34" charset="-120"/>
              </a:rPr>
              <a:t>PPO</a:t>
            </a:r>
            <a:endParaRPr lang="en-US" sz="3300" dirty="0"/>
          </a:p>
        </p:txBody>
      </p:sp>
      <p:sp>
        <p:nvSpPr>
          <p:cNvPr id="6" name="Text 4"/>
          <p:cNvSpPr/>
          <p:nvPr/>
        </p:nvSpPr>
        <p:spPr>
          <a:xfrm>
            <a:off x="1200150" y="3121298"/>
            <a:ext cx="3473006"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CBD8CE"/>
                </a:solidFill>
                <a:latin typeface="Arial" pitchFamily="34" charset="0"/>
                <a:ea typeface="Arial" pitchFamily="34" charset="-122"/>
                <a:cs typeface="Arial" pitchFamily="34" charset="-120"/>
              </a:rPr>
              <a:t>Protoporphyrinogen oxidase · pilot family</a:t>
            </a:r>
            <a:endParaRPr lang="en-US" sz="1725" dirty="0"/>
          </a:p>
        </p:txBody>
      </p:sp>
      <p:sp>
        <p:nvSpPr>
          <p:cNvPr id="7" name="Shape 5"/>
          <p:cNvSpPr/>
          <p:nvPr/>
        </p:nvSpPr>
        <p:spPr>
          <a:xfrm>
            <a:off x="1200150" y="4165178"/>
            <a:ext cx="782092" cy="9525"/>
          </a:xfrm>
          <a:prstGeom prst="rect">
            <a:avLst/>
          </a:prstGeom>
          <a:solidFill>
            <a:srgbClr val="8FB7D8">
              <a:alpha val="40000"/>
            </a:srgbClr>
          </a:solidFill>
          <a:ln/>
        </p:spPr>
        <p:txBody>
          <a:bodyPr/>
          <a:p/>
        </p:txBody>
      </p:sp>
      <p:sp>
        <p:nvSpPr>
          <p:cNvPr id="8" name="Text 6">
            <a:hlinkClick r:id="rId1" tooltip=""/>
          </p:cNvPr>
          <p:cNvSpPr/>
          <p:nvPr/>
        </p:nvSpPr>
        <p:spPr>
          <a:xfrm>
            <a:off x="1200150" y="3893716"/>
            <a:ext cx="858292" cy="309563"/>
          </a:xfrm>
          <a:prstGeom prst="rect">
            <a:avLst/>
          </a:prstGeom>
          <a:noFill/>
          <a:ln/>
        </p:spPr>
        <p:txBody>
          <a:bodyPr wrap="square" lIns="25400" tIns="25400" rIns="25400" bIns="25400" rtlCol="0" anchor="t">
            <a:normAutofit/>
          </a:bodyPr>
          <a:lstStyle/>
          <a:p>
            <a:pPr algn="l" indent="0" marL="0">
              <a:buNone/>
            </a:pPr>
            <a:r>
              <a:rPr lang="en-US" sz="1650" u="sng" dirty="0">
                <a:solidFill>
                  <a:srgbClr val="8FB7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1SEZ ↗</a:t>
            </a:r>
            <a:endParaRPr lang="en-US" sz="1650" dirty="0"/>
          </a:p>
        </p:txBody>
      </p:sp>
      <p:sp>
        <p:nvSpPr>
          <p:cNvPr id="9" name="Shape 7"/>
          <p:cNvSpPr/>
          <p:nvPr/>
        </p:nvSpPr>
        <p:spPr>
          <a:xfrm>
            <a:off x="5086350" y="2264048"/>
            <a:ext cx="3943350" cy="2205930"/>
          </a:xfrm>
          <a:prstGeom prst="roundRect">
            <a:avLst>
              <a:gd name="adj" fmla="val 3454"/>
            </a:avLst>
          </a:prstGeom>
          <a:solidFill>
            <a:srgbClr val="14211B"/>
          </a:solidFill>
          <a:ln/>
        </p:spPr>
        <p:txBody>
          <a:bodyPr/>
          <a:p/>
        </p:txBody>
      </p:sp>
      <p:sp>
        <p:nvSpPr>
          <p:cNvPr id="10" name="Text 8"/>
          <p:cNvSpPr/>
          <p:nvPr/>
        </p:nvSpPr>
        <p:spPr>
          <a:xfrm>
            <a:off x="5372100" y="2568848"/>
            <a:ext cx="3709035"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dirty="0">
                <a:solidFill>
                  <a:srgbClr val="F4F1EA"/>
                </a:solidFill>
                <a:latin typeface="Georgia" pitchFamily="34" charset="0"/>
                <a:ea typeface="Georgia" pitchFamily="34" charset="-122"/>
                <a:cs typeface="Georgia" pitchFamily="34" charset="-120"/>
              </a:rPr>
              <a:t>ALS/AHAS</a:t>
            </a:r>
            <a:endParaRPr lang="en-US" sz="3300" dirty="0"/>
          </a:p>
        </p:txBody>
      </p:sp>
      <p:sp>
        <p:nvSpPr>
          <p:cNvPr id="11" name="Text 9"/>
          <p:cNvSpPr/>
          <p:nvPr/>
        </p:nvSpPr>
        <p:spPr>
          <a:xfrm>
            <a:off x="5372100" y="3121298"/>
            <a:ext cx="3709035"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CBD8CE"/>
                </a:solidFill>
                <a:latin typeface="Arial" pitchFamily="34" charset="0"/>
                <a:ea typeface="Arial" pitchFamily="34" charset="-122"/>
                <a:cs typeface="Arial" pitchFamily="34" charset="-120"/>
              </a:rPr>
              <a:t>Acetohydroxyacid synthase</a:t>
            </a:r>
            <a:endParaRPr lang="en-US" sz="1725" dirty="0"/>
          </a:p>
        </p:txBody>
      </p:sp>
      <p:sp>
        <p:nvSpPr>
          <p:cNvPr id="12" name="Shape 10"/>
          <p:cNvSpPr/>
          <p:nvPr/>
        </p:nvSpPr>
        <p:spPr>
          <a:xfrm>
            <a:off x="5372100" y="3869457"/>
            <a:ext cx="782092" cy="9525"/>
          </a:xfrm>
          <a:prstGeom prst="rect">
            <a:avLst/>
          </a:prstGeom>
          <a:solidFill>
            <a:srgbClr val="8FB7D8">
              <a:alpha val="40000"/>
            </a:srgbClr>
          </a:solidFill>
          <a:ln/>
        </p:spPr>
        <p:txBody>
          <a:bodyPr/>
          <a:p/>
        </p:txBody>
      </p:sp>
      <p:sp>
        <p:nvSpPr>
          <p:cNvPr id="13" name="Text 11">
            <a:hlinkClick r:id="rId2" tooltip=""/>
          </p:cNvPr>
          <p:cNvSpPr/>
          <p:nvPr/>
        </p:nvSpPr>
        <p:spPr>
          <a:xfrm>
            <a:off x="5372100" y="3597994"/>
            <a:ext cx="858292" cy="309563"/>
          </a:xfrm>
          <a:prstGeom prst="rect">
            <a:avLst/>
          </a:prstGeom>
          <a:noFill/>
          <a:ln/>
        </p:spPr>
        <p:txBody>
          <a:bodyPr wrap="square" lIns="25400" tIns="25400" rIns="25400" bIns="25400" rtlCol="0" anchor="t">
            <a:normAutofit/>
          </a:bodyPr>
          <a:lstStyle/>
          <a:p>
            <a:pPr algn="l" indent="0" marL="0">
              <a:buNone/>
            </a:pPr>
            <a:r>
              <a:rPr lang="en-US" sz="1650" u="sng" dirty="0">
                <a:solidFill>
                  <a:srgbClr val="8FB7D8"/>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1Z8N ↗</a:t>
            </a:r>
            <a:endParaRPr lang="en-US" sz="1650" dirty="0"/>
          </a:p>
        </p:txBody>
      </p:sp>
      <p:sp>
        <p:nvSpPr>
          <p:cNvPr id="14" name="Shape 12"/>
          <p:cNvSpPr/>
          <p:nvPr/>
        </p:nvSpPr>
        <p:spPr>
          <a:xfrm>
            <a:off x="9258300" y="2264048"/>
            <a:ext cx="3943350" cy="2205930"/>
          </a:xfrm>
          <a:prstGeom prst="roundRect">
            <a:avLst>
              <a:gd name="adj" fmla="val 3454"/>
            </a:avLst>
          </a:prstGeom>
          <a:solidFill>
            <a:srgbClr val="14211B"/>
          </a:solidFill>
          <a:ln/>
        </p:spPr>
        <p:txBody>
          <a:bodyPr/>
          <a:p/>
        </p:txBody>
      </p:sp>
      <p:sp>
        <p:nvSpPr>
          <p:cNvPr id="15" name="Text 13"/>
          <p:cNvSpPr/>
          <p:nvPr/>
        </p:nvSpPr>
        <p:spPr>
          <a:xfrm>
            <a:off x="9544050" y="2568848"/>
            <a:ext cx="3709035"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dirty="0">
                <a:solidFill>
                  <a:srgbClr val="F4F1EA"/>
                </a:solidFill>
                <a:latin typeface="Georgia" pitchFamily="34" charset="0"/>
                <a:ea typeface="Georgia" pitchFamily="34" charset="-122"/>
                <a:cs typeface="Georgia" pitchFamily="34" charset="-120"/>
              </a:rPr>
              <a:t>ACCase</a:t>
            </a:r>
            <a:endParaRPr lang="en-US" sz="3300" dirty="0"/>
          </a:p>
        </p:txBody>
      </p:sp>
      <p:sp>
        <p:nvSpPr>
          <p:cNvPr id="16" name="Text 14"/>
          <p:cNvSpPr/>
          <p:nvPr/>
        </p:nvSpPr>
        <p:spPr>
          <a:xfrm>
            <a:off x="9544050" y="3121298"/>
            <a:ext cx="3473006"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CBD8CE"/>
                </a:solidFill>
                <a:latin typeface="Arial" pitchFamily="34" charset="0"/>
                <a:ea typeface="Arial" pitchFamily="34" charset="-122"/>
                <a:cs typeface="Arial" pitchFamily="34" charset="-120"/>
              </a:rPr>
              <a:t>Acetyl-CoA carboxylase · CT domain</a:t>
            </a:r>
            <a:endParaRPr lang="en-US" sz="1725" dirty="0"/>
          </a:p>
        </p:txBody>
      </p:sp>
      <p:sp>
        <p:nvSpPr>
          <p:cNvPr id="17" name="Shape 15"/>
          <p:cNvSpPr/>
          <p:nvPr/>
        </p:nvSpPr>
        <p:spPr>
          <a:xfrm>
            <a:off x="9544050" y="4165178"/>
            <a:ext cx="782092" cy="9525"/>
          </a:xfrm>
          <a:prstGeom prst="rect">
            <a:avLst/>
          </a:prstGeom>
          <a:solidFill>
            <a:srgbClr val="8FB7D8">
              <a:alpha val="40000"/>
            </a:srgbClr>
          </a:solidFill>
          <a:ln/>
        </p:spPr>
        <p:txBody>
          <a:bodyPr/>
          <a:p/>
        </p:txBody>
      </p:sp>
      <p:sp>
        <p:nvSpPr>
          <p:cNvPr id="18" name="Text 16">
            <a:hlinkClick r:id="rId3" tooltip=""/>
          </p:cNvPr>
          <p:cNvSpPr/>
          <p:nvPr/>
        </p:nvSpPr>
        <p:spPr>
          <a:xfrm>
            <a:off x="9544050" y="3893716"/>
            <a:ext cx="858292" cy="309563"/>
          </a:xfrm>
          <a:prstGeom prst="rect">
            <a:avLst/>
          </a:prstGeom>
          <a:noFill/>
          <a:ln/>
        </p:spPr>
        <p:txBody>
          <a:bodyPr wrap="square" lIns="25400" tIns="25400" rIns="25400" bIns="25400" rtlCol="0" anchor="t">
            <a:normAutofit/>
          </a:bodyPr>
          <a:lstStyle/>
          <a:p>
            <a:pPr algn="l" indent="0" marL="0">
              <a:buNone/>
            </a:pPr>
            <a:r>
              <a:rPr lang="en-US" sz="1650" u="sng" dirty="0">
                <a:solidFill>
                  <a:srgbClr val="8FB7D8"/>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1UYS ↗</a:t>
            </a:r>
            <a:endParaRPr lang="en-US" sz="1650" dirty="0"/>
          </a:p>
        </p:txBody>
      </p:sp>
      <p:sp>
        <p:nvSpPr>
          <p:cNvPr id="19" name="Shape 17"/>
          <p:cNvSpPr/>
          <p:nvPr/>
        </p:nvSpPr>
        <p:spPr>
          <a:xfrm>
            <a:off x="13430250" y="2264048"/>
            <a:ext cx="3943350" cy="2205930"/>
          </a:xfrm>
          <a:prstGeom prst="roundRect">
            <a:avLst>
              <a:gd name="adj" fmla="val 3454"/>
            </a:avLst>
          </a:prstGeom>
          <a:solidFill>
            <a:srgbClr val="14211B"/>
          </a:solidFill>
          <a:ln/>
        </p:spPr>
        <p:txBody>
          <a:bodyPr/>
          <a:p/>
        </p:txBody>
      </p:sp>
      <p:sp>
        <p:nvSpPr>
          <p:cNvPr id="20" name="Text 18"/>
          <p:cNvSpPr/>
          <p:nvPr/>
        </p:nvSpPr>
        <p:spPr>
          <a:xfrm>
            <a:off x="13716000" y="2568848"/>
            <a:ext cx="3709035" cy="457200"/>
          </a:xfrm>
          <a:prstGeom prst="rect">
            <a:avLst/>
          </a:prstGeom>
          <a:noFill/>
          <a:ln/>
        </p:spPr>
        <p:txBody>
          <a:bodyPr wrap="square" lIns="25400" tIns="25400" rIns="25400" bIns="25400" rtlCol="0" anchor="t">
            <a:normAutofit/>
          </a:bodyPr>
          <a:lstStyle/>
          <a:p>
            <a:pPr algn="l" indent="0" marL="0">
              <a:lnSpc>
                <a:spcPct val="100000"/>
              </a:lnSpc>
              <a:buNone/>
            </a:pPr>
            <a:r>
              <a:rPr lang="en-US" sz="3300" dirty="0">
                <a:solidFill>
                  <a:srgbClr val="F4F1EA"/>
                </a:solidFill>
                <a:latin typeface="Georgia" pitchFamily="34" charset="0"/>
                <a:ea typeface="Georgia" pitchFamily="34" charset="-122"/>
                <a:cs typeface="Georgia" pitchFamily="34" charset="-120"/>
              </a:rPr>
              <a:t>EPSPS</a:t>
            </a:r>
            <a:endParaRPr lang="en-US" sz="3300" dirty="0"/>
          </a:p>
        </p:txBody>
      </p:sp>
      <p:sp>
        <p:nvSpPr>
          <p:cNvPr id="21" name="Text 19"/>
          <p:cNvSpPr/>
          <p:nvPr/>
        </p:nvSpPr>
        <p:spPr>
          <a:xfrm>
            <a:off x="13716000" y="3121298"/>
            <a:ext cx="3473006"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CBD8CE"/>
                </a:solidFill>
                <a:latin typeface="Arial" pitchFamily="34" charset="0"/>
                <a:ea typeface="Arial" pitchFamily="34" charset="-122"/>
                <a:cs typeface="Arial" pitchFamily="34" charset="-120"/>
              </a:rPr>
              <a:t>Shikimate pathway · glyphosate target</a:t>
            </a:r>
            <a:endParaRPr lang="en-US" sz="1725" dirty="0"/>
          </a:p>
        </p:txBody>
      </p:sp>
      <p:sp>
        <p:nvSpPr>
          <p:cNvPr id="22" name="Shape 20"/>
          <p:cNvSpPr/>
          <p:nvPr/>
        </p:nvSpPr>
        <p:spPr>
          <a:xfrm>
            <a:off x="13716000" y="4165178"/>
            <a:ext cx="782092" cy="9525"/>
          </a:xfrm>
          <a:prstGeom prst="rect">
            <a:avLst/>
          </a:prstGeom>
          <a:solidFill>
            <a:srgbClr val="8FB7D8">
              <a:alpha val="40000"/>
            </a:srgbClr>
          </a:solidFill>
          <a:ln/>
        </p:spPr>
        <p:txBody>
          <a:bodyPr/>
          <a:p/>
        </p:txBody>
      </p:sp>
      <p:sp>
        <p:nvSpPr>
          <p:cNvPr id="23" name="Text 21">
            <a:hlinkClick r:id="rId4" tooltip=""/>
          </p:cNvPr>
          <p:cNvSpPr/>
          <p:nvPr/>
        </p:nvSpPr>
        <p:spPr>
          <a:xfrm>
            <a:off x="13716000" y="3893716"/>
            <a:ext cx="858292" cy="309563"/>
          </a:xfrm>
          <a:prstGeom prst="rect">
            <a:avLst/>
          </a:prstGeom>
          <a:noFill/>
          <a:ln/>
        </p:spPr>
        <p:txBody>
          <a:bodyPr wrap="square" lIns="25400" tIns="25400" rIns="25400" bIns="25400" rtlCol="0" anchor="t">
            <a:normAutofit/>
          </a:bodyPr>
          <a:lstStyle/>
          <a:p>
            <a:pPr algn="l" indent="0" marL="0">
              <a:buNone/>
            </a:pPr>
            <a:r>
              <a:rPr lang="en-US" sz="1650" u="sng" dirty="0">
                <a:solidFill>
                  <a:srgbClr val="8FB7D8"/>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8UMJ ↗</a:t>
            </a:r>
            <a:endParaRPr lang="en-US" sz="1650" dirty="0"/>
          </a:p>
        </p:txBody>
      </p:sp>
      <p:sp>
        <p:nvSpPr>
          <p:cNvPr id="24" name="Shape 22"/>
          <p:cNvSpPr/>
          <p:nvPr/>
        </p:nvSpPr>
        <p:spPr>
          <a:xfrm>
            <a:off x="914400" y="4698578"/>
            <a:ext cx="5334000" cy="2377380"/>
          </a:xfrm>
          <a:prstGeom prst="roundRect">
            <a:avLst>
              <a:gd name="adj" fmla="val 3205"/>
            </a:avLst>
          </a:prstGeom>
          <a:solidFill>
            <a:srgbClr val="FFFFFF"/>
          </a:solidFill>
          <a:ln w="9525">
            <a:solidFill>
              <a:srgbClr val="DED9CD"/>
            </a:solidFill>
            <a:prstDash val="solid"/>
          </a:ln>
        </p:spPr>
        <p:txBody>
          <a:bodyPr/>
          <a:p/>
        </p:txBody>
      </p:sp>
      <p:sp>
        <p:nvSpPr>
          <p:cNvPr id="25" name="Text 23"/>
          <p:cNvSpPr/>
          <p:nvPr/>
        </p:nvSpPr>
        <p:spPr>
          <a:xfrm>
            <a:off x="1209675" y="5012903"/>
            <a:ext cx="1166292" cy="619125"/>
          </a:xfrm>
          <a:prstGeom prst="rect">
            <a:avLst/>
          </a:prstGeom>
          <a:noFill/>
          <a:ln/>
        </p:spPr>
        <p:txBody>
          <a:bodyPr wrap="square" lIns="25400" tIns="25400" rIns="25400" bIns="25400" rtlCol="0" anchor="t">
            <a:normAutofit/>
          </a:bodyPr>
          <a:lstStyle/>
          <a:p>
            <a:pPr algn="l" indent="0" marL="0">
              <a:buNone/>
            </a:pPr>
            <a:r>
              <a:rPr lang="en-US" sz="3000" dirty="0">
                <a:solidFill>
                  <a:srgbClr val="1C2A24"/>
                </a:solidFill>
                <a:latin typeface="Georgia" pitchFamily="34" charset="0"/>
                <a:ea typeface="Georgia" pitchFamily="34" charset="-122"/>
                <a:cs typeface="Georgia" pitchFamily="34" charset="-120"/>
              </a:rPr>
              <a:t>HPPD</a:t>
            </a:r>
            <a:endParaRPr lang="en-US" sz="3000" dirty="0"/>
          </a:p>
        </p:txBody>
      </p:sp>
      <p:sp>
        <p:nvSpPr>
          <p:cNvPr id="26" name="Text 24"/>
          <p:cNvSpPr/>
          <p:nvPr/>
        </p:nvSpPr>
        <p:spPr>
          <a:xfrm>
            <a:off x="2433117" y="5222453"/>
            <a:ext cx="9906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C28B2C"/>
                </a:solidFill>
                <a:latin typeface="Courier New" pitchFamily="34" charset="0"/>
                <a:ea typeface="Courier New" pitchFamily="34" charset="-122"/>
                <a:cs typeface="Courier New" pitchFamily="34" charset="-120"/>
              </a:rPr>
              <a:t>CONTRAST</a:t>
            </a:r>
            <a:endParaRPr lang="en-US" sz="1500" dirty="0"/>
          </a:p>
        </p:txBody>
      </p:sp>
      <p:sp>
        <p:nvSpPr>
          <p:cNvPr id="27" name="Text 25"/>
          <p:cNvSpPr/>
          <p:nvPr/>
        </p:nvSpPr>
        <p:spPr>
          <a:xfrm>
            <a:off x="1209675" y="5727278"/>
            <a:ext cx="5217795"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A6660"/>
                </a:solidFill>
                <a:latin typeface="Arial" pitchFamily="34" charset="0"/>
                <a:ea typeface="Arial" pitchFamily="34" charset="-122"/>
                <a:cs typeface="Arial" pitchFamily="34" charset="-120"/>
              </a:rPr>
              <a:t>Negative control — no verified weed TSR</a:t>
            </a:r>
            <a:endParaRPr lang="en-US" sz="1725" dirty="0"/>
          </a:p>
        </p:txBody>
      </p:sp>
      <p:sp>
        <p:nvSpPr>
          <p:cNvPr id="28" name="Shape 26"/>
          <p:cNvSpPr/>
          <p:nvPr/>
        </p:nvSpPr>
        <p:spPr>
          <a:xfrm>
            <a:off x="1209675" y="6475437"/>
            <a:ext cx="782092" cy="9525"/>
          </a:xfrm>
          <a:prstGeom prst="rect">
            <a:avLst/>
          </a:prstGeom>
          <a:solidFill>
            <a:srgbClr val="2F6FBB">
              <a:alpha val="35000"/>
            </a:srgbClr>
          </a:solidFill>
          <a:ln/>
        </p:spPr>
        <p:txBody>
          <a:bodyPr/>
          <a:p/>
        </p:txBody>
      </p:sp>
      <p:sp>
        <p:nvSpPr>
          <p:cNvPr id="29" name="Text 27">
            <a:hlinkClick r:id="rId5" tooltip=""/>
          </p:cNvPr>
          <p:cNvSpPr/>
          <p:nvPr/>
        </p:nvSpPr>
        <p:spPr>
          <a:xfrm>
            <a:off x="1209675" y="6203975"/>
            <a:ext cx="858292" cy="309563"/>
          </a:xfrm>
          <a:prstGeom prst="rect">
            <a:avLst/>
          </a:prstGeom>
          <a:noFill/>
          <a:ln/>
        </p:spPr>
        <p:txBody>
          <a:bodyPr wrap="square" lIns="25400" tIns="25400" rIns="25400" bIns="25400" rtlCol="0" anchor="t">
            <a:normAutofit/>
          </a:bodyPr>
          <a:lstStyle/>
          <a:p>
            <a:pPr algn="l" indent="0" marL="0">
              <a:buNone/>
            </a:pPr>
            <a:r>
              <a:rPr lang="en-US" sz="1650" u="sng" dirty="0">
                <a:solidFill>
                  <a:srgbClr val="2F6FBB"/>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5YWG ↗</a:t>
            </a:r>
            <a:endParaRPr lang="en-US" sz="1650" dirty="0"/>
          </a:p>
        </p:txBody>
      </p:sp>
      <p:sp>
        <p:nvSpPr>
          <p:cNvPr id="30" name="Shape 28"/>
          <p:cNvSpPr/>
          <p:nvPr/>
        </p:nvSpPr>
        <p:spPr>
          <a:xfrm>
            <a:off x="6477000" y="4698578"/>
            <a:ext cx="5334000" cy="2377380"/>
          </a:xfrm>
          <a:prstGeom prst="roundRect">
            <a:avLst>
              <a:gd name="adj" fmla="val 3205"/>
            </a:avLst>
          </a:prstGeom>
          <a:solidFill>
            <a:srgbClr val="FFFFFF"/>
          </a:solidFill>
          <a:ln w="9525">
            <a:solidFill>
              <a:srgbClr val="DED9CD"/>
            </a:solidFill>
            <a:prstDash val="solid"/>
          </a:ln>
        </p:spPr>
        <p:txBody>
          <a:bodyPr/>
          <a:p/>
        </p:txBody>
      </p:sp>
      <p:sp>
        <p:nvSpPr>
          <p:cNvPr id="31" name="Text 29"/>
          <p:cNvSpPr/>
          <p:nvPr/>
        </p:nvSpPr>
        <p:spPr>
          <a:xfrm>
            <a:off x="6772275" y="5012903"/>
            <a:ext cx="807021" cy="619125"/>
          </a:xfrm>
          <a:prstGeom prst="rect">
            <a:avLst/>
          </a:prstGeom>
          <a:noFill/>
          <a:ln/>
        </p:spPr>
        <p:txBody>
          <a:bodyPr wrap="square" lIns="25400" tIns="25400" rIns="25400" bIns="25400" rtlCol="0" anchor="t">
            <a:normAutofit/>
          </a:bodyPr>
          <a:lstStyle/>
          <a:p>
            <a:pPr algn="l" indent="0" marL="0">
              <a:buNone/>
            </a:pPr>
            <a:r>
              <a:rPr lang="en-US" sz="3000" dirty="0">
                <a:solidFill>
                  <a:srgbClr val="1C2A24"/>
                </a:solidFill>
                <a:latin typeface="Georgia" pitchFamily="34" charset="0"/>
                <a:ea typeface="Georgia" pitchFamily="34" charset="-122"/>
                <a:cs typeface="Georgia" pitchFamily="34" charset="-120"/>
              </a:rPr>
              <a:t>FAT</a:t>
            </a:r>
            <a:endParaRPr lang="en-US" sz="3000" dirty="0"/>
          </a:p>
        </p:txBody>
      </p:sp>
      <p:sp>
        <p:nvSpPr>
          <p:cNvPr id="32" name="Text 30"/>
          <p:cNvSpPr/>
          <p:nvPr/>
        </p:nvSpPr>
        <p:spPr>
          <a:xfrm>
            <a:off x="7636446" y="5222453"/>
            <a:ext cx="876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3B6B4A"/>
                </a:solidFill>
                <a:latin typeface="Courier New" pitchFamily="34" charset="0"/>
                <a:ea typeface="Courier New" pitchFamily="34" charset="-122"/>
                <a:cs typeface="Courier New" pitchFamily="34" charset="-120"/>
              </a:rPr>
              <a:t>PHASE 5</a:t>
            </a:r>
            <a:endParaRPr lang="en-US" sz="1500" dirty="0"/>
          </a:p>
        </p:txBody>
      </p:sp>
      <p:sp>
        <p:nvSpPr>
          <p:cNvPr id="33" name="Text 31"/>
          <p:cNvSpPr/>
          <p:nvPr/>
        </p:nvSpPr>
        <p:spPr>
          <a:xfrm>
            <a:off x="6772275" y="5727278"/>
            <a:ext cx="5217795" cy="333821"/>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A6660"/>
                </a:solidFill>
                <a:latin typeface="Arial" pitchFamily="34" charset="0"/>
                <a:ea typeface="Arial" pitchFamily="34" charset="-122"/>
                <a:cs typeface="Arial" pitchFamily="34" charset="-120"/>
              </a:rPr>
              <a:t>Acyl-ACP thioesterase · emerging</a:t>
            </a:r>
            <a:endParaRPr lang="en-US" sz="1725" dirty="0"/>
          </a:p>
        </p:txBody>
      </p:sp>
      <p:sp>
        <p:nvSpPr>
          <p:cNvPr id="34" name="Shape 32"/>
          <p:cNvSpPr/>
          <p:nvPr/>
        </p:nvSpPr>
        <p:spPr>
          <a:xfrm>
            <a:off x="6772275" y="6475437"/>
            <a:ext cx="782092" cy="9525"/>
          </a:xfrm>
          <a:prstGeom prst="rect">
            <a:avLst/>
          </a:prstGeom>
          <a:solidFill>
            <a:srgbClr val="2F6FBB">
              <a:alpha val="35000"/>
            </a:srgbClr>
          </a:solidFill>
          <a:ln/>
        </p:spPr>
        <p:txBody>
          <a:bodyPr/>
          <a:p/>
        </p:txBody>
      </p:sp>
      <p:sp>
        <p:nvSpPr>
          <p:cNvPr id="35" name="Text 33">
            <a:hlinkClick r:id="rId6" tooltip=""/>
          </p:cNvPr>
          <p:cNvSpPr/>
          <p:nvPr/>
        </p:nvSpPr>
        <p:spPr>
          <a:xfrm>
            <a:off x="6772275" y="6203975"/>
            <a:ext cx="858292" cy="309563"/>
          </a:xfrm>
          <a:prstGeom prst="rect">
            <a:avLst/>
          </a:prstGeom>
          <a:noFill/>
          <a:ln/>
        </p:spPr>
        <p:txBody>
          <a:bodyPr wrap="square" lIns="25400" tIns="25400" rIns="25400" bIns="25400" rtlCol="0" anchor="t">
            <a:normAutofit/>
          </a:bodyPr>
          <a:lstStyle/>
          <a:p>
            <a:pPr algn="l" indent="0" marL="0">
              <a:buNone/>
            </a:pPr>
            <a:r>
              <a:rPr lang="en-US" sz="1650" u="sng" dirty="0">
                <a:solidFill>
                  <a:srgbClr val="2F6FBB"/>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8P8K ↗</a:t>
            </a:r>
            <a:endParaRPr lang="en-US" sz="1650" dirty="0"/>
          </a:p>
        </p:txBody>
      </p:sp>
      <p:sp>
        <p:nvSpPr>
          <p:cNvPr id="36" name="Shape 34"/>
          <p:cNvSpPr/>
          <p:nvPr/>
        </p:nvSpPr>
        <p:spPr>
          <a:xfrm>
            <a:off x="12039600" y="4698578"/>
            <a:ext cx="5334000" cy="2377380"/>
          </a:xfrm>
          <a:prstGeom prst="roundRect">
            <a:avLst>
              <a:gd name="adj" fmla="val 3205"/>
            </a:avLst>
          </a:prstGeom>
          <a:solidFill>
            <a:srgbClr val="FFFFFF"/>
          </a:solidFill>
          <a:ln w="9525">
            <a:solidFill>
              <a:srgbClr val="DED9CD"/>
            </a:solidFill>
            <a:prstDash val="solid"/>
          </a:ln>
        </p:spPr>
        <p:txBody>
          <a:bodyPr/>
          <a:p/>
        </p:txBody>
      </p:sp>
      <p:sp>
        <p:nvSpPr>
          <p:cNvPr id="37" name="Text 35"/>
          <p:cNvSpPr/>
          <p:nvPr/>
        </p:nvSpPr>
        <p:spPr>
          <a:xfrm>
            <a:off x="12334875" y="5012903"/>
            <a:ext cx="1666823" cy="619125"/>
          </a:xfrm>
          <a:prstGeom prst="rect">
            <a:avLst/>
          </a:prstGeom>
          <a:noFill/>
          <a:ln/>
        </p:spPr>
        <p:txBody>
          <a:bodyPr wrap="square" lIns="25400" tIns="25400" rIns="25400" bIns="25400" rtlCol="0" anchor="t">
            <a:normAutofit/>
          </a:bodyPr>
          <a:lstStyle/>
          <a:p>
            <a:pPr algn="l" indent="0" marL="0">
              <a:buNone/>
            </a:pPr>
            <a:r>
              <a:rPr lang="en-US" sz="3000" dirty="0">
                <a:solidFill>
                  <a:srgbClr val="1C2A24"/>
                </a:solidFill>
                <a:latin typeface="Georgia" pitchFamily="34" charset="0"/>
                <a:ea typeface="Georgia" pitchFamily="34" charset="-122"/>
                <a:cs typeface="Georgia" pitchFamily="34" charset="-120"/>
              </a:rPr>
              <a:t>DHODH</a:t>
            </a:r>
            <a:endParaRPr lang="en-US" sz="3000" dirty="0"/>
          </a:p>
        </p:txBody>
      </p:sp>
      <p:sp>
        <p:nvSpPr>
          <p:cNvPr id="38" name="Text 36"/>
          <p:cNvSpPr/>
          <p:nvPr/>
        </p:nvSpPr>
        <p:spPr>
          <a:xfrm>
            <a:off x="13983519" y="5222453"/>
            <a:ext cx="87630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3B6B4A"/>
                </a:solidFill>
                <a:latin typeface="Courier New" pitchFamily="34" charset="0"/>
                <a:ea typeface="Courier New" pitchFamily="34" charset="-122"/>
                <a:cs typeface="Courier New" pitchFamily="34" charset="-120"/>
              </a:rPr>
              <a:t>PHASE 5</a:t>
            </a:r>
            <a:endParaRPr lang="en-US" sz="1500" dirty="0"/>
          </a:p>
        </p:txBody>
      </p:sp>
      <p:sp>
        <p:nvSpPr>
          <p:cNvPr id="39" name="Text 37"/>
          <p:cNvSpPr/>
          <p:nvPr/>
        </p:nvSpPr>
        <p:spPr>
          <a:xfrm>
            <a:off x="12334875" y="5727278"/>
            <a:ext cx="4885754" cy="629543"/>
          </a:xfrm>
          <a:prstGeom prst="rect">
            <a:avLst/>
          </a:prstGeom>
          <a:noFill/>
          <a:ln/>
        </p:spPr>
        <p:txBody>
          <a:bodyPr wrap="square" lIns="25400" tIns="25400" rIns="25400" bIns="25400" rtlCol="0" anchor="t">
            <a:normAutofit/>
          </a:bodyPr>
          <a:lstStyle/>
          <a:p>
            <a:pPr algn="l" indent="0" marL="0">
              <a:lnSpc>
                <a:spcPct val="135000"/>
              </a:lnSpc>
              <a:buNone/>
            </a:pPr>
            <a:r>
              <a:rPr lang="en-US" sz="1725" dirty="0">
                <a:solidFill>
                  <a:srgbClr val="5A6660"/>
                </a:solidFill>
                <a:latin typeface="Arial" pitchFamily="34" charset="0"/>
                <a:ea typeface="Arial" pitchFamily="34" charset="-122"/>
                <a:cs typeface="Arial" pitchFamily="34" charset="-120"/>
              </a:rPr>
              <a:t>Dihydroorotate dehydrogenase · no plant structure yet</a:t>
            </a:r>
            <a:endParaRPr lang="en-US" sz="1725" dirty="0"/>
          </a:p>
        </p:txBody>
      </p:sp>
      <p:sp>
        <p:nvSpPr>
          <p:cNvPr id="40" name="Text 38"/>
          <p:cNvSpPr/>
          <p:nvPr/>
        </p:nvSpPr>
        <p:spPr>
          <a:xfrm>
            <a:off x="12334875" y="6490171"/>
            <a:ext cx="1797955"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A9188"/>
                </a:solidFill>
                <a:latin typeface="Courier New" pitchFamily="34" charset="0"/>
                <a:ea typeface="Courier New" pitchFamily="34" charset="-122"/>
                <a:cs typeface="Courier New" pitchFamily="34" charset="-120"/>
              </a:rPr>
              <a:t>audit pending</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1B"/>
        </a:solidFill>
      </p:bgPr>
    </p:bg>
    <p:spTree>
      <p:nvGrpSpPr>
        <p:cNvPr id="1" name=""/>
        <p:cNvGrpSpPr/>
        <p:nvPr/>
      </p:nvGrpSpPr>
      <p:grpSpPr>
        <a:xfrm>
          <a:off x="0" y="0"/>
          <a:ext cx="0" cy="0"/>
          <a:chOff x="0" y="0"/>
          <a:chExt cx="0" cy="0"/>
        </a:xfrm>
      </p:grpSpPr>
      <p:sp>
        <p:nvSpPr>
          <p:cNvPr id="2" name="Text 0"/>
          <p:cNvSpPr/>
          <p:nvPr/>
        </p:nvSpPr>
        <p:spPr>
          <a:xfrm>
            <a:off x="990600" y="2776463"/>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8FB7A0"/>
                </a:solidFill>
                <a:latin typeface="Courier New" pitchFamily="34" charset="0"/>
                <a:ea typeface="Courier New" pitchFamily="34" charset="-122"/>
                <a:cs typeface="Courier New" pitchFamily="34" charset="-120"/>
              </a:rPr>
              <a:t>A CHOICE, BEFORE THE METHODS</a:t>
            </a:r>
            <a:endParaRPr lang="en-US" sz="1650" dirty="0"/>
          </a:p>
        </p:txBody>
      </p:sp>
      <p:sp>
        <p:nvSpPr>
          <p:cNvPr id="3" name="Text 1"/>
          <p:cNvSpPr/>
          <p:nvPr/>
        </p:nvSpPr>
        <p:spPr>
          <a:xfrm>
            <a:off x="990600" y="3276526"/>
            <a:ext cx="14519910" cy="1519386"/>
          </a:xfrm>
          <a:prstGeom prst="rect">
            <a:avLst/>
          </a:prstGeom>
          <a:noFill/>
          <a:ln/>
        </p:spPr>
        <p:txBody>
          <a:bodyPr wrap="square" lIns="25400" tIns="25400" rIns="25400" bIns="25400" rtlCol="0" anchor="t">
            <a:normAutofit/>
          </a:bodyPr>
          <a:lstStyle/>
          <a:p>
            <a:pPr algn="l" indent="0" marL="0">
              <a:lnSpc>
                <a:spcPct val="108000"/>
              </a:lnSpc>
              <a:buNone/>
            </a:pPr>
            <a:r>
              <a:rPr lang="en-US" sz="5400" spc="-54" kern="0" dirty="0">
                <a:solidFill>
                  <a:srgbClr val="F4F1EA"/>
                </a:solidFill>
                <a:latin typeface="Georgia" pitchFamily="34" charset="0"/>
                <a:ea typeface="Georgia" pitchFamily="34" charset="-122"/>
                <a:cs typeface="Georgia" pitchFamily="34" charset="-120"/>
              </a:rPr>
              <a:t>We chose a static structural map — not a dynamics simulation</a:t>
            </a:r>
            <a:endParaRPr lang="en-US" sz="5400" dirty="0"/>
          </a:p>
        </p:txBody>
      </p:sp>
      <p:sp>
        <p:nvSpPr>
          <p:cNvPr id="4" name="Text 2"/>
          <p:cNvSpPr/>
          <p:nvPr/>
        </p:nvSpPr>
        <p:spPr>
          <a:xfrm>
            <a:off x="990600" y="5291212"/>
            <a:ext cx="867537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FBF9E"/>
                </a:solidFill>
                <a:latin typeface="Courier New" pitchFamily="34" charset="0"/>
                <a:ea typeface="Courier New" pitchFamily="34" charset="-122"/>
                <a:cs typeface="Courier New" pitchFamily="34" charset="-120"/>
              </a:rPr>
              <a:t>STATIC MAPPING CAN SAY</a:t>
            </a:r>
            <a:endParaRPr lang="en-US" sz="1800" dirty="0"/>
          </a:p>
        </p:txBody>
      </p:sp>
      <p:sp>
        <p:nvSpPr>
          <p:cNvPr id="5" name="Text 3"/>
          <p:cNvSpPr/>
          <p:nvPr/>
        </p:nvSpPr>
        <p:spPr>
          <a:xfrm>
            <a:off x="990600" y="5738887"/>
            <a:ext cx="8123301" cy="1809750"/>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DCE6DF"/>
                </a:solidFill>
                <a:latin typeface="Arial" pitchFamily="34" charset="0"/>
                <a:ea typeface="Arial" pitchFamily="34" charset="-122"/>
                <a:cs typeface="Arial" pitchFamily="34" charset="-120"/>
              </a:rPr>
              <a:t>Where a residue sits relative to the active-site core · how exposed it is (RSA) · how conserved it is across species — computed identically for every family, and testable against chance.</a:t>
            </a:r>
            <a:endParaRPr lang="en-US" sz="2325" dirty="0"/>
          </a:p>
        </p:txBody>
      </p:sp>
      <p:sp>
        <p:nvSpPr>
          <p:cNvPr id="6" name="Text 4"/>
          <p:cNvSpPr/>
          <p:nvPr/>
        </p:nvSpPr>
        <p:spPr>
          <a:xfrm>
            <a:off x="9410700" y="5291212"/>
            <a:ext cx="867537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D9A85A"/>
                </a:solidFill>
                <a:latin typeface="Courier New" pitchFamily="34" charset="0"/>
                <a:ea typeface="Courier New" pitchFamily="34" charset="-122"/>
                <a:cs typeface="Courier New" pitchFamily="34" charset="-120"/>
              </a:rPr>
              <a:t>IT DOES NOT CLAIM</a:t>
            </a:r>
            <a:endParaRPr lang="en-US" sz="1800" dirty="0"/>
          </a:p>
        </p:txBody>
      </p:sp>
      <p:sp>
        <p:nvSpPr>
          <p:cNvPr id="7" name="Text 5"/>
          <p:cNvSpPr/>
          <p:nvPr/>
        </p:nvSpPr>
        <p:spPr>
          <a:xfrm>
            <a:off x="9410700" y="5738887"/>
            <a:ext cx="8123301" cy="1366838"/>
          </a:xfrm>
          <a:prstGeom prst="rect">
            <a:avLst/>
          </a:prstGeom>
          <a:noFill/>
          <a:ln/>
        </p:spPr>
        <p:txBody>
          <a:bodyPr wrap="square" lIns="25400" tIns="25400" rIns="25400" bIns="25400" rtlCol="0" anchor="t">
            <a:normAutofit/>
          </a:bodyPr>
          <a:lstStyle/>
          <a:p>
            <a:pPr algn="l" indent="0" marL="0">
              <a:lnSpc>
                <a:spcPct val="150000"/>
              </a:lnSpc>
              <a:buNone/>
            </a:pPr>
            <a:r>
              <a:rPr lang="en-US" sz="2325" dirty="0">
                <a:solidFill>
                  <a:srgbClr val="CBD8CE"/>
                </a:solidFill>
                <a:latin typeface="Arial" pitchFamily="34" charset="0"/>
                <a:ea typeface="Arial" pitchFamily="34" charset="-122"/>
                <a:cs typeface="Arial" pitchFamily="34" charset="-120"/>
              </a:rPr>
              <a:t>Binding free energy · induced-fit cost · loop breathing · mutant-state thermodynamics. For those we cite published kinetic, docking, and MD work — we don't reinvent it.</a:t>
            </a:r>
            <a:endParaRPr lang="en-US" sz="23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8001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THE PIPELINE</a:t>
            </a:r>
            <a:endParaRPr lang="en-US" sz="1650" dirty="0"/>
          </a:p>
        </p:txBody>
      </p:sp>
      <p:sp>
        <p:nvSpPr>
          <p:cNvPr id="3" name="Text 1"/>
          <p:cNvSpPr/>
          <p:nvPr/>
        </p:nvSpPr>
        <p:spPr>
          <a:xfrm>
            <a:off x="914400" y="1204913"/>
            <a:ext cx="1810512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spc="-48" kern="0" dirty="0">
                <a:solidFill>
                  <a:srgbClr val="1C2A24"/>
                </a:solidFill>
                <a:latin typeface="Georgia" pitchFamily="34" charset="0"/>
                <a:ea typeface="Georgia" pitchFamily="34" charset="-122"/>
                <a:cs typeface="Georgia" pitchFamily="34" charset="-120"/>
              </a:rPr>
              <a:t>Six stages, one reproducible command</a:t>
            </a:r>
            <a:endParaRPr lang="en-US" sz="4800" dirty="0"/>
          </a:p>
        </p:txBody>
      </p:sp>
      <p:sp>
        <p:nvSpPr>
          <p:cNvPr id="4" name="Shape 2"/>
          <p:cNvSpPr/>
          <p:nvPr/>
        </p:nvSpPr>
        <p:spPr>
          <a:xfrm>
            <a:off x="914400" y="2378348"/>
            <a:ext cx="2603450" cy="6470377"/>
          </a:xfrm>
          <a:prstGeom prst="roundRect">
            <a:avLst>
              <a:gd name="adj" fmla="val 2927"/>
            </a:avLst>
          </a:prstGeom>
          <a:solidFill>
            <a:srgbClr val="FFFFFF"/>
          </a:solidFill>
          <a:ln w="9525">
            <a:solidFill>
              <a:srgbClr val="DED9CD"/>
            </a:solidFill>
            <a:prstDash val="solid"/>
          </a:ln>
        </p:spPr>
        <p:txBody>
          <a:bodyPr/>
          <a:p/>
        </p:txBody>
      </p:sp>
      <p:sp>
        <p:nvSpPr>
          <p:cNvPr id="5" name="Text 3"/>
          <p:cNvSpPr/>
          <p:nvPr/>
        </p:nvSpPr>
        <p:spPr>
          <a:xfrm>
            <a:off x="1171575" y="2711723"/>
            <a:ext cx="229801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2F6FBB"/>
                </a:solidFill>
                <a:latin typeface="Courier New" pitchFamily="34" charset="0"/>
                <a:ea typeface="Courier New" pitchFamily="34" charset="-122"/>
                <a:cs typeface="Courier New" pitchFamily="34" charset="-120"/>
              </a:rPr>
              <a:t>01</a:t>
            </a:r>
            <a:endParaRPr lang="en-US" sz="2250" dirty="0"/>
          </a:p>
        </p:txBody>
      </p:sp>
      <p:sp>
        <p:nvSpPr>
          <p:cNvPr id="6" name="Text 4"/>
          <p:cNvSpPr/>
          <p:nvPr/>
        </p:nvSpPr>
        <p:spPr>
          <a:xfrm>
            <a:off x="1171575" y="3240360"/>
            <a:ext cx="2298010" cy="394320"/>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C2A24"/>
                </a:solidFill>
                <a:latin typeface="Georgia" pitchFamily="34" charset="0"/>
                <a:ea typeface="Georgia" pitchFamily="34" charset="-122"/>
                <a:cs typeface="Georgia" pitchFamily="34" charset="-120"/>
              </a:rPr>
              <a:t>Curate</a:t>
            </a:r>
            <a:endParaRPr lang="en-US" sz="2550" dirty="0"/>
          </a:p>
        </p:txBody>
      </p:sp>
      <p:sp>
        <p:nvSpPr>
          <p:cNvPr id="7" name="Text 5"/>
          <p:cNvSpPr/>
          <p:nvPr/>
        </p:nvSpPr>
        <p:spPr>
          <a:xfrm>
            <a:off x="1171575" y="3710880"/>
            <a:ext cx="2165300"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60"/>
                </a:solidFill>
                <a:latin typeface="Arial" pitchFamily="34" charset="0"/>
                <a:ea typeface="Arial" pitchFamily="34" charset="-122"/>
                <a:cs typeface="Arial" pitchFamily="34" charset="-120"/>
              </a:rPr>
              <a:t>Primary-source mutations only</a:t>
            </a:r>
            <a:endParaRPr lang="en-US" sz="1725" dirty="0"/>
          </a:p>
        </p:txBody>
      </p:sp>
      <p:sp>
        <p:nvSpPr>
          <p:cNvPr id="8" name="Shape 6"/>
          <p:cNvSpPr/>
          <p:nvPr/>
        </p:nvSpPr>
        <p:spPr>
          <a:xfrm>
            <a:off x="3689300" y="2378348"/>
            <a:ext cx="2603525" cy="6470377"/>
          </a:xfrm>
          <a:prstGeom prst="roundRect">
            <a:avLst>
              <a:gd name="adj" fmla="val 2927"/>
            </a:avLst>
          </a:prstGeom>
          <a:solidFill>
            <a:srgbClr val="FFFFFF"/>
          </a:solidFill>
          <a:ln w="9525">
            <a:solidFill>
              <a:srgbClr val="DED9CD"/>
            </a:solidFill>
            <a:prstDash val="solid"/>
          </a:ln>
        </p:spPr>
        <p:txBody>
          <a:bodyPr/>
          <a:p/>
        </p:txBody>
      </p:sp>
      <p:sp>
        <p:nvSpPr>
          <p:cNvPr id="9" name="Text 7"/>
          <p:cNvSpPr/>
          <p:nvPr/>
        </p:nvSpPr>
        <p:spPr>
          <a:xfrm>
            <a:off x="3946475" y="2711723"/>
            <a:ext cx="2298092" cy="414338"/>
          </a:xfrm>
          <a:prstGeom prst="rect">
            <a:avLst/>
          </a:prstGeom>
          <a:noFill/>
          <a:ln/>
        </p:spPr>
        <p:txBody>
          <a:bodyPr wrap="square" lIns="25400" tIns="25400" rIns="25400" bIns="25400" rtlCol="0" anchor="t">
            <a:normAutofit/>
          </a:bodyPr>
          <a:lstStyle/>
          <a:p>
            <a:pPr algn="l" indent="0" marL="0">
              <a:buNone/>
            </a:pPr>
            <a:r>
              <a:rPr lang="en-US" sz="2250" dirty="0">
                <a:solidFill>
                  <a:srgbClr val="2F6FBB"/>
                </a:solidFill>
                <a:latin typeface="Courier New" pitchFamily="34" charset="0"/>
                <a:ea typeface="Courier New" pitchFamily="34" charset="-122"/>
                <a:cs typeface="Courier New" pitchFamily="34" charset="-120"/>
              </a:rPr>
              <a:t>02</a:t>
            </a:r>
            <a:endParaRPr lang="en-US" sz="2250" dirty="0"/>
          </a:p>
        </p:txBody>
      </p:sp>
      <p:sp>
        <p:nvSpPr>
          <p:cNvPr id="10" name="Text 8"/>
          <p:cNvSpPr/>
          <p:nvPr/>
        </p:nvSpPr>
        <p:spPr>
          <a:xfrm>
            <a:off x="3946475" y="3240360"/>
            <a:ext cx="2298092" cy="394320"/>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C2A24"/>
                </a:solidFill>
                <a:latin typeface="Georgia" pitchFamily="34" charset="0"/>
                <a:ea typeface="Georgia" pitchFamily="34" charset="-122"/>
                <a:cs typeface="Georgia" pitchFamily="34" charset="-120"/>
              </a:rPr>
              <a:t>Map</a:t>
            </a:r>
            <a:endParaRPr lang="en-US" sz="2550" dirty="0"/>
          </a:p>
        </p:txBody>
      </p:sp>
      <p:sp>
        <p:nvSpPr>
          <p:cNvPr id="11" name="Text 9"/>
          <p:cNvSpPr/>
          <p:nvPr/>
        </p:nvSpPr>
        <p:spPr>
          <a:xfrm>
            <a:off x="3946475" y="3710880"/>
            <a:ext cx="2165375"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60"/>
                </a:solidFill>
                <a:latin typeface="Arial" pitchFamily="34" charset="0"/>
                <a:ea typeface="Arial" pitchFamily="34" charset="-122"/>
                <a:cs typeface="Arial" pitchFamily="34" charset="-120"/>
              </a:rPr>
              <a:t>Onto a herbicide-relevant structure</a:t>
            </a:r>
            <a:endParaRPr lang="en-US" sz="1725" dirty="0"/>
          </a:p>
        </p:txBody>
      </p:sp>
      <p:sp>
        <p:nvSpPr>
          <p:cNvPr id="12" name="Shape 10"/>
          <p:cNvSpPr/>
          <p:nvPr/>
        </p:nvSpPr>
        <p:spPr>
          <a:xfrm>
            <a:off x="6464275" y="2378348"/>
            <a:ext cx="2603450" cy="6470377"/>
          </a:xfrm>
          <a:prstGeom prst="roundRect">
            <a:avLst>
              <a:gd name="adj" fmla="val 2927"/>
            </a:avLst>
          </a:prstGeom>
          <a:solidFill>
            <a:srgbClr val="FFFFFF"/>
          </a:solidFill>
          <a:ln w="9525">
            <a:solidFill>
              <a:srgbClr val="DED9CD"/>
            </a:solidFill>
            <a:prstDash val="solid"/>
          </a:ln>
        </p:spPr>
        <p:txBody>
          <a:bodyPr/>
          <a:p/>
        </p:txBody>
      </p:sp>
      <p:sp>
        <p:nvSpPr>
          <p:cNvPr id="13" name="Text 11"/>
          <p:cNvSpPr/>
          <p:nvPr/>
        </p:nvSpPr>
        <p:spPr>
          <a:xfrm>
            <a:off x="6721450" y="2711723"/>
            <a:ext cx="229801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2F6FBB"/>
                </a:solidFill>
                <a:latin typeface="Courier New" pitchFamily="34" charset="0"/>
                <a:ea typeface="Courier New" pitchFamily="34" charset="-122"/>
                <a:cs typeface="Courier New" pitchFamily="34" charset="-120"/>
              </a:rPr>
              <a:t>03</a:t>
            </a:r>
            <a:endParaRPr lang="en-US" sz="2250" dirty="0"/>
          </a:p>
        </p:txBody>
      </p:sp>
      <p:sp>
        <p:nvSpPr>
          <p:cNvPr id="14" name="Text 12"/>
          <p:cNvSpPr/>
          <p:nvPr/>
        </p:nvSpPr>
        <p:spPr>
          <a:xfrm>
            <a:off x="6721450" y="3240360"/>
            <a:ext cx="2298010" cy="394320"/>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C2A24"/>
                </a:solidFill>
                <a:latin typeface="Georgia" pitchFamily="34" charset="0"/>
                <a:ea typeface="Georgia" pitchFamily="34" charset="-122"/>
                <a:cs typeface="Georgia" pitchFamily="34" charset="-120"/>
              </a:rPr>
              <a:t>Define core</a:t>
            </a:r>
            <a:endParaRPr lang="en-US" sz="2550" dirty="0"/>
          </a:p>
        </p:txBody>
      </p:sp>
      <p:sp>
        <p:nvSpPr>
          <p:cNvPr id="15" name="Text 13"/>
          <p:cNvSpPr/>
          <p:nvPr/>
        </p:nvSpPr>
        <p:spPr>
          <a:xfrm>
            <a:off x="6721450" y="3710880"/>
            <a:ext cx="2165300"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60"/>
                </a:solidFill>
                <a:latin typeface="Arial" pitchFamily="34" charset="0"/>
                <a:ea typeface="Arial" pitchFamily="34" charset="-122"/>
                <a:cs typeface="Arial" pitchFamily="34" charset="-120"/>
              </a:rPr>
              <a:t>Active site from ligand contacts</a:t>
            </a:r>
            <a:endParaRPr lang="en-US" sz="1725" dirty="0"/>
          </a:p>
        </p:txBody>
      </p:sp>
      <p:sp>
        <p:nvSpPr>
          <p:cNvPr id="16" name="Shape 14"/>
          <p:cNvSpPr/>
          <p:nvPr/>
        </p:nvSpPr>
        <p:spPr>
          <a:xfrm>
            <a:off x="9239176" y="2378348"/>
            <a:ext cx="2603525" cy="6470377"/>
          </a:xfrm>
          <a:prstGeom prst="roundRect">
            <a:avLst>
              <a:gd name="adj" fmla="val 2927"/>
            </a:avLst>
          </a:prstGeom>
          <a:solidFill>
            <a:srgbClr val="FFFFFF"/>
          </a:solidFill>
          <a:ln w="9525">
            <a:solidFill>
              <a:srgbClr val="DED9CD"/>
            </a:solidFill>
            <a:prstDash val="solid"/>
          </a:ln>
        </p:spPr>
        <p:txBody>
          <a:bodyPr/>
          <a:p/>
        </p:txBody>
      </p:sp>
      <p:sp>
        <p:nvSpPr>
          <p:cNvPr id="17" name="Text 15"/>
          <p:cNvSpPr/>
          <p:nvPr/>
        </p:nvSpPr>
        <p:spPr>
          <a:xfrm>
            <a:off x="9496351" y="2711723"/>
            <a:ext cx="2298092" cy="414338"/>
          </a:xfrm>
          <a:prstGeom prst="rect">
            <a:avLst/>
          </a:prstGeom>
          <a:noFill/>
          <a:ln/>
        </p:spPr>
        <p:txBody>
          <a:bodyPr wrap="square" lIns="25400" tIns="25400" rIns="25400" bIns="25400" rtlCol="0" anchor="t">
            <a:normAutofit/>
          </a:bodyPr>
          <a:lstStyle/>
          <a:p>
            <a:pPr algn="l" indent="0" marL="0">
              <a:buNone/>
            </a:pPr>
            <a:r>
              <a:rPr lang="en-US" sz="2250" dirty="0">
                <a:solidFill>
                  <a:srgbClr val="2F6FBB"/>
                </a:solidFill>
                <a:latin typeface="Courier New" pitchFamily="34" charset="0"/>
                <a:ea typeface="Courier New" pitchFamily="34" charset="-122"/>
                <a:cs typeface="Courier New" pitchFamily="34" charset="-120"/>
              </a:rPr>
              <a:t>04</a:t>
            </a:r>
            <a:endParaRPr lang="en-US" sz="2250" dirty="0"/>
          </a:p>
        </p:txBody>
      </p:sp>
      <p:sp>
        <p:nvSpPr>
          <p:cNvPr id="18" name="Text 16"/>
          <p:cNvSpPr/>
          <p:nvPr/>
        </p:nvSpPr>
        <p:spPr>
          <a:xfrm>
            <a:off x="9496351" y="3240360"/>
            <a:ext cx="2298092" cy="394320"/>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C2A24"/>
                </a:solidFill>
                <a:latin typeface="Georgia" pitchFamily="34" charset="0"/>
                <a:ea typeface="Georgia" pitchFamily="34" charset="-122"/>
                <a:cs typeface="Georgia" pitchFamily="34" charset="-120"/>
              </a:rPr>
              <a:t>Measure</a:t>
            </a:r>
            <a:endParaRPr lang="en-US" sz="2550" dirty="0"/>
          </a:p>
        </p:txBody>
      </p:sp>
      <p:sp>
        <p:nvSpPr>
          <p:cNvPr id="19" name="Text 17"/>
          <p:cNvSpPr/>
          <p:nvPr/>
        </p:nvSpPr>
        <p:spPr>
          <a:xfrm>
            <a:off x="9496351" y="3710880"/>
            <a:ext cx="2165375"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60"/>
                </a:solidFill>
                <a:latin typeface="Arial" pitchFamily="34" charset="0"/>
                <a:ea typeface="Arial" pitchFamily="34" charset="-122"/>
                <a:cs typeface="Arial" pitchFamily="34" charset="-120"/>
              </a:rPr>
              <a:t>Distance · RSA · conservation</a:t>
            </a:r>
            <a:endParaRPr lang="en-US" sz="1725" dirty="0"/>
          </a:p>
        </p:txBody>
      </p:sp>
      <p:sp>
        <p:nvSpPr>
          <p:cNvPr id="20" name="Shape 18"/>
          <p:cNvSpPr/>
          <p:nvPr/>
        </p:nvSpPr>
        <p:spPr>
          <a:xfrm>
            <a:off x="12014150" y="2378348"/>
            <a:ext cx="2603525" cy="6470377"/>
          </a:xfrm>
          <a:prstGeom prst="roundRect">
            <a:avLst>
              <a:gd name="adj" fmla="val 2927"/>
            </a:avLst>
          </a:prstGeom>
          <a:solidFill>
            <a:srgbClr val="FFFFFF"/>
          </a:solidFill>
          <a:ln w="9525">
            <a:solidFill>
              <a:srgbClr val="DED9CD"/>
            </a:solidFill>
            <a:prstDash val="solid"/>
          </a:ln>
        </p:spPr>
        <p:txBody>
          <a:bodyPr/>
          <a:p/>
        </p:txBody>
      </p:sp>
      <p:sp>
        <p:nvSpPr>
          <p:cNvPr id="21" name="Text 19"/>
          <p:cNvSpPr/>
          <p:nvPr/>
        </p:nvSpPr>
        <p:spPr>
          <a:xfrm>
            <a:off x="12271325" y="2711723"/>
            <a:ext cx="2298092" cy="414338"/>
          </a:xfrm>
          <a:prstGeom prst="rect">
            <a:avLst/>
          </a:prstGeom>
          <a:noFill/>
          <a:ln/>
        </p:spPr>
        <p:txBody>
          <a:bodyPr wrap="square" lIns="25400" tIns="25400" rIns="25400" bIns="25400" rtlCol="0" anchor="t">
            <a:normAutofit/>
          </a:bodyPr>
          <a:lstStyle/>
          <a:p>
            <a:pPr algn="l" indent="0" marL="0">
              <a:buNone/>
            </a:pPr>
            <a:r>
              <a:rPr lang="en-US" sz="2250" dirty="0">
                <a:solidFill>
                  <a:srgbClr val="2F6FBB"/>
                </a:solidFill>
                <a:latin typeface="Courier New" pitchFamily="34" charset="0"/>
                <a:ea typeface="Courier New" pitchFamily="34" charset="-122"/>
                <a:cs typeface="Courier New" pitchFamily="34" charset="-120"/>
              </a:rPr>
              <a:t>05</a:t>
            </a:r>
            <a:endParaRPr lang="en-US" sz="2250" dirty="0"/>
          </a:p>
        </p:txBody>
      </p:sp>
      <p:sp>
        <p:nvSpPr>
          <p:cNvPr id="22" name="Text 20"/>
          <p:cNvSpPr/>
          <p:nvPr/>
        </p:nvSpPr>
        <p:spPr>
          <a:xfrm>
            <a:off x="12271325" y="3240360"/>
            <a:ext cx="2298092" cy="394320"/>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C2A24"/>
                </a:solidFill>
                <a:latin typeface="Georgia" pitchFamily="34" charset="0"/>
                <a:ea typeface="Georgia" pitchFamily="34" charset="-122"/>
                <a:cs typeface="Georgia" pitchFamily="34" charset="-120"/>
              </a:rPr>
              <a:t>Test</a:t>
            </a:r>
            <a:endParaRPr lang="en-US" sz="2550" dirty="0"/>
          </a:p>
        </p:txBody>
      </p:sp>
      <p:sp>
        <p:nvSpPr>
          <p:cNvPr id="23" name="Text 21"/>
          <p:cNvSpPr/>
          <p:nvPr/>
        </p:nvSpPr>
        <p:spPr>
          <a:xfrm>
            <a:off x="12271325" y="3710880"/>
            <a:ext cx="2165375"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60"/>
                </a:solidFill>
                <a:latin typeface="Arial" pitchFamily="34" charset="0"/>
                <a:ea typeface="Arial" pitchFamily="34" charset="-122"/>
                <a:cs typeface="Arial" pitchFamily="34" charset="-120"/>
              </a:rPr>
              <a:t>Permutation vs random residues</a:t>
            </a:r>
            <a:endParaRPr lang="en-US" sz="1725" dirty="0"/>
          </a:p>
        </p:txBody>
      </p:sp>
      <p:sp>
        <p:nvSpPr>
          <p:cNvPr id="24" name="Shape 22"/>
          <p:cNvSpPr/>
          <p:nvPr/>
        </p:nvSpPr>
        <p:spPr>
          <a:xfrm>
            <a:off x="14789125" y="2378348"/>
            <a:ext cx="2584475" cy="6470377"/>
          </a:xfrm>
          <a:prstGeom prst="roundRect">
            <a:avLst>
              <a:gd name="adj" fmla="val 2948"/>
            </a:avLst>
          </a:prstGeom>
          <a:solidFill>
            <a:srgbClr val="14211B"/>
          </a:solidFill>
          <a:ln/>
        </p:spPr>
        <p:txBody>
          <a:bodyPr/>
          <a:p/>
        </p:txBody>
      </p:sp>
      <p:sp>
        <p:nvSpPr>
          <p:cNvPr id="25" name="Text 23"/>
          <p:cNvSpPr/>
          <p:nvPr/>
        </p:nvSpPr>
        <p:spPr>
          <a:xfrm>
            <a:off x="15036775" y="2702198"/>
            <a:ext cx="2298092" cy="414338"/>
          </a:xfrm>
          <a:prstGeom prst="rect">
            <a:avLst/>
          </a:prstGeom>
          <a:noFill/>
          <a:ln/>
        </p:spPr>
        <p:txBody>
          <a:bodyPr wrap="square" lIns="25400" tIns="25400" rIns="25400" bIns="25400" rtlCol="0" anchor="t">
            <a:normAutofit/>
          </a:bodyPr>
          <a:lstStyle/>
          <a:p>
            <a:pPr algn="l" indent="0" marL="0">
              <a:buNone/>
            </a:pPr>
            <a:r>
              <a:rPr lang="en-US" sz="2250" dirty="0">
                <a:solidFill>
                  <a:srgbClr val="8FBF9E"/>
                </a:solidFill>
                <a:latin typeface="Courier New" pitchFamily="34" charset="0"/>
                <a:ea typeface="Courier New" pitchFamily="34" charset="-122"/>
                <a:cs typeface="Courier New" pitchFamily="34" charset="-120"/>
              </a:rPr>
              <a:t>06</a:t>
            </a:r>
            <a:endParaRPr lang="en-US" sz="2250" dirty="0"/>
          </a:p>
        </p:txBody>
      </p:sp>
      <p:sp>
        <p:nvSpPr>
          <p:cNvPr id="26" name="Text 24"/>
          <p:cNvSpPr/>
          <p:nvPr/>
        </p:nvSpPr>
        <p:spPr>
          <a:xfrm>
            <a:off x="15036775" y="3230835"/>
            <a:ext cx="2298092" cy="394320"/>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F4F1EA"/>
                </a:solidFill>
                <a:latin typeface="Georgia" pitchFamily="34" charset="0"/>
                <a:ea typeface="Georgia" pitchFamily="34" charset="-122"/>
                <a:cs typeface="Georgia" pitchFamily="34" charset="-120"/>
              </a:rPr>
              <a:t>Annotate</a:t>
            </a:r>
            <a:endParaRPr lang="en-US" sz="2550" dirty="0"/>
          </a:p>
        </p:txBody>
      </p:sp>
      <p:sp>
        <p:nvSpPr>
          <p:cNvPr id="27" name="Text 25"/>
          <p:cNvSpPr/>
          <p:nvPr/>
        </p:nvSpPr>
        <p:spPr>
          <a:xfrm>
            <a:off x="15036775" y="3701355"/>
            <a:ext cx="2298092" cy="34037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CBD8CE"/>
                </a:solidFill>
                <a:latin typeface="Arial" pitchFamily="34" charset="0"/>
                <a:ea typeface="Arial" pitchFamily="34" charset="-122"/>
                <a:cs typeface="Arial" pitchFamily="34" charset="-120"/>
              </a:rPr>
              <a:t>Mechanism typology</a:t>
            </a:r>
            <a:endParaRPr lang="en-US" sz="1725" dirty="0"/>
          </a:p>
        </p:txBody>
      </p:sp>
      <p:sp>
        <p:nvSpPr>
          <p:cNvPr id="28" name="Text 26"/>
          <p:cNvSpPr/>
          <p:nvPr/>
        </p:nvSpPr>
        <p:spPr>
          <a:xfrm>
            <a:off x="914400" y="9191625"/>
            <a:ext cx="181051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5A6660"/>
                </a:solidFill>
                <a:latin typeface="Courier New" pitchFamily="34" charset="0"/>
                <a:ea typeface="Courier New" pitchFamily="34" charset="-122"/>
                <a:cs typeface="Courier New" pitchFamily="34" charset="-120"/>
              </a:rPr>
              <a:t>$ python scripts/rebuild_all.py </a:t>
            </a:r>
            <a:pPr algn="l" indent="0" marL="0">
              <a:buNone/>
            </a:pPr>
            <a:r>
              <a:rPr lang="en-US" sz="1800" dirty="0">
                <a:solidFill>
                  <a:srgbClr val="8A9188"/>
                </a:solidFill>
                <a:latin typeface="Courier New" pitchFamily="34" charset="0"/>
                <a:ea typeface="Courier New" pitchFamily="34" charset="-122"/>
                <a:cs typeface="Courier New" pitchFamily="34" charset="-120"/>
              </a:rPr>
              <a:t># regenerates every table + figure, deterministically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90600" y="838200"/>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CHOICE 1 · CURATION</a:t>
            </a:r>
            <a:endParaRPr lang="en-US" sz="1650" dirty="0"/>
          </a:p>
        </p:txBody>
      </p:sp>
      <p:sp>
        <p:nvSpPr>
          <p:cNvPr id="3" name="Text 1"/>
          <p:cNvSpPr/>
          <p:nvPr/>
        </p:nvSpPr>
        <p:spPr>
          <a:xfrm>
            <a:off x="990600" y="1243013"/>
            <a:ext cx="1793748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spc="-48" kern="0" dirty="0">
                <a:solidFill>
                  <a:srgbClr val="1C2A24"/>
                </a:solidFill>
                <a:latin typeface="Georgia" pitchFamily="34" charset="0"/>
                <a:ea typeface="Georgia" pitchFamily="34" charset="-122"/>
                <a:cs typeface="Georgia" pitchFamily="34" charset="-120"/>
              </a:rPr>
              <a:t>Evidence-gated, or it doesn't go in</a:t>
            </a:r>
            <a:endParaRPr lang="en-US" sz="4800" dirty="0"/>
          </a:p>
        </p:txBody>
      </p:sp>
      <p:sp>
        <p:nvSpPr>
          <p:cNvPr id="4" name="Text 2"/>
          <p:cNvSpPr/>
          <p:nvPr/>
        </p:nvSpPr>
        <p:spPr>
          <a:xfrm>
            <a:off x="990600" y="2378348"/>
            <a:ext cx="318790" cy="476250"/>
          </a:xfrm>
          <a:prstGeom prst="rect">
            <a:avLst/>
          </a:prstGeom>
          <a:noFill/>
          <a:ln/>
        </p:spPr>
        <p:txBody>
          <a:bodyPr wrap="square" lIns="25400" tIns="25400" rIns="25400" bIns="25400" rtlCol="0" anchor="t">
            <a:normAutofit/>
          </a:bodyPr>
          <a:lstStyle/>
          <a:p>
            <a:pPr algn="l" indent="0" marL="0">
              <a:buNone/>
            </a:pPr>
            <a:r>
              <a:rPr lang="en-US" sz="2550" dirty="0">
                <a:solidFill>
                  <a:srgbClr val="2E5540"/>
                </a:solidFill>
                <a:latin typeface="Arial" pitchFamily="34" charset="0"/>
                <a:ea typeface="Arial" pitchFamily="34" charset="-122"/>
                <a:cs typeface="Arial" pitchFamily="34" charset="-120"/>
              </a:rPr>
              <a:t>✓</a:t>
            </a:r>
            <a:endParaRPr lang="en-US" sz="2550" dirty="0"/>
          </a:p>
        </p:txBody>
      </p:sp>
      <p:sp>
        <p:nvSpPr>
          <p:cNvPr id="5" name="Text 3"/>
          <p:cNvSpPr/>
          <p:nvPr/>
        </p:nvSpPr>
        <p:spPr>
          <a:xfrm>
            <a:off x="1442740" y="2378348"/>
            <a:ext cx="8717081"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C2A24"/>
                </a:solidFill>
                <a:latin typeface="Arial" pitchFamily="34" charset="0"/>
                <a:ea typeface="Arial" pitchFamily="34" charset="-122"/>
                <a:cs typeface="Arial" pitchFamily="34" charset="-120"/>
              </a:rPr>
              <a:t>Every mutation traced to primary literature or accession-level evidence.</a:t>
            </a:r>
            <a:endParaRPr lang="en-US" sz="2250" dirty="0"/>
          </a:p>
        </p:txBody>
      </p:sp>
      <p:sp>
        <p:nvSpPr>
          <p:cNvPr id="6" name="Text 4"/>
          <p:cNvSpPr/>
          <p:nvPr/>
        </p:nvSpPr>
        <p:spPr>
          <a:xfrm>
            <a:off x="990600" y="3387998"/>
            <a:ext cx="340816" cy="476250"/>
          </a:xfrm>
          <a:prstGeom prst="rect">
            <a:avLst/>
          </a:prstGeom>
          <a:noFill/>
          <a:ln/>
        </p:spPr>
        <p:txBody>
          <a:bodyPr wrap="square" lIns="25400" tIns="25400" rIns="25400" bIns="25400" rtlCol="0" anchor="t">
            <a:normAutofit/>
          </a:bodyPr>
          <a:lstStyle/>
          <a:p>
            <a:pPr algn="l" indent="0" marL="0">
              <a:buNone/>
            </a:pPr>
            <a:r>
              <a:rPr lang="en-US" sz="2550" dirty="0">
                <a:solidFill>
                  <a:srgbClr val="B23A3A"/>
                </a:solidFill>
                <a:latin typeface="Arial" pitchFamily="34" charset="0"/>
                <a:ea typeface="Arial" pitchFamily="34" charset="-122"/>
                <a:cs typeface="Arial" pitchFamily="34" charset="-120"/>
              </a:rPr>
              <a:t>✗</a:t>
            </a:r>
            <a:endParaRPr lang="en-US" sz="2550" dirty="0"/>
          </a:p>
        </p:txBody>
      </p:sp>
      <p:sp>
        <p:nvSpPr>
          <p:cNvPr id="7" name="Text 5"/>
          <p:cNvSpPr/>
          <p:nvPr/>
        </p:nvSpPr>
        <p:spPr>
          <a:xfrm>
            <a:off x="1464766" y="3387998"/>
            <a:ext cx="869439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C2A24"/>
                </a:solidFill>
                <a:latin typeface="Arial" pitchFamily="34" charset="0"/>
                <a:ea typeface="Arial" pitchFamily="34" charset="-122"/>
                <a:cs typeface="Arial" pitchFamily="34" charset="-120"/>
              </a:rPr>
              <a:t>No accessions inferred by length-matching, pattern-guessing, or elimination.</a:t>
            </a:r>
            <a:endParaRPr lang="en-US" sz="2250" dirty="0"/>
          </a:p>
        </p:txBody>
      </p:sp>
      <p:sp>
        <p:nvSpPr>
          <p:cNvPr id="8" name="Text 6"/>
          <p:cNvSpPr/>
          <p:nvPr/>
        </p:nvSpPr>
        <p:spPr>
          <a:xfrm>
            <a:off x="990600" y="4397648"/>
            <a:ext cx="340816" cy="476250"/>
          </a:xfrm>
          <a:prstGeom prst="rect">
            <a:avLst/>
          </a:prstGeom>
          <a:noFill/>
          <a:ln/>
        </p:spPr>
        <p:txBody>
          <a:bodyPr wrap="square" lIns="25400" tIns="25400" rIns="25400" bIns="25400" rtlCol="0" anchor="t">
            <a:normAutofit/>
          </a:bodyPr>
          <a:lstStyle/>
          <a:p>
            <a:pPr algn="l" indent="0" marL="0">
              <a:buNone/>
            </a:pPr>
            <a:r>
              <a:rPr lang="en-US" sz="2550" dirty="0">
                <a:solidFill>
                  <a:srgbClr val="B23A3A"/>
                </a:solidFill>
                <a:latin typeface="Arial" pitchFamily="34" charset="0"/>
                <a:ea typeface="Arial" pitchFamily="34" charset="-122"/>
                <a:cs typeface="Arial" pitchFamily="34" charset="-120"/>
              </a:rPr>
              <a:t>✗</a:t>
            </a:r>
            <a:endParaRPr lang="en-US" sz="2550" dirty="0"/>
          </a:p>
        </p:txBody>
      </p:sp>
      <p:sp>
        <p:nvSpPr>
          <p:cNvPr id="9" name="Text 7"/>
          <p:cNvSpPr/>
          <p:nvPr/>
        </p:nvSpPr>
        <p:spPr>
          <a:xfrm>
            <a:off x="1464766" y="4397648"/>
            <a:ext cx="869439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C2A24"/>
                </a:solidFill>
                <a:latin typeface="Arial" pitchFamily="34" charset="0"/>
                <a:ea typeface="Arial" pitchFamily="34" charset="-122"/>
                <a:cs typeface="Arial" pitchFamily="34" charset="-120"/>
              </a:rPr>
              <a:t>Engineered / lab-selected mutations never pooled as weed-evolved TSR.</a:t>
            </a:r>
            <a:endParaRPr lang="en-US" sz="2250" dirty="0"/>
          </a:p>
        </p:txBody>
      </p:sp>
      <p:sp>
        <p:nvSpPr>
          <p:cNvPr id="10" name="Text 8"/>
          <p:cNvSpPr/>
          <p:nvPr/>
        </p:nvSpPr>
        <p:spPr>
          <a:xfrm>
            <a:off x="990600" y="5407298"/>
            <a:ext cx="318790" cy="476250"/>
          </a:xfrm>
          <a:prstGeom prst="rect">
            <a:avLst/>
          </a:prstGeom>
          <a:noFill/>
          <a:ln/>
        </p:spPr>
        <p:txBody>
          <a:bodyPr wrap="square" lIns="25400" tIns="25400" rIns="25400" bIns="25400" rtlCol="0" anchor="t">
            <a:normAutofit/>
          </a:bodyPr>
          <a:lstStyle/>
          <a:p>
            <a:pPr algn="l" indent="0" marL="0">
              <a:buNone/>
            </a:pPr>
            <a:r>
              <a:rPr lang="en-US" sz="2550" dirty="0">
                <a:solidFill>
                  <a:srgbClr val="2E5540"/>
                </a:solidFill>
                <a:latin typeface="Arial" pitchFamily="34" charset="0"/>
                <a:ea typeface="Arial" pitchFamily="34" charset="-122"/>
                <a:cs typeface="Arial" pitchFamily="34" charset="-120"/>
              </a:rPr>
              <a:t>✓</a:t>
            </a:r>
            <a:endParaRPr lang="en-US" sz="2550" dirty="0"/>
          </a:p>
        </p:txBody>
      </p:sp>
      <p:sp>
        <p:nvSpPr>
          <p:cNvPr id="11" name="Text 9"/>
          <p:cNvSpPr/>
          <p:nvPr/>
        </p:nvSpPr>
        <p:spPr>
          <a:xfrm>
            <a:off x="1442740" y="5407298"/>
            <a:ext cx="8717081"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C2A24"/>
                </a:solidFill>
                <a:latin typeface="Arial" pitchFamily="34" charset="0"/>
                <a:ea typeface="Arial" pitchFamily="34" charset="-122"/>
                <a:cs typeface="Arial" pitchFamily="34" charset="-120"/>
              </a:rPr>
              <a:t>Repeated rows collapsed to unique structural positions before testing.</a:t>
            </a:r>
            <a:endParaRPr lang="en-US" sz="2250" dirty="0"/>
          </a:p>
        </p:txBody>
      </p:sp>
      <p:sp>
        <p:nvSpPr>
          <p:cNvPr id="12" name="Shape 10"/>
          <p:cNvSpPr/>
          <p:nvPr/>
        </p:nvSpPr>
        <p:spPr>
          <a:xfrm>
            <a:off x="10439326" y="2378348"/>
            <a:ext cx="6858000" cy="7070452"/>
          </a:xfrm>
          <a:prstGeom prst="roundRect">
            <a:avLst>
              <a:gd name="adj" fmla="val 1111"/>
            </a:avLst>
          </a:prstGeom>
          <a:solidFill>
            <a:srgbClr val="14211B"/>
          </a:solidFill>
          <a:ln/>
        </p:spPr>
        <p:txBody>
          <a:bodyPr/>
          <a:p/>
        </p:txBody>
      </p:sp>
      <p:sp>
        <p:nvSpPr>
          <p:cNvPr id="13" name="Text 11"/>
          <p:cNvSpPr/>
          <p:nvPr/>
        </p:nvSpPr>
        <p:spPr>
          <a:xfrm>
            <a:off x="10858426" y="4781104"/>
            <a:ext cx="662178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8FBF9E"/>
                </a:solidFill>
                <a:latin typeface="Georgia" pitchFamily="34" charset="0"/>
                <a:ea typeface="Georgia" pitchFamily="34" charset="-122"/>
                <a:cs typeface="Georgia" pitchFamily="34" charset="-120"/>
              </a:rPr>
              <a:t>17</a:t>
            </a:r>
            <a:endParaRPr lang="en-US" sz="7200" dirty="0"/>
          </a:p>
        </p:txBody>
      </p:sp>
      <p:sp>
        <p:nvSpPr>
          <p:cNvPr id="14" name="Text 12"/>
          <p:cNvSpPr/>
          <p:nvPr/>
        </p:nvSpPr>
        <p:spPr>
          <a:xfrm>
            <a:off x="10858426" y="5886004"/>
            <a:ext cx="6200394" cy="1198066"/>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CBD8CE"/>
                </a:solidFill>
                <a:latin typeface="Arial" pitchFamily="34" charset="0"/>
                <a:ea typeface="Arial" pitchFamily="34" charset="-122"/>
                <a:cs typeface="Arial" pitchFamily="34" charset="-120"/>
              </a:rPr>
              <a:t>accepted mutation rows across PPO (6), ALS/AHAS (5), ACCase (6), EPSPS (2) — every one source-verified.</a:t>
            </a:r>
            <a:endParaRPr lang="en-US" sz="21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7620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CHOICE 2 · STRUCTURES</a:t>
            </a:r>
            <a:endParaRPr lang="en-US" sz="1650" dirty="0"/>
          </a:p>
        </p:txBody>
      </p:sp>
      <p:sp>
        <p:nvSpPr>
          <p:cNvPr id="3" name="Text 1"/>
          <p:cNvSpPr/>
          <p:nvPr/>
        </p:nvSpPr>
        <p:spPr>
          <a:xfrm>
            <a:off x="914400" y="1166813"/>
            <a:ext cx="1810512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spc="-48" kern="0" dirty="0">
                <a:solidFill>
                  <a:srgbClr val="1C2A24"/>
                </a:solidFill>
                <a:latin typeface="Georgia" pitchFamily="34" charset="0"/>
                <a:ea typeface="Georgia" pitchFamily="34" charset="-122"/>
                <a:cs typeface="Georgia" pitchFamily="34" charset="-120"/>
              </a:rPr>
              <a:t>Real structures, chosen for herbicide relevance</a:t>
            </a:r>
            <a:endParaRPr lang="en-US" sz="4800" dirty="0"/>
          </a:p>
        </p:txBody>
      </p:sp>
      <p:sp>
        <p:nvSpPr>
          <p:cNvPr id="4" name="Shape 2"/>
          <p:cNvSpPr/>
          <p:nvPr/>
        </p:nvSpPr>
        <p:spPr>
          <a:xfrm>
            <a:off x="914400" y="2225948"/>
            <a:ext cx="16459200" cy="4243388"/>
          </a:xfrm>
          <a:prstGeom prst="roundRect">
            <a:avLst>
              <a:gd name="adj" fmla="val 1796"/>
            </a:avLst>
          </a:prstGeom>
          <a:solidFill>
            <a:srgbClr val="FFFFFF"/>
          </a:solidFill>
          <a:ln w="9525">
            <a:solidFill>
              <a:srgbClr val="DED9CD"/>
            </a:solidFill>
            <a:prstDash val="solid"/>
          </a:ln>
        </p:spPr>
        <p:txBody>
          <a:bodyPr/>
          <a:p/>
        </p:txBody>
      </p:sp>
      <p:sp>
        <p:nvSpPr>
          <p:cNvPr id="5" name="Shape 3"/>
          <p:cNvSpPr/>
          <p:nvPr/>
        </p:nvSpPr>
        <p:spPr>
          <a:xfrm>
            <a:off x="923925" y="2235473"/>
            <a:ext cx="16440150" cy="652463"/>
          </a:xfrm>
          <a:prstGeom prst="rect">
            <a:avLst/>
          </a:prstGeom>
          <a:solidFill>
            <a:srgbClr val="14211B"/>
          </a:solidFill>
          <a:ln/>
        </p:spPr>
        <p:txBody>
          <a:bodyPr/>
          <a:p/>
        </p:txBody>
      </p:sp>
      <p:sp>
        <p:nvSpPr>
          <p:cNvPr id="6" name="Text 4"/>
          <p:cNvSpPr/>
          <p:nvPr/>
        </p:nvSpPr>
        <p:spPr>
          <a:xfrm>
            <a:off x="1209675" y="2425973"/>
            <a:ext cx="2877822" cy="309562"/>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F4F1EA"/>
                </a:solidFill>
                <a:latin typeface="Courier New" pitchFamily="34" charset="0"/>
                <a:ea typeface="Courier New" pitchFamily="34" charset="-122"/>
                <a:cs typeface="Courier New" pitchFamily="34" charset="-120"/>
              </a:rPr>
              <a:t>FAMILY</a:t>
            </a:r>
            <a:endParaRPr lang="en-US" sz="1650" dirty="0"/>
          </a:p>
        </p:txBody>
      </p:sp>
      <p:sp>
        <p:nvSpPr>
          <p:cNvPr id="7" name="Text 5"/>
          <p:cNvSpPr/>
          <p:nvPr/>
        </p:nvSpPr>
        <p:spPr>
          <a:xfrm>
            <a:off x="4558531" y="2425973"/>
            <a:ext cx="6327297" cy="309562"/>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F4F1EA"/>
                </a:solidFill>
                <a:latin typeface="Courier New" pitchFamily="34" charset="0"/>
                <a:ea typeface="Courier New" pitchFamily="34" charset="-122"/>
                <a:cs typeface="Courier New" pitchFamily="34" charset="-120"/>
              </a:rPr>
              <a:t>STRUCTURE / LIGAND STATE</a:t>
            </a:r>
            <a:endParaRPr lang="en-US" sz="1650" dirty="0"/>
          </a:p>
        </p:txBody>
      </p:sp>
      <p:sp>
        <p:nvSpPr>
          <p:cNvPr id="8" name="Text 6"/>
          <p:cNvSpPr/>
          <p:nvPr/>
        </p:nvSpPr>
        <p:spPr>
          <a:xfrm>
            <a:off x="11256392" y="2425973"/>
            <a:ext cx="3191459" cy="309562"/>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F4F1EA"/>
                </a:solidFill>
                <a:latin typeface="Courier New" pitchFamily="34" charset="0"/>
                <a:ea typeface="Courier New" pitchFamily="34" charset="-122"/>
                <a:cs typeface="Courier New" pitchFamily="34" charset="-120"/>
              </a:rPr>
              <a:t>SPECIES</a:t>
            </a:r>
            <a:endParaRPr lang="en-US" sz="1650" dirty="0"/>
          </a:p>
        </p:txBody>
      </p:sp>
      <p:sp>
        <p:nvSpPr>
          <p:cNvPr id="9" name="Text 7"/>
          <p:cNvSpPr/>
          <p:nvPr/>
        </p:nvSpPr>
        <p:spPr>
          <a:xfrm>
            <a:off x="14909750" y="2425973"/>
            <a:ext cx="2250777" cy="309562"/>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F4F1EA"/>
                </a:solidFill>
                <a:latin typeface="Courier New" pitchFamily="34" charset="0"/>
                <a:ea typeface="Courier New" pitchFamily="34" charset="-122"/>
                <a:cs typeface="Courier New" pitchFamily="34" charset="-120"/>
              </a:rPr>
              <a:t>3D MODEL</a:t>
            </a:r>
            <a:endParaRPr lang="en-US" sz="1650" dirty="0"/>
          </a:p>
        </p:txBody>
      </p:sp>
      <p:sp>
        <p:nvSpPr>
          <p:cNvPr id="10" name="Shape 8"/>
          <p:cNvSpPr/>
          <p:nvPr/>
        </p:nvSpPr>
        <p:spPr>
          <a:xfrm>
            <a:off x="923925" y="3773760"/>
            <a:ext cx="16440150" cy="9525"/>
          </a:xfrm>
          <a:prstGeom prst="rect">
            <a:avLst/>
          </a:prstGeom>
          <a:solidFill>
            <a:srgbClr val="EAE5D9"/>
          </a:solidFill>
          <a:ln/>
        </p:spPr>
        <p:txBody>
          <a:bodyPr/>
          <a:p/>
        </p:txBody>
      </p:sp>
      <p:sp>
        <p:nvSpPr>
          <p:cNvPr id="11" name="Text 9"/>
          <p:cNvSpPr/>
          <p:nvPr/>
        </p:nvSpPr>
        <p:spPr>
          <a:xfrm>
            <a:off x="1209675" y="3097485"/>
            <a:ext cx="2877822" cy="504825"/>
          </a:xfrm>
          <a:prstGeom prst="rect">
            <a:avLst/>
          </a:prstGeom>
          <a:noFill/>
          <a:ln/>
        </p:spPr>
        <p:txBody>
          <a:bodyPr wrap="square" lIns="25400" tIns="25400" rIns="25400" bIns="25400" rtlCol="0" anchor="t">
            <a:normAutofit/>
          </a:bodyPr>
          <a:lstStyle/>
          <a:p>
            <a:pPr algn="l" indent="0" marL="0">
              <a:buNone/>
            </a:pPr>
            <a:r>
              <a:rPr lang="en-US" sz="2400" dirty="0">
                <a:solidFill>
                  <a:srgbClr val="1C2A24"/>
                </a:solidFill>
                <a:latin typeface="Georgia" pitchFamily="34" charset="0"/>
                <a:ea typeface="Georgia" pitchFamily="34" charset="-122"/>
                <a:cs typeface="Georgia" pitchFamily="34" charset="-120"/>
              </a:rPr>
              <a:t>PPO</a:t>
            </a:r>
            <a:endParaRPr lang="en-US" sz="2400" dirty="0"/>
          </a:p>
        </p:txBody>
      </p:sp>
      <p:sp>
        <p:nvSpPr>
          <p:cNvPr id="12" name="Text 10"/>
          <p:cNvSpPr/>
          <p:nvPr/>
        </p:nvSpPr>
        <p:spPr>
          <a:xfrm>
            <a:off x="4558531" y="3097485"/>
            <a:ext cx="6327297" cy="504825"/>
          </a:xfrm>
          <a:prstGeom prst="rect">
            <a:avLst/>
          </a:prstGeom>
          <a:noFill/>
          <a:ln/>
        </p:spPr>
        <p:txBody>
          <a:bodyPr wrap="square" lIns="25400" tIns="25400" rIns="25400" bIns="25400" rtlCol="0" anchor="t">
            <a:normAutofit/>
          </a:bodyPr>
          <a:lstStyle/>
          <a:p>
            <a:pPr algn="l" indent="0" marL="0">
              <a:buNone/>
            </a:pPr>
            <a:r>
              <a:rPr lang="en-US" sz="2025" dirty="0">
                <a:solidFill>
                  <a:srgbClr val="3A443E"/>
                </a:solidFill>
                <a:latin typeface="Arial" pitchFamily="34" charset="0"/>
                <a:ea typeface="Arial" pitchFamily="34" charset="-122"/>
                <a:cs typeface="Arial" pitchFamily="34" charset="-120"/>
              </a:rPr>
              <a:t>Mitochondrial PPO2</a:t>
            </a:r>
            <a:endParaRPr lang="en-US" sz="2025" dirty="0"/>
          </a:p>
        </p:txBody>
      </p:sp>
      <p:sp>
        <p:nvSpPr>
          <p:cNvPr id="13" name="Text 11"/>
          <p:cNvSpPr/>
          <p:nvPr/>
        </p:nvSpPr>
        <p:spPr>
          <a:xfrm>
            <a:off x="11256392" y="3097485"/>
            <a:ext cx="3191459" cy="504825"/>
          </a:xfrm>
          <a:prstGeom prst="rect">
            <a:avLst/>
          </a:prstGeom>
          <a:noFill/>
          <a:ln/>
        </p:spPr>
        <p:txBody>
          <a:bodyPr wrap="square" lIns="25400" tIns="25400" rIns="25400" bIns="25400" rtlCol="0" anchor="t">
            <a:normAutofit/>
          </a:bodyPr>
          <a:lstStyle/>
          <a:p>
            <a:pPr algn="l" indent="0" marL="0">
              <a:buNone/>
            </a:pPr>
            <a:r>
              <a:rPr lang="en-US" sz="2025" dirty="0">
                <a:solidFill>
                  <a:srgbClr val="5A6660"/>
                </a:solidFill>
                <a:latin typeface="Arial" pitchFamily="34" charset="0"/>
                <a:ea typeface="Arial" pitchFamily="34" charset="-122"/>
                <a:cs typeface="Arial" pitchFamily="34" charset="-120"/>
              </a:rPr>
              <a:t>Tobacco</a:t>
            </a:r>
            <a:endParaRPr lang="en-US" sz="2025" dirty="0"/>
          </a:p>
        </p:txBody>
      </p:sp>
      <p:sp>
        <p:nvSpPr>
          <p:cNvPr id="14" name="Shape 12"/>
          <p:cNvSpPr/>
          <p:nvPr/>
        </p:nvSpPr>
        <p:spPr>
          <a:xfrm>
            <a:off x="14909750" y="3445148"/>
            <a:ext cx="959793" cy="9525"/>
          </a:xfrm>
          <a:prstGeom prst="rect">
            <a:avLst/>
          </a:prstGeom>
          <a:solidFill>
            <a:srgbClr val="2F6FBB">
              <a:alpha val="35000"/>
            </a:srgbClr>
          </a:solidFill>
          <a:ln/>
        </p:spPr>
        <p:txBody>
          <a:bodyPr/>
          <a:p/>
        </p:txBody>
      </p:sp>
      <p:sp>
        <p:nvSpPr>
          <p:cNvPr id="15" name="Text 13">
            <a:hlinkClick r:id="rId1" tooltip=""/>
          </p:cNvPr>
          <p:cNvSpPr/>
          <p:nvPr/>
        </p:nvSpPr>
        <p:spPr>
          <a:xfrm>
            <a:off x="14909750" y="3111773"/>
            <a:ext cx="1035993" cy="371475"/>
          </a:xfrm>
          <a:prstGeom prst="rect">
            <a:avLst/>
          </a:prstGeom>
          <a:noFill/>
          <a:ln/>
        </p:spPr>
        <p:txBody>
          <a:bodyPr wrap="square" lIns="25400" tIns="25400" rIns="25400" bIns="25400" rtlCol="0" anchor="t">
            <a:normAutofit/>
          </a:bodyPr>
          <a:lstStyle/>
          <a:p>
            <a:pPr algn="l" indent="0" marL="0">
              <a:buNone/>
            </a:pPr>
            <a:r>
              <a:rPr lang="en-US" sz="2025" u="sng" dirty="0">
                <a:solidFill>
                  <a:srgbClr val="2F6FBB"/>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1SEZ ↗</a:t>
            </a:r>
            <a:endParaRPr lang="en-US" sz="2025" dirty="0"/>
          </a:p>
        </p:txBody>
      </p:sp>
      <p:sp>
        <p:nvSpPr>
          <p:cNvPr id="16" name="Shape 14"/>
          <p:cNvSpPr/>
          <p:nvPr/>
        </p:nvSpPr>
        <p:spPr>
          <a:xfrm>
            <a:off x="923925" y="3783285"/>
            <a:ext cx="16440150" cy="895350"/>
          </a:xfrm>
          <a:prstGeom prst="rect">
            <a:avLst/>
          </a:prstGeom>
          <a:solidFill>
            <a:srgbClr val="FBFAF6"/>
          </a:solidFill>
          <a:ln/>
        </p:spPr>
        <p:txBody>
          <a:bodyPr/>
          <a:p/>
        </p:txBody>
      </p:sp>
      <p:sp>
        <p:nvSpPr>
          <p:cNvPr id="17" name="Shape 15"/>
          <p:cNvSpPr/>
          <p:nvPr/>
        </p:nvSpPr>
        <p:spPr>
          <a:xfrm>
            <a:off x="923925" y="4669110"/>
            <a:ext cx="16440150" cy="9525"/>
          </a:xfrm>
          <a:prstGeom prst="rect">
            <a:avLst/>
          </a:prstGeom>
          <a:solidFill>
            <a:srgbClr val="EAE5D9"/>
          </a:solidFill>
          <a:ln/>
        </p:spPr>
        <p:txBody>
          <a:bodyPr/>
          <a:p/>
        </p:txBody>
      </p:sp>
      <p:sp>
        <p:nvSpPr>
          <p:cNvPr id="18" name="Text 16"/>
          <p:cNvSpPr/>
          <p:nvPr/>
        </p:nvSpPr>
        <p:spPr>
          <a:xfrm>
            <a:off x="1209675" y="3992835"/>
            <a:ext cx="2877822" cy="504825"/>
          </a:xfrm>
          <a:prstGeom prst="rect">
            <a:avLst/>
          </a:prstGeom>
          <a:noFill/>
          <a:ln/>
        </p:spPr>
        <p:txBody>
          <a:bodyPr wrap="square" lIns="25400" tIns="25400" rIns="25400" bIns="25400" rtlCol="0" anchor="t">
            <a:normAutofit/>
          </a:bodyPr>
          <a:lstStyle/>
          <a:p>
            <a:pPr algn="l" indent="0" marL="0">
              <a:buNone/>
            </a:pPr>
            <a:r>
              <a:rPr lang="en-US" sz="2400" dirty="0">
                <a:solidFill>
                  <a:srgbClr val="1C2A24"/>
                </a:solidFill>
                <a:latin typeface="Georgia" pitchFamily="34" charset="0"/>
                <a:ea typeface="Georgia" pitchFamily="34" charset="-122"/>
                <a:cs typeface="Georgia" pitchFamily="34" charset="-120"/>
              </a:rPr>
              <a:t>ALS/AHAS</a:t>
            </a:r>
            <a:endParaRPr lang="en-US" sz="2400" dirty="0"/>
          </a:p>
        </p:txBody>
      </p:sp>
      <p:sp>
        <p:nvSpPr>
          <p:cNvPr id="19" name="Text 17"/>
          <p:cNvSpPr/>
          <p:nvPr/>
        </p:nvSpPr>
        <p:spPr>
          <a:xfrm>
            <a:off x="4558531" y="3992835"/>
            <a:ext cx="6327297" cy="504825"/>
          </a:xfrm>
          <a:prstGeom prst="rect">
            <a:avLst/>
          </a:prstGeom>
          <a:noFill/>
          <a:ln/>
        </p:spPr>
        <p:txBody>
          <a:bodyPr wrap="square" lIns="25400" tIns="25400" rIns="25400" bIns="25400" rtlCol="0" anchor="t">
            <a:normAutofit/>
          </a:bodyPr>
          <a:lstStyle/>
          <a:p>
            <a:pPr algn="l" indent="0" marL="0">
              <a:buNone/>
            </a:pPr>
            <a:r>
              <a:rPr lang="en-US" sz="2025" dirty="0">
                <a:solidFill>
                  <a:srgbClr val="3A443E"/>
                </a:solidFill>
                <a:latin typeface="Arial" pitchFamily="34" charset="0"/>
                <a:ea typeface="Arial" pitchFamily="34" charset="-122"/>
                <a:cs typeface="Arial" pitchFamily="34" charset="-120"/>
              </a:rPr>
              <a:t>Herbicide-bound, interface-aware core</a:t>
            </a:r>
            <a:endParaRPr lang="en-US" sz="2025" dirty="0"/>
          </a:p>
        </p:txBody>
      </p:sp>
      <p:sp>
        <p:nvSpPr>
          <p:cNvPr id="20" name="Text 18"/>
          <p:cNvSpPr/>
          <p:nvPr/>
        </p:nvSpPr>
        <p:spPr>
          <a:xfrm>
            <a:off x="11256392" y="3992835"/>
            <a:ext cx="3191459" cy="504825"/>
          </a:xfrm>
          <a:prstGeom prst="rect">
            <a:avLst/>
          </a:prstGeom>
          <a:noFill/>
          <a:ln/>
        </p:spPr>
        <p:txBody>
          <a:bodyPr wrap="square" lIns="25400" tIns="25400" rIns="25400" bIns="25400" rtlCol="0" anchor="t">
            <a:normAutofit/>
          </a:bodyPr>
          <a:lstStyle/>
          <a:p>
            <a:pPr algn="l" indent="0" marL="0">
              <a:buNone/>
            </a:pPr>
            <a:r>
              <a:rPr lang="en-US" sz="2025" dirty="0">
                <a:solidFill>
                  <a:srgbClr val="5A6660"/>
                </a:solidFill>
                <a:latin typeface="Arial" pitchFamily="34" charset="0"/>
                <a:ea typeface="Arial" pitchFamily="34" charset="-122"/>
                <a:cs typeface="Arial" pitchFamily="34" charset="-120"/>
              </a:rPr>
              <a:t>Arabidopsis</a:t>
            </a:r>
            <a:endParaRPr lang="en-US" sz="2025" dirty="0"/>
          </a:p>
        </p:txBody>
      </p:sp>
      <p:sp>
        <p:nvSpPr>
          <p:cNvPr id="21" name="Shape 19"/>
          <p:cNvSpPr/>
          <p:nvPr/>
        </p:nvSpPr>
        <p:spPr>
          <a:xfrm>
            <a:off x="14909750" y="4340498"/>
            <a:ext cx="959793" cy="9525"/>
          </a:xfrm>
          <a:prstGeom prst="rect">
            <a:avLst/>
          </a:prstGeom>
          <a:solidFill>
            <a:srgbClr val="2F6FBB">
              <a:alpha val="35000"/>
            </a:srgbClr>
          </a:solidFill>
          <a:ln/>
        </p:spPr>
        <p:txBody>
          <a:bodyPr/>
          <a:p/>
        </p:txBody>
      </p:sp>
      <p:sp>
        <p:nvSpPr>
          <p:cNvPr id="22" name="Text 20">
            <a:hlinkClick r:id="rId2" tooltip=""/>
          </p:cNvPr>
          <p:cNvSpPr/>
          <p:nvPr/>
        </p:nvSpPr>
        <p:spPr>
          <a:xfrm>
            <a:off x="14909750" y="4007123"/>
            <a:ext cx="1035993" cy="371475"/>
          </a:xfrm>
          <a:prstGeom prst="rect">
            <a:avLst/>
          </a:prstGeom>
          <a:noFill/>
          <a:ln/>
        </p:spPr>
        <p:txBody>
          <a:bodyPr wrap="square" lIns="25400" tIns="25400" rIns="25400" bIns="25400" rtlCol="0" anchor="t">
            <a:normAutofit/>
          </a:bodyPr>
          <a:lstStyle/>
          <a:p>
            <a:pPr algn="l" indent="0" marL="0">
              <a:buNone/>
            </a:pPr>
            <a:r>
              <a:rPr lang="en-US" sz="2025" u="sng" dirty="0">
                <a:solidFill>
                  <a:srgbClr val="2F6FBB"/>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1Z8N ↗</a:t>
            </a:r>
            <a:endParaRPr lang="en-US" sz="2025" dirty="0"/>
          </a:p>
        </p:txBody>
      </p:sp>
      <p:sp>
        <p:nvSpPr>
          <p:cNvPr id="23" name="Shape 21"/>
          <p:cNvSpPr/>
          <p:nvPr/>
        </p:nvSpPr>
        <p:spPr>
          <a:xfrm>
            <a:off x="923925" y="5564460"/>
            <a:ext cx="16440150" cy="9525"/>
          </a:xfrm>
          <a:prstGeom prst="rect">
            <a:avLst/>
          </a:prstGeom>
          <a:solidFill>
            <a:srgbClr val="EAE5D9"/>
          </a:solidFill>
          <a:ln/>
        </p:spPr>
        <p:txBody>
          <a:bodyPr/>
          <a:p/>
        </p:txBody>
      </p:sp>
      <p:sp>
        <p:nvSpPr>
          <p:cNvPr id="24" name="Text 22"/>
          <p:cNvSpPr/>
          <p:nvPr/>
        </p:nvSpPr>
        <p:spPr>
          <a:xfrm>
            <a:off x="1209675" y="4888185"/>
            <a:ext cx="2877822" cy="504825"/>
          </a:xfrm>
          <a:prstGeom prst="rect">
            <a:avLst/>
          </a:prstGeom>
          <a:noFill/>
          <a:ln/>
        </p:spPr>
        <p:txBody>
          <a:bodyPr wrap="square" lIns="25400" tIns="25400" rIns="25400" bIns="25400" rtlCol="0" anchor="t">
            <a:normAutofit/>
          </a:bodyPr>
          <a:lstStyle/>
          <a:p>
            <a:pPr algn="l" indent="0" marL="0">
              <a:buNone/>
            </a:pPr>
            <a:r>
              <a:rPr lang="en-US" sz="2400" dirty="0">
                <a:solidFill>
                  <a:srgbClr val="1C2A24"/>
                </a:solidFill>
                <a:latin typeface="Georgia" pitchFamily="34" charset="0"/>
                <a:ea typeface="Georgia" pitchFamily="34" charset="-122"/>
                <a:cs typeface="Georgia" pitchFamily="34" charset="-120"/>
              </a:rPr>
              <a:t>EPSPS</a:t>
            </a:r>
            <a:endParaRPr lang="en-US" sz="2400" dirty="0"/>
          </a:p>
        </p:txBody>
      </p:sp>
      <p:sp>
        <p:nvSpPr>
          <p:cNvPr id="25" name="Text 23"/>
          <p:cNvSpPr/>
          <p:nvPr/>
        </p:nvSpPr>
        <p:spPr>
          <a:xfrm>
            <a:off x="4558531" y="4888185"/>
            <a:ext cx="6327297" cy="504825"/>
          </a:xfrm>
          <a:prstGeom prst="rect">
            <a:avLst/>
          </a:prstGeom>
          <a:noFill/>
          <a:ln/>
        </p:spPr>
        <p:txBody>
          <a:bodyPr wrap="square" lIns="25400" tIns="25400" rIns="25400" bIns="25400" rtlCol="0" anchor="t">
            <a:normAutofit/>
          </a:bodyPr>
          <a:lstStyle/>
          <a:p>
            <a:pPr algn="l" indent="0" marL="0">
              <a:buNone/>
            </a:pPr>
            <a:r>
              <a:rPr lang="en-US" sz="2025" dirty="0">
                <a:solidFill>
                  <a:srgbClr val="3A443E"/>
                </a:solidFill>
                <a:latin typeface="Arial" pitchFamily="34" charset="0"/>
                <a:ea typeface="Arial" pitchFamily="34" charset="-122"/>
                <a:cs typeface="Arial" pitchFamily="34" charset="-120"/>
              </a:rPr>
              <a:t>+ glyphosate + shikimate-3-P</a:t>
            </a:r>
            <a:endParaRPr lang="en-US" sz="2025" dirty="0"/>
          </a:p>
        </p:txBody>
      </p:sp>
      <p:sp>
        <p:nvSpPr>
          <p:cNvPr id="26" name="Text 24"/>
          <p:cNvSpPr/>
          <p:nvPr/>
        </p:nvSpPr>
        <p:spPr>
          <a:xfrm>
            <a:off x="11256392" y="4888185"/>
            <a:ext cx="3191459" cy="504825"/>
          </a:xfrm>
          <a:prstGeom prst="rect">
            <a:avLst/>
          </a:prstGeom>
          <a:noFill/>
          <a:ln/>
        </p:spPr>
        <p:txBody>
          <a:bodyPr wrap="square" lIns="25400" tIns="25400" rIns="25400" bIns="25400" rtlCol="0" anchor="t">
            <a:normAutofit/>
          </a:bodyPr>
          <a:lstStyle/>
          <a:p>
            <a:pPr algn="l" indent="0" marL="0">
              <a:buNone/>
            </a:pPr>
            <a:r>
              <a:rPr lang="en-US" sz="2025" dirty="0">
                <a:solidFill>
                  <a:srgbClr val="5A6660"/>
                </a:solidFill>
                <a:latin typeface="Arial" pitchFamily="34" charset="0"/>
                <a:ea typeface="Arial" pitchFamily="34" charset="-122"/>
                <a:cs typeface="Arial" pitchFamily="34" charset="-120"/>
              </a:rPr>
              <a:t>Maize</a:t>
            </a:r>
            <a:endParaRPr lang="en-US" sz="2025" dirty="0"/>
          </a:p>
        </p:txBody>
      </p:sp>
      <p:sp>
        <p:nvSpPr>
          <p:cNvPr id="27" name="Shape 25"/>
          <p:cNvSpPr/>
          <p:nvPr/>
        </p:nvSpPr>
        <p:spPr>
          <a:xfrm>
            <a:off x="14909750" y="5235848"/>
            <a:ext cx="959793" cy="9525"/>
          </a:xfrm>
          <a:prstGeom prst="rect">
            <a:avLst/>
          </a:prstGeom>
          <a:solidFill>
            <a:srgbClr val="2F6FBB">
              <a:alpha val="35000"/>
            </a:srgbClr>
          </a:solidFill>
          <a:ln/>
        </p:spPr>
        <p:txBody>
          <a:bodyPr/>
          <a:p/>
        </p:txBody>
      </p:sp>
      <p:sp>
        <p:nvSpPr>
          <p:cNvPr id="28" name="Text 26">
            <a:hlinkClick r:id="rId3" tooltip=""/>
          </p:cNvPr>
          <p:cNvSpPr/>
          <p:nvPr/>
        </p:nvSpPr>
        <p:spPr>
          <a:xfrm>
            <a:off x="14909750" y="4902473"/>
            <a:ext cx="1035993" cy="371475"/>
          </a:xfrm>
          <a:prstGeom prst="rect">
            <a:avLst/>
          </a:prstGeom>
          <a:noFill/>
          <a:ln/>
        </p:spPr>
        <p:txBody>
          <a:bodyPr wrap="square" lIns="25400" tIns="25400" rIns="25400" bIns="25400" rtlCol="0" anchor="t">
            <a:normAutofit/>
          </a:bodyPr>
          <a:lstStyle/>
          <a:p>
            <a:pPr algn="l" indent="0" marL="0">
              <a:buNone/>
            </a:pPr>
            <a:r>
              <a:rPr lang="en-US" sz="2025" u="sng" dirty="0">
                <a:solidFill>
                  <a:srgbClr val="2F6FBB"/>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8UMJ ↗</a:t>
            </a:r>
            <a:endParaRPr lang="en-US" sz="2025" dirty="0"/>
          </a:p>
        </p:txBody>
      </p:sp>
      <p:sp>
        <p:nvSpPr>
          <p:cNvPr id="29" name="Shape 27"/>
          <p:cNvSpPr/>
          <p:nvPr/>
        </p:nvSpPr>
        <p:spPr>
          <a:xfrm>
            <a:off x="923925" y="5573985"/>
            <a:ext cx="16440150" cy="885825"/>
          </a:xfrm>
          <a:prstGeom prst="rect">
            <a:avLst/>
          </a:prstGeom>
          <a:solidFill>
            <a:srgbClr val="FBFAF6"/>
          </a:solidFill>
          <a:ln/>
        </p:spPr>
        <p:txBody>
          <a:bodyPr/>
          <a:p/>
        </p:txBody>
      </p:sp>
      <p:sp>
        <p:nvSpPr>
          <p:cNvPr id="30" name="Text 28"/>
          <p:cNvSpPr/>
          <p:nvPr/>
        </p:nvSpPr>
        <p:spPr>
          <a:xfrm>
            <a:off x="1209675" y="5783535"/>
            <a:ext cx="2877822" cy="504825"/>
          </a:xfrm>
          <a:prstGeom prst="rect">
            <a:avLst/>
          </a:prstGeom>
          <a:noFill/>
          <a:ln/>
        </p:spPr>
        <p:txBody>
          <a:bodyPr wrap="square" lIns="25400" tIns="25400" rIns="25400" bIns="25400" rtlCol="0" anchor="t">
            <a:normAutofit/>
          </a:bodyPr>
          <a:lstStyle/>
          <a:p>
            <a:pPr algn="l" indent="0" marL="0">
              <a:buNone/>
            </a:pPr>
            <a:r>
              <a:rPr lang="en-US" sz="2400" dirty="0">
                <a:solidFill>
                  <a:srgbClr val="1C2A24"/>
                </a:solidFill>
                <a:latin typeface="Georgia" pitchFamily="34" charset="0"/>
                <a:ea typeface="Georgia" pitchFamily="34" charset="-122"/>
                <a:cs typeface="Georgia" pitchFamily="34" charset="-120"/>
              </a:rPr>
              <a:t>ACCase</a:t>
            </a:r>
            <a:endParaRPr lang="en-US" sz="2400" dirty="0"/>
          </a:p>
        </p:txBody>
      </p:sp>
      <p:sp>
        <p:nvSpPr>
          <p:cNvPr id="31" name="Text 29"/>
          <p:cNvSpPr/>
          <p:nvPr/>
        </p:nvSpPr>
        <p:spPr>
          <a:xfrm>
            <a:off x="4558531" y="5783535"/>
            <a:ext cx="6327297" cy="504825"/>
          </a:xfrm>
          <a:prstGeom prst="rect">
            <a:avLst/>
          </a:prstGeom>
          <a:noFill/>
          <a:ln/>
        </p:spPr>
        <p:txBody>
          <a:bodyPr wrap="square" lIns="25400" tIns="25400" rIns="25400" bIns="25400" rtlCol="0" anchor="t">
            <a:normAutofit/>
          </a:bodyPr>
          <a:lstStyle/>
          <a:p>
            <a:pPr algn="l" indent="0" marL="0">
              <a:buNone/>
            </a:pPr>
            <a:r>
              <a:rPr lang="en-US" sz="2025" dirty="0">
                <a:solidFill>
                  <a:srgbClr val="3A443E"/>
                </a:solidFill>
                <a:latin typeface="Arial" pitchFamily="34" charset="0"/>
                <a:ea typeface="Arial" pitchFamily="34" charset="-122"/>
                <a:cs typeface="Arial" pitchFamily="34" charset="-120"/>
              </a:rPr>
              <a:t>CT-domain homodimer </a:t>
            </a:r>
            <a:pPr algn="l" indent="0" marL="0">
              <a:buNone/>
            </a:pPr>
            <a:r>
              <a:rPr lang="en-US" sz="1575" dirty="0">
                <a:solidFill>
                  <a:srgbClr val="C28B2C"/>
                </a:solidFill>
                <a:latin typeface="Courier New" pitchFamily="34" charset="0"/>
                <a:ea typeface="Courier New" pitchFamily="34" charset="-122"/>
                <a:cs typeface="Courier New" pitchFamily="34" charset="-120"/>
              </a:rPr>
              <a:t>SWISS-MODEL on 1UYS</a:t>
            </a:r>
            <a:endParaRPr lang="en-US" sz="2025" dirty="0"/>
          </a:p>
        </p:txBody>
      </p:sp>
      <p:sp>
        <p:nvSpPr>
          <p:cNvPr id="32" name="Text 30"/>
          <p:cNvSpPr/>
          <p:nvPr/>
        </p:nvSpPr>
        <p:spPr>
          <a:xfrm>
            <a:off x="11256392" y="5783535"/>
            <a:ext cx="3191459" cy="504825"/>
          </a:xfrm>
          <a:prstGeom prst="rect">
            <a:avLst/>
          </a:prstGeom>
          <a:noFill/>
          <a:ln/>
        </p:spPr>
        <p:txBody>
          <a:bodyPr wrap="square" lIns="25400" tIns="25400" rIns="25400" bIns="25400" rtlCol="0" anchor="t">
            <a:normAutofit/>
          </a:bodyPr>
          <a:lstStyle/>
          <a:p>
            <a:pPr algn="l" indent="0" marL="0">
              <a:buNone/>
            </a:pPr>
            <a:r>
              <a:rPr lang="en-US" sz="2025" dirty="0">
                <a:solidFill>
                  <a:srgbClr val="5A6660"/>
                </a:solidFill>
                <a:latin typeface="Arial" pitchFamily="34" charset="0"/>
                <a:ea typeface="Arial" pitchFamily="34" charset="-122"/>
                <a:cs typeface="Arial" pitchFamily="34" charset="-120"/>
              </a:rPr>
              <a:t>Black-grass model</a:t>
            </a:r>
            <a:endParaRPr lang="en-US" sz="2025" dirty="0"/>
          </a:p>
        </p:txBody>
      </p:sp>
      <p:sp>
        <p:nvSpPr>
          <p:cNvPr id="33" name="Shape 31"/>
          <p:cNvSpPr/>
          <p:nvPr/>
        </p:nvSpPr>
        <p:spPr>
          <a:xfrm>
            <a:off x="14909750" y="6131198"/>
            <a:ext cx="959793" cy="9525"/>
          </a:xfrm>
          <a:prstGeom prst="rect">
            <a:avLst/>
          </a:prstGeom>
          <a:solidFill>
            <a:srgbClr val="2F6FBB">
              <a:alpha val="35000"/>
            </a:srgbClr>
          </a:solidFill>
          <a:ln/>
        </p:spPr>
        <p:txBody>
          <a:bodyPr/>
          <a:p/>
        </p:txBody>
      </p:sp>
      <p:sp>
        <p:nvSpPr>
          <p:cNvPr id="34" name="Text 32">
            <a:hlinkClick r:id="rId4" tooltip=""/>
          </p:cNvPr>
          <p:cNvSpPr/>
          <p:nvPr/>
        </p:nvSpPr>
        <p:spPr>
          <a:xfrm>
            <a:off x="14909750" y="5797823"/>
            <a:ext cx="1035993" cy="371475"/>
          </a:xfrm>
          <a:prstGeom prst="rect">
            <a:avLst/>
          </a:prstGeom>
          <a:noFill/>
          <a:ln/>
        </p:spPr>
        <p:txBody>
          <a:bodyPr wrap="square" lIns="25400" tIns="25400" rIns="25400" bIns="25400" rtlCol="0" anchor="t">
            <a:normAutofit/>
          </a:bodyPr>
          <a:lstStyle/>
          <a:p>
            <a:pPr algn="l" indent="0" marL="0">
              <a:buNone/>
            </a:pPr>
            <a:r>
              <a:rPr lang="en-US" sz="2025" u="sng" dirty="0">
                <a:solidFill>
                  <a:srgbClr val="2F6FBB"/>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1UYS ↗</a:t>
            </a:r>
            <a:endParaRPr lang="en-US" sz="2025" dirty="0"/>
          </a:p>
        </p:txBody>
      </p:sp>
      <p:sp>
        <p:nvSpPr>
          <p:cNvPr id="35" name="Text 33"/>
          <p:cNvSpPr/>
          <p:nvPr/>
        </p:nvSpPr>
        <p:spPr>
          <a:xfrm>
            <a:off x="914400" y="6774135"/>
            <a:ext cx="14716125" cy="765721"/>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1C2A24"/>
                </a:solidFill>
                <a:latin typeface="Arial" pitchFamily="34" charset="0"/>
                <a:ea typeface="Arial" pitchFamily="34" charset="-122"/>
                <a:cs typeface="Arial" pitchFamily="34" charset="-120"/>
              </a:rPr>
              <a:t>Honest caveat: </a:t>
            </a:r>
            <a:pPr algn="l" indent="0" marL="0">
              <a:lnSpc>
                <a:spcPct val="145000"/>
              </a:lnSpc>
              <a:buNone/>
            </a:pPr>
            <a:r>
              <a:rPr lang="en-US" sz="1950" dirty="0">
                <a:solidFill>
                  <a:srgbClr val="5A6660"/>
                </a:solidFill>
                <a:latin typeface="Arial" pitchFamily="34" charset="0"/>
                <a:ea typeface="Arial" pitchFamily="34" charset="-122"/>
                <a:cs typeface="Arial" pitchFamily="34" charset="-120"/>
              </a:rPr>
              <a:t>no experimentally solved weed ACCase complex exists — its metrics are homology-model-derived (GMQE 0.76), flagged everywhere they appear. Homology built via </a:t>
            </a:r>
            <a:pPr algn="l" indent="0" marL="0">
              <a:lnSpc>
                <a:spcPct val="145000"/>
              </a:lnSpc>
              <a:buNone/>
            </a:pPr>
            <a:r>
              <a:rPr lang="en-US" sz="1950" u="sng" dirty="0">
                <a:solidFill>
                  <a:srgbClr val="2F6FBB"/>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SWISS-MODEL ↗</a:t>
            </a:r>
            <a:pPr algn="l" indent="0" marL="0">
              <a:lnSpc>
                <a:spcPct val="145000"/>
              </a:lnSpc>
              <a:buNone/>
            </a:pPr>
            <a:r>
              <a:rPr lang="en-US" sz="1950" dirty="0">
                <a:solidFill>
                  <a:srgbClr val="5A6660"/>
                </a:solidFill>
                <a:latin typeface="Arial" pitchFamily="34" charset="0"/>
                <a:ea typeface="Arial" pitchFamily="34" charset="-122"/>
                <a:cs typeface="Arial" pitchFamily="34" charset="-120"/>
              </a:rPr>
              <a:t>.</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1B"/>
        </a:solidFill>
      </p:bgPr>
    </p:bg>
    <p:spTree>
      <p:nvGrpSpPr>
        <p:cNvPr id="1" name=""/>
        <p:cNvGrpSpPr/>
        <p:nvPr/>
      </p:nvGrpSpPr>
      <p:grpSpPr>
        <a:xfrm>
          <a:off x="0" y="0"/>
          <a:ext cx="0" cy="0"/>
          <a:chOff x="0" y="0"/>
          <a:chExt cx="0" cy="0"/>
        </a:xfrm>
      </p:grpSpPr>
      <p:sp>
        <p:nvSpPr>
          <p:cNvPr id="2" name="Text 0"/>
          <p:cNvSpPr/>
          <p:nvPr/>
        </p:nvSpPr>
        <p:spPr>
          <a:xfrm>
            <a:off x="990600" y="2311003"/>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8FB7A0"/>
                </a:solidFill>
                <a:latin typeface="Courier New" pitchFamily="34" charset="0"/>
                <a:ea typeface="Courier New" pitchFamily="34" charset="-122"/>
                <a:cs typeface="Courier New" pitchFamily="34" charset="-120"/>
              </a:rPr>
              <a:t>A RIGOR UPGRADE · REVIEWER-DRIVEN</a:t>
            </a:r>
            <a:endParaRPr lang="en-US" sz="1650" dirty="0"/>
          </a:p>
        </p:txBody>
      </p:sp>
      <p:sp>
        <p:nvSpPr>
          <p:cNvPr id="3" name="Text 1"/>
          <p:cNvSpPr/>
          <p:nvPr/>
        </p:nvSpPr>
        <p:spPr>
          <a:xfrm>
            <a:off x="990600" y="2772966"/>
            <a:ext cx="14519910" cy="1395859"/>
          </a:xfrm>
          <a:prstGeom prst="rect">
            <a:avLst/>
          </a:prstGeom>
          <a:noFill/>
          <a:ln/>
        </p:spPr>
        <p:txBody>
          <a:bodyPr wrap="square" lIns="25400" tIns="25400" rIns="25400" bIns="25400" rtlCol="0" anchor="t">
            <a:normAutofit/>
          </a:bodyPr>
          <a:lstStyle/>
          <a:p>
            <a:pPr algn="l" indent="0" marL="0">
              <a:lnSpc>
                <a:spcPct val="108000"/>
              </a:lnSpc>
              <a:buNone/>
            </a:pPr>
            <a:r>
              <a:rPr lang="en-US" sz="4950" spc="-49" kern="0" dirty="0">
                <a:solidFill>
                  <a:srgbClr val="F4F1EA"/>
                </a:solidFill>
                <a:latin typeface="Georgia" pitchFamily="34" charset="0"/>
                <a:ea typeface="Georgia" pitchFamily="34" charset="-122"/>
                <a:cs typeface="Georgia" pitchFamily="34" charset="-120"/>
              </a:rPr>
              <a:t>Are we measuring the weed's residue — or the template's?</a:t>
            </a:r>
            <a:endParaRPr lang="en-US" sz="4950" dirty="0"/>
          </a:p>
        </p:txBody>
      </p:sp>
      <p:sp>
        <p:nvSpPr>
          <p:cNvPr id="4" name="Text 2"/>
          <p:cNvSpPr/>
          <p:nvPr/>
        </p:nvSpPr>
        <p:spPr>
          <a:xfrm>
            <a:off x="990600" y="4587925"/>
            <a:ext cx="867537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D9A85A"/>
                </a:solidFill>
                <a:latin typeface="Courier New" pitchFamily="34" charset="0"/>
                <a:ea typeface="Courier New" pitchFamily="34" charset="-122"/>
                <a:cs typeface="Courier New" pitchFamily="34" charset="-120"/>
              </a:rPr>
              <a:t>THE CATCH</a:t>
            </a:r>
            <a:endParaRPr lang="en-US" sz="1800" dirty="0"/>
          </a:p>
        </p:txBody>
      </p:sp>
      <p:sp>
        <p:nvSpPr>
          <p:cNvPr id="5" name="Text 3"/>
          <p:cNvSpPr/>
          <p:nvPr/>
        </p:nvSpPr>
        <p:spPr>
          <a:xfrm>
            <a:off x="990600" y="5035600"/>
            <a:ext cx="8123301" cy="22002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DCE6DF"/>
                </a:solidFill>
                <a:latin typeface="Arial" pitchFamily="34" charset="0"/>
                <a:ea typeface="Arial" pitchFamily="34" charset="-122"/>
                <a:cs typeface="Arial" pitchFamily="34" charset="-120"/>
              </a:rPr>
              <a:t>Mapping a weed mutation onto a distantly-related crystal can land it on a </a:t>
            </a:r>
            <a:pPr algn="l" indent="0" marL="0">
              <a:lnSpc>
                <a:spcPct val="150000"/>
              </a:lnSpc>
              <a:buNone/>
            </a:pPr>
            <a:r>
              <a:rPr lang="en-US" sz="2250" i="1" dirty="0">
                <a:solidFill>
                  <a:srgbClr val="FFFFFF"/>
                </a:solidFill>
                <a:latin typeface="Arial" pitchFamily="34" charset="0"/>
                <a:ea typeface="Arial" pitchFamily="34" charset="-122"/>
                <a:cs typeface="Arial" pitchFamily="34" charset="-120"/>
              </a:rPr>
              <a:t>different amino acid </a:t>
            </a:r>
            <a:pPr algn="l" indent="0" marL="0">
              <a:lnSpc>
                <a:spcPct val="150000"/>
              </a:lnSpc>
              <a:buNone/>
            </a:pPr>
            <a:r>
              <a:rPr lang="en-US" sz="2250" dirty="0">
                <a:solidFill>
                  <a:srgbClr val="DCE6DF"/>
                </a:solidFill>
                <a:latin typeface="Arial" pitchFamily="34" charset="0"/>
                <a:ea typeface="Arial" pitchFamily="34" charset="-122"/>
                <a:cs typeface="Arial" pitchFamily="34" charset="-120"/>
              </a:rPr>
              <a:t>— in ACCase the yeast template even carried the </a:t>
            </a:r>
            <a:pPr algn="l" indent="0" marL="0">
              <a:lnSpc>
                <a:spcPct val="150000"/>
              </a:lnSpc>
              <a:buNone/>
            </a:pPr>
            <a:r>
              <a:rPr lang="en-US" sz="2250" i="1" dirty="0">
                <a:solidFill>
                  <a:srgbClr val="FFFFFF"/>
                </a:solidFill>
                <a:latin typeface="Arial" pitchFamily="34" charset="0"/>
                <a:ea typeface="Arial" pitchFamily="34" charset="-122"/>
                <a:cs typeface="Arial" pitchFamily="34" charset="-120"/>
              </a:rPr>
              <a:t>resistant </a:t>
            </a:r>
            <a:pPr algn="l" indent="0" marL="0">
              <a:lnSpc>
                <a:spcPct val="150000"/>
              </a:lnSpc>
              <a:buNone/>
            </a:pPr>
            <a:r>
              <a:rPr lang="en-US" sz="2250" dirty="0">
                <a:solidFill>
                  <a:srgbClr val="DCE6DF"/>
                </a:solidFill>
                <a:latin typeface="Arial" pitchFamily="34" charset="0"/>
                <a:ea typeface="Arial" pitchFamily="34" charset="-122"/>
                <a:cs typeface="Arial" pitchFamily="34" charset="-120"/>
              </a:rPr>
              <a:t>residue at two positions. Backbone distance survives that; side-chain exposure does not.</a:t>
            </a:r>
            <a:endParaRPr lang="en-US" sz="2250" dirty="0"/>
          </a:p>
        </p:txBody>
      </p:sp>
      <p:sp>
        <p:nvSpPr>
          <p:cNvPr id="6" name="Text 4"/>
          <p:cNvSpPr/>
          <p:nvPr/>
        </p:nvSpPr>
        <p:spPr>
          <a:xfrm>
            <a:off x="9410700" y="4587925"/>
            <a:ext cx="867537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FBF9E"/>
                </a:solidFill>
                <a:latin typeface="Courier New" pitchFamily="34" charset="0"/>
                <a:ea typeface="Courier New" pitchFamily="34" charset="-122"/>
                <a:cs typeface="Courier New" pitchFamily="34" charset="-120"/>
              </a:rPr>
              <a:t>THE FIX</a:t>
            </a:r>
            <a:endParaRPr lang="en-US" sz="1800" dirty="0"/>
          </a:p>
        </p:txBody>
      </p:sp>
      <p:sp>
        <p:nvSpPr>
          <p:cNvPr id="7" name="Text 5"/>
          <p:cNvSpPr/>
          <p:nvPr/>
        </p:nvSpPr>
        <p:spPr>
          <a:xfrm>
            <a:off x="9410700" y="5035600"/>
            <a:ext cx="8123301" cy="176212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DCE6DF"/>
                </a:solidFill>
                <a:latin typeface="Arial" pitchFamily="34" charset="0"/>
                <a:ea typeface="Arial" pitchFamily="34" charset="-122"/>
                <a:cs typeface="Arial" pitchFamily="34" charset="-120"/>
              </a:rPr>
              <a:t>Every row now carries a </a:t>
            </a:r>
            <a:pPr algn="l" indent="0" marL="0">
              <a:lnSpc>
                <a:spcPct val="150000"/>
              </a:lnSpc>
              <a:buNone/>
            </a:pPr>
            <a:r>
              <a:rPr lang="en-US" sz="2250" dirty="0">
                <a:solidFill>
                  <a:srgbClr val="8FBF9E"/>
                </a:solidFill>
                <a:latin typeface="Courier New" pitchFamily="34" charset="0"/>
                <a:ea typeface="Courier New" pitchFamily="34" charset="-122"/>
                <a:cs typeface="Courier New" pitchFamily="34" charset="-120"/>
              </a:rPr>
              <a:t>template_matches_weed </a:t>
            </a:r>
            <a:pPr algn="l" indent="0" marL="0">
              <a:lnSpc>
                <a:spcPct val="150000"/>
              </a:lnSpc>
              <a:buNone/>
            </a:pPr>
            <a:r>
              <a:rPr lang="en-US" sz="2250" dirty="0">
                <a:solidFill>
                  <a:srgbClr val="DCE6DF"/>
                </a:solidFill>
                <a:latin typeface="Arial" pitchFamily="34" charset="0"/>
                <a:ea typeface="Arial" pitchFamily="34" charset="-122"/>
                <a:cs typeface="Arial" pitchFamily="34" charset="-120"/>
              </a:rPr>
              <a:t>flag, and ACCase was rebuilt on a SWISS-MODEL black-grass CT-domain model (GMQE 0.76) so its metrics describe the </a:t>
            </a:r>
            <a:pPr algn="l" indent="0" marL="0">
              <a:lnSpc>
                <a:spcPct val="150000"/>
              </a:lnSpc>
              <a:buNone/>
            </a:pPr>
            <a:r>
              <a:rPr lang="en-US" sz="2250" i="1" dirty="0">
                <a:solidFill>
                  <a:srgbClr val="FFFFFF"/>
                </a:solidFill>
                <a:latin typeface="Arial" pitchFamily="34" charset="0"/>
                <a:ea typeface="Arial" pitchFamily="34" charset="-122"/>
                <a:cs typeface="Arial" pitchFamily="34" charset="-120"/>
              </a:rPr>
              <a:t>weed </a:t>
            </a:r>
            <a:pPr algn="l" indent="0" marL="0">
              <a:lnSpc>
                <a:spcPct val="150000"/>
              </a:lnSpc>
              <a:buNone/>
            </a:pPr>
            <a:r>
              <a:rPr lang="en-US" sz="2250" dirty="0">
                <a:solidFill>
                  <a:srgbClr val="DCE6DF"/>
                </a:solidFill>
                <a:latin typeface="Arial" pitchFamily="34" charset="0"/>
                <a:ea typeface="Arial" pitchFamily="34" charset="-122"/>
                <a:cs typeface="Arial" pitchFamily="34" charset="-120"/>
              </a:rPr>
              <a:t>sequence, not yeast.</a:t>
            </a:r>
            <a:endParaRPr lang="en-US" sz="2250" dirty="0"/>
          </a:p>
        </p:txBody>
      </p:sp>
      <p:sp>
        <p:nvSpPr>
          <p:cNvPr id="8" name="Text 6"/>
          <p:cNvSpPr/>
          <p:nvPr/>
        </p:nvSpPr>
        <p:spPr>
          <a:xfrm>
            <a:off x="990600" y="7616875"/>
            <a:ext cx="17937480" cy="39714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8FB7A0"/>
                </a:solidFill>
                <a:latin typeface="Courier New" pitchFamily="34" charset="0"/>
                <a:ea typeface="Courier New" pitchFamily="34" charset="-122"/>
                <a:cs typeface="Courier New" pitchFamily="34" charset="-120"/>
              </a:rPr>
              <a:t>The mismatch is now visible in the data — not buried in a footnote.</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8001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CHOICE 3 · THE THREE METRICS</a:t>
            </a:r>
            <a:endParaRPr lang="en-US" sz="1650" dirty="0"/>
          </a:p>
        </p:txBody>
      </p:sp>
      <p:sp>
        <p:nvSpPr>
          <p:cNvPr id="3" name="Text 1"/>
          <p:cNvSpPr/>
          <p:nvPr/>
        </p:nvSpPr>
        <p:spPr>
          <a:xfrm>
            <a:off x="914400" y="1204913"/>
            <a:ext cx="1810512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spc="-48" kern="0" dirty="0">
                <a:solidFill>
                  <a:srgbClr val="1C2A24"/>
                </a:solidFill>
                <a:latin typeface="Georgia" pitchFamily="34" charset="0"/>
                <a:ea typeface="Georgia" pitchFamily="34" charset="-122"/>
                <a:cs typeface="Georgia" pitchFamily="34" charset="-120"/>
              </a:rPr>
              <a:t>What we measure at every residue</a:t>
            </a:r>
            <a:endParaRPr lang="en-US" sz="4800" dirty="0"/>
          </a:p>
        </p:txBody>
      </p:sp>
      <p:sp>
        <p:nvSpPr>
          <p:cNvPr id="4" name="Shape 2"/>
          <p:cNvSpPr/>
          <p:nvPr/>
        </p:nvSpPr>
        <p:spPr>
          <a:xfrm>
            <a:off x="914400" y="2340248"/>
            <a:ext cx="5308550" cy="6522765"/>
          </a:xfrm>
          <a:prstGeom prst="roundRect">
            <a:avLst>
              <a:gd name="adj" fmla="val 1435"/>
            </a:avLst>
          </a:prstGeom>
          <a:solidFill>
            <a:srgbClr val="FFFFFF"/>
          </a:solidFill>
          <a:ln w="9525">
            <a:solidFill>
              <a:srgbClr val="DED9CD"/>
            </a:solidFill>
            <a:prstDash val="solid"/>
          </a:ln>
        </p:spPr>
        <p:txBody>
          <a:bodyPr/>
          <a:p/>
        </p:txBody>
      </p:sp>
      <p:sp>
        <p:nvSpPr>
          <p:cNvPr id="5" name="Text 3"/>
          <p:cNvSpPr/>
          <p:nvPr/>
        </p:nvSpPr>
        <p:spPr>
          <a:xfrm>
            <a:off x="1304925" y="2768873"/>
            <a:ext cx="4980250" cy="309563"/>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2F6FBB"/>
                </a:solidFill>
                <a:latin typeface="Courier New" pitchFamily="34" charset="0"/>
                <a:ea typeface="Courier New" pitchFamily="34" charset="-122"/>
                <a:cs typeface="Courier New" pitchFamily="34" charset="-120"/>
              </a:rPr>
              <a:t>METRIC 1</a:t>
            </a:r>
            <a:endParaRPr lang="en-US" sz="1650" dirty="0"/>
          </a:p>
        </p:txBody>
      </p:sp>
      <p:sp>
        <p:nvSpPr>
          <p:cNvPr id="6" name="Text 4"/>
          <p:cNvSpPr/>
          <p:nvPr/>
        </p:nvSpPr>
        <p:spPr>
          <a:xfrm>
            <a:off x="1304925" y="3173685"/>
            <a:ext cx="4663325" cy="918121"/>
          </a:xfrm>
          <a:prstGeom prst="rect">
            <a:avLst/>
          </a:prstGeom>
          <a:noFill/>
          <a:ln/>
        </p:spPr>
        <p:txBody>
          <a:bodyPr wrap="square" lIns="25400" tIns="25400" rIns="25400" bIns="25400" rtlCol="0" anchor="t">
            <a:normAutofit/>
          </a:bodyPr>
          <a:lstStyle/>
          <a:p>
            <a:pPr algn="l" indent="0" marL="0">
              <a:lnSpc>
                <a:spcPct val="110000"/>
              </a:lnSpc>
              <a:buNone/>
            </a:pPr>
            <a:r>
              <a:rPr lang="en-US" sz="3150" dirty="0">
                <a:solidFill>
                  <a:srgbClr val="1C2A24"/>
                </a:solidFill>
                <a:latin typeface="Georgia" pitchFamily="34" charset="0"/>
                <a:ea typeface="Georgia" pitchFamily="34" charset="-122"/>
                <a:cs typeface="Georgia" pitchFamily="34" charset="-120"/>
              </a:rPr>
              <a:t>Distance-to-core percentile</a:t>
            </a:r>
            <a:endParaRPr lang="en-US" sz="3150" dirty="0"/>
          </a:p>
        </p:txBody>
      </p:sp>
      <p:sp>
        <p:nvSpPr>
          <p:cNvPr id="7" name="Text 5"/>
          <p:cNvSpPr/>
          <p:nvPr/>
        </p:nvSpPr>
        <p:spPr>
          <a:xfrm>
            <a:off x="1304925" y="4282306"/>
            <a:ext cx="4663325" cy="1589484"/>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443E"/>
                </a:solidFill>
                <a:latin typeface="Arial" pitchFamily="34" charset="0"/>
                <a:ea typeface="Arial" pitchFamily="34" charset="-122"/>
                <a:cs typeface="Arial" pitchFamily="34" charset="-120"/>
              </a:rPr>
              <a:t>How close to the active site, ranked within the protein. </a:t>
            </a:r>
            <a:pPr algn="l" indent="0" marL="0">
              <a:lnSpc>
                <a:spcPct val="145000"/>
              </a:lnSpc>
              <a:buNone/>
            </a:pPr>
            <a:r>
              <a:rPr lang="en-US" sz="2100" b="1" dirty="0">
                <a:solidFill>
                  <a:srgbClr val="3A443E"/>
                </a:solidFill>
                <a:latin typeface="Arial" pitchFamily="34" charset="0"/>
                <a:ea typeface="Arial" pitchFamily="34" charset="-122"/>
                <a:cs typeface="Arial" pitchFamily="34" charset="-120"/>
              </a:rPr>
              <a:t>Low = close. </a:t>
            </a:r>
            <a:pPr algn="l" indent="0" marL="0">
              <a:lnSpc>
                <a:spcPct val="145000"/>
              </a:lnSpc>
              <a:buNone/>
            </a:pPr>
            <a:r>
              <a:rPr lang="en-US" sz="2100" dirty="0">
                <a:solidFill>
                  <a:srgbClr val="3A443E"/>
                </a:solidFill>
                <a:latin typeface="Arial" pitchFamily="34" charset="0"/>
                <a:ea typeface="Arial" pitchFamily="34" charset="-122"/>
                <a:cs typeface="Arial" pitchFamily="34" charset="-120"/>
              </a:rPr>
              <a:t>Makes different enzymes comparable.</a:t>
            </a:r>
            <a:endParaRPr lang="en-US" sz="2100" dirty="0"/>
          </a:p>
        </p:txBody>
      </p:sp>
      <p:sp>
        <p:nvSpPr>
          <p:cNvPr id="8" name="Shape 6"/>
          <p:cNvSpPr/>
          <p:nvPr/>
        </p:nvSpPr>
        <p:spPr>
          <a:xfrm>
            <a:off x="6489650" y="2340248"/>
            <a:ext cx="5308625" cy="6522765"/>
          </a:xfrm>
          <a:prstGeom prst="roundRect">
            <a:avLst>
              <a:gd name="adj" fmla="val 1435"/>
            </a:avLst>
          </a:prstGeom>
          <a:solidFill>
            <a:srgbClr val="FFFFFF"/>
          </a:solidFill>
          <a:ln w="9525">
            <a:solidFill>
              <a:srgbClr val="DED9CD"/>
            </a:solidFill>
            <a:prstDash val="solid"/>
          </a:ln>
        </p:spPr>
        <p:txBody>
          <a:bodyPr/>
          <a:p/>
        </p:txBody>
      </p:sp>
      <p:sp>
        <p:nvSpPr>
          <p:cNvPr id="9" name="Text 7"/>
          <p:cNvSpPr/>
          <p:nvPr/>
        </p:nvSpPr>
        <p:spPr>
          <a:xfrm>
            <a:off x="6880175" y="2768873"/>
            <a:ext cx="4980332" cy="309563"/>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2F9FA8"/>
                </a:solidFill>
                <a:latin typeface="Courier New" pitchFamily="34" charset="0"/>
                <a:ea typeface="Courier New" pitchFamily="34" charset="-122"/>
                <a:cs typeface="Courier New" pitchFamily="34" charset="-120"/>
              </a:rPr>
              <a:t>METRIC 2</a:t>
            </a:r>
            <a:endParaRPr lang="en-US" sz="1650" dirty="0"/>
          </a:p>
        </p:txBody>
      </p:sp>
      <p:sp>
        <p:nvSpPr>
          <p:cNvPr id="10" name="Text 8"/>
          <p:cNvSpPr/>
          <p:nvPr/>
        </p:nvSpPr>
        <p:spPr>
          <a:xfrm>
            <a:off x="6880175" y="3173685"/>
            <a:ext cx="4663402" cy="918121"/>
          </a:xfrm>
          <a:prstGeom prst="rect">
            <a:avLst/>
          </a:prstGeom>
          <a:noFill/>
          <a:ln/>
        </p:spPr>
        <p:txBody>
          <a:bodyPr wrap="square" lIns="25400" tIns="25400" rIns="25400" bIns="25400" rtlCol="0" anchor="t">
            <a:normAutofit/>
          </a:bodyPr>
          <a:lstStyle/>
          <a:p>
            <a:pPr algn="l" indent="0" marL="0">
              <a:lnSpc>
                <a:spcPct val="110000"/>
              </a:lnSpc>
              <a:buNone/>
            </a:pPr>
            <a:r>
              <a:rPr lang="en-US" sz="3150" dirty="0">
                <a:solidFill>
                  <a:srgbClr val="1C2A24"/>
                </a:solidFill>
                <a:latin typeface="Georgia" pitchFamily="34" charset="0"/>
                <a:ea typeface="Georgia" pitchFamily="34" charset="-122"/>
                <a:cs typeface="Georgia" pitchFamily="34" charset="-120"/>
              </a:rPr>
              <a:t>Relative solvent accessibility</a:t>
            </a:r>
            <a:endParaRPr lang="en-US" sz="3150" dirty="0"/>
          </a:p>
        </p:txBody>
      </p:sp>
      <p:sp>
        <p:nvSpPr>
          <p:cNvPr id="11" name="Text 9"/>
          <p:cNvSpPr/>
          <p:nvPr/>
        </p:nvSpPr>
        <p:spPr>
          <a:xfrm>
            <a:off x="6880175" y="4282306"/>
            <a:ext cx="4663402" cy="119806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443E"/>
                </a:solidFill>
                <a:latin typeface="Arial" pitchFamily="34" charset="0"/>
                <a:ea typeface="Arial" pitchFamily="34" charset="-122"/>
                <a:cs typeface="Arial" pitchFamily="34" charset="-120"/>
              </a:rPr>
              <a:t>How exposed vs buried the residue is — normalized by residue type (Tien 2013).</a:t>
            </a:r>
            <a:endParaRPr lang="en-US" sz="2100" dirty="0"/>
          </a:p>
        </p:txBody>
      </p:sp>
      <p:sp>
        <p:nvSpPr>
          <p:cNvPr id="12" name="Shape 10"/>
          <p:cNvSpPr/>
          <p:nvPr/>
        </p:nvSpPr>
        <p:spPr>
          <a:xfrm>
            <a:off x="12064975" y="2340248"/>
            <a:ext cx="5308550" cy="6522765"/>
          </a:xfrm>
          <a:prstGeom prst="roundRect">
            <a:avLst>
              <a:gd name="adj" fmla="val 1435"/>
            </a:avLst>
          </a:prstGeom>
          <a:solidFill>
            <a:srgbClr val="FFFFFF"/>
          </a:solidFill>
          <a:ln w="9525">
            <a:solidFill>
              <a:srgbClr val="DED9CD"/>
            </a:solidFill>
            <a:prstDash val="solid"/>
          </a:ln>
        </p:spPr>
        <p:txBody>
          <a:bodyPr/>
          <a:p/>
        </p:txBody>
      </p:sp>
      <p:sp>
        <p:nvSpPr>
          <p:cNvPr id="13" name="Text 11"/>
          <p:cNvSpPr/>
          <p:nvPr/>
        </p:nvSpPr>
        <p:spPr>
          <a:xfrm>
            <a:off x="12455500" y="2768873"/>
            <a:ext cx="4980250" cy="309563"/>
          </a:xfrm>
          <a:prstGeom prst="rect">
            <a:avLst/>
          </a:prstGeom>
          <a:noFill/>
          <a:ln/>
        </p:spPr>
        <p:txBody>
          <a:bodyPr wrap="square" lIns="25400" tIns="25400" rIns="25400" bIns="25400" rtlCol="0" anchor="t">
            <a:normAutofit/>
          </a:bodyPr>
          <a:lstStyle/>
          <a:p>
            <a:pPr algn="l" indent="0" marL="0">
              <a:buNone/>
            </a:pPr>
            <a:r>
              <a:rPr lang="en-US" sz="1650" spc="83" kern="0" dirty="0">
                <a:solidFill>
                  <a:srgbClr val="46945F"/>
                </a:solidFill>
                <a:latin typeface="Courier New" pitchFamily="34" charset="0"/>
                <a:ea typeface="Courier New" pitchFamily="34" charset="-122"/>
                <a:cs typeface="Courier New" pitchFamily="34" charset="-120"/>
              </a:rPr>
              <a:t>METRIC 3</a:t>
            </a:r>
            <a:endParaRPr lang="en-US" sz="1650" dirty="0"/>
          </a:p>
        </p:txBody>
      </p:sp>
      <p:sp>
        <p:nvSpPr>
          <p:cNvPr id="14" name="Text 12"/>
          <p:cNvSpPr/>
          <p:nvPr/>
        </p:nvSpPr>
        <p:spPr>
          <a:xfrm>
            <a:off x="12455500" y="3173685"/>
            <a:ext cx="4980250" cy="478110"/>
          </a:xfrm>
          <a:prstGeom prst="rect">
            <a:avLst/>
          </a:prstGeom>
          <a:noFill/>
          <a:ln/>
        </p:spPr>
        <p:txBody>
          <a:bodyPr wrap="square" lIns="25400" tIns="25400" rIns="25400" bIns="25400" rtlCol="0" anchor="t">
            <a:normAutofit/>
          </a:bodyPr>
          <a:lstStyle/>
          <a:p>
            <a:pPr algn="l" indent="0" marL="0">
              <a:lnSpc>
                <a:spcPct val="110000"/>
              </a:lnSpc>
              <a:buNone/>
            </a:pPr>
            <a:r>
              <a:rPr lang="en-US" sz="3150" dirty="0">
                <a:solidFill>
                  <a:srgbClr val="1C2A24"/>
                </a:solidFill>
                <a:latin typeface="Georgia" pitchFamily="34" charset="0"/>
                <a:ea typeface="Georgia" pitchFamily="34" charset="-122"/>
                <a:cs typeface="Georgia" pitchFamily="34" charset="-120"/>
              </a:rPr>
              <a:t>Conservation</a:t>
            </a:r>
            <a:endParaRPr lang="en-US" sz="3150" dirty="0"/>
          </a:p>
        </p:txBody>
      </p:sp>
      <p:sp>
        <p:nvSpPr>
          <p:cNvPr id="15" name="Text 13"/>
          <p:cNvSpPr/>
          <p:nvPr/>
        </p:nvSpPr>
        <p:spPr>
          <a:xfrm>
            <a:off x="12455500" y="3842296"/>
            <a:ext cx="4663325" cy="119806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443E"/>
                </a:solidFill>
                <a:latin typeface="Arial" pitchFamily="34" charset="0"/>
                <a:ea typeface="Arial" pitchFamily="34" charset="-122"/>
                <a:cs typeface="Arial" pitchFamily="34" charset="-120"/>
              </a:rPr>
              <a:t>Shannon-entropy across a curated multi-species alignment. High = structurally constrained.</a:t>
            </a:r>
            <a:endParaRPr lang="en-US" sz="2100" dirty="0"/>
          </a:p>
        </p:txBody>
      </p:sp>
      <p:sp>
        <p:nvSpPr>
          <p:cNvPr id="16" name="Text 14"/>
          <p:cNvSpPr/>
          <p:nvPr/>
        </p:nvSpPr>
        <p:spPr>
          <a:xfrm>
            <a:off x="914400" y="9167813"/>
            <a:ext cx="1810512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5A6660"/>
                </a:solidFill>
                <a:latin typeface="Arial" pitchFamily="34" charset="0"/>
                <a:ea typeface="Arial" pitchFamily="34" charset="-122"/>
                <a:cs typeface="Arial" pitchFamily="34" charset="-120"/>
              </a:rPr>
              <a:t>Within-family percentiles let a 465-residue enzyme and a 2,000-residue one be compared on the same scale.</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1B"/>
        </a:solidFill>
      </p:bgPr>
    </p:bg>
    <p:spTree>
      <p:nvGrpSpPr>
        <p:cNvPr id="1" name=""/>
        <p:cNvGrpSpPr/>
        <p:nvPr/>
      </p:nvGrpSpPr>
      <p:grpSpPr>
        <a:xfrm>
          <a:off x="0" y="0"/>
          <a:ext cx="0" cy="0"/>
          <a:chOff x="0" y="0"/>
          <a:chExt cx="0" cy="0"/>
        </a:xfrm>
      </p:grpSpPr>
      <p:sp>
        <p:nvSpPr>
          <p:cNvPr id="2" name="Text 0"/>
          <p:cNvSpPr/>
          <p:nvPr/>
        </p:nvSpPr>
        <p:spPr>
          <a:xfrm>
            <a:off x="990600" y="2002408"/>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8FB7A0"/>
                </a:solidFill>
                <a:latin typeface="Courier New" pitchFamily="34" charset="0"/>
                <a:ea typeface="Courier New" pitchFamily="34" charset="-122"/>
                <a:cs typeface="Courier New" pitchFamily="34" charset="-120"/>
              </a:rPr>
              <a:t>CHOICE 4 · THE TEST</a:t>
            </a:r>
            <a:endParaRPr lang="en-US" sz="1650" dirty="0"/>
          </a:p>
        </p:txBody>
      </p:sp>
      <p:sp>
        <p:nvSpPr>
          <p:cNvPr id="3" name="Text 1"/>
          <p:cNvSpPr/>
          <p:nvPr/>
        </p:nvSpPr>
        <p:spPr>
          <a:xfrm>
            <a:off x="990600" y="2464371"/>
            <a:ext cx="13735050" cy="1395859"/>
          </a:xfrm>
          <a:prstGeom prst="rect">
            <a:avLst/>
          </a:prstGeom>
          <a:noFill/>
          <a:ln/>
        </p:spPr>
        <p:txBody>
          <a:bodyPr wrap="square" lIns="25400" tIns="25400" rIns="25400" bIns="25400" rtlCol="0" anchor="t">
            <a:normAutofit/>
          </a:bodyPr>
          <a:lstStyle/>
          <a:p>
            <a:pPr algn="l" indent="0" marL="0">
              <a:lnSpc>
                <a:spcPct val="108000"/>
              </a:lnSpc>
              <a:buNone/>
            </a:pPr>
            <a:r>
              <a:rPr lang="en-US" sz="4950" spc="-49" kern="0" dirty="0">
                <a:solidFill>
                  <a:srgbClr val="F4F1EA"/>
                </a:solidFill>
                <a:latin typeface="Georgia" pitchFamily="34" charset="0"/>
                <a:ea typeface="Georgia" pitchFamily="34" charset="-122"/>
                <a:cs typeface="Georgia" pitchFamily="34" charset="-120"/>
              </a:rPr>
              <a:t>Closer than chance? Ask 10,000 random residue sets</a:t>
            </a:r>
            <a:endParaRPr lang="en-US" sz="4950" dirty="0"/>
          </a:p>
        </p:txBody>
      </p:sp>
      <p:sp>
        <p:nvSpPr>
          <p:cNvPr id="4" name="Text 2"/>
          <p:cNvSpPr/>
          <p:nvPr/>
        </p:nvSpPr>
        <p:spPr>
          <a:xfrm>
            <a:off x="990600" y="5120060"/>
            <a:ext cx="8084058" cy="2400002"/>
          </a:xfrm>
          <a:prstGeom prst="rect">
            <a:avLst/>
          </a:prstGeom>
          <a:noFill/>
          <a:ln/>
        </p:spPr>
        <p:txBody>
          <a:bodyPr wrap="square" lIns="25400" tIns="25400" rIns="25400" bIns="25400" rtlCol="0" anchor="t">
            <a:normAutofit/>
          </a:bodyPr>
          <a:lstStyle/>
          <a:p>
            <a:pPr algn="l" indent="0" marL="0">
              <a:lnSpc>
                <a:spcPct val="155000"/>
              </a:lnSpc>
              <a:buNone/>
            </a:pPr>
            <a:r>
              <a:rPr lang="en-US" sz="2400" dirty="0">
                <a:solidFill>
                  <a:srgbClr val="DCE6DF"/>
                </a:solidFill>
                <a:latin typeface="Arial" pitchFamily="34" charset="0"/>
                <a:ea typeface="Arial" pitchFamily="34" charset="-122"/>
                <a:cs typeface="Arial" pitchFamily="34" charset="-120"/>
              </a:rPr>
              <a:t>For each family, compare the observed mean distance-to-core percentile against 10,000 random same-size residue sets drawn from the same structure. The empirical p-value is how often chance does as well as reality. Seed </a:t>
            </a:r>
            <a:pPr algn="l" indent="0" marL="0">
              <a:lnSpc>
                <a:spcPct val="155000"/>
              </a:lnSpc>
              <a:buNone/>
            </a:pPr>
            <a:r>
              <a:rPr lang="en-US" sz="2400" dirty="0">
                <a:solidFill>
                  <a:srgbClr val="8FBF9E"/>
                </a:solidFill>
                <a:latin typeface="Courier New" pitchFamily="34" charset="0"/>
                <a:ea typeface="Courier New" pitchFamily="34" charset="-122"/>
                <a:cs typeface="Courier New" pitchFamily="34" charset="-120"/>
              </a:rPr>
              <a:t>20260704 </a:t>
            </a:r>
            <a:pPr algn="l" indent="0" marL="0">
              <a:lnSpc>
                <a:spcPct val="155000"/>
              </a:lnSpc>
              <a:buNone/>
            </a:pPr>
            <a:r>
              <a:rPr lang="en-US" sz="2400" dirty="0">
                <a:solidFill>
                  <a:srgbClr val="DCE6DF"/>
                </a:solidFill>
                <a:latin typeface="Arial" pitchFamily="34" charset="0"/>
                <a:ea typeface="Arial" pitchFamily="34" charset="-122"/>
                <a:cs typeface="Arial" pitchFamily="34" charset="-120"/>
              </a:rPr>
              <a:t>— fully reproducible.</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48800" y="4317429"/>
            <a:ext cx="7848600" cy="39243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7620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THE TOOLCHAIN</a:t>
            </a:r>
            <a:endParaRPr lang="en-US" sz="1650" dirty="0"/>
          </a:p>
        </p:txBody>
      </p:sp>
      <p:sp>
        <p:nvSpPr>
          <p:cNvPr id="3" name="Text 1"/>
          <p:cNvSpPr/>
          <p:nvPr/>
        </p:nvSpPr>
        <p:spPr>
          <a:xfrm>
            <a:off x="914400" y="1166813"/>
            <a:ext cx="1810512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spc="-48" kern="0" dirty="0">
                <a:solidFill>
                  <a:srgbClr val="1C2A24"/>
                </a:solidFill>
                <a:latin typeface="Georgia" pitchFamily="34" charset="0"/>
                <a:ea typeface="Georgia" pitchFamily="34" charset="-122"/>
                <a:cs typeface="Georgia" pitchFamily="34" charset="-120"/>
              </a:rPr>
              <a:t>What we used, and for what</a:t>
            </a:r>
            <a:endParaRPr lang="en-US" sz="4800" dirty="0"/>
          </a:p>
        </p:txBody>
      </p:sp>
      <p:sp>
        <p:nvSpPr>
          <p:cNvPr id="4" name="Shape 2"/>
          <p:cNvSpPr/>
          <p:nvPr/>
        </p:nvSpPr>
        <p:spPr>
          <a:xfrm>
            <a:off x="914400" y="2225948"/>
            <a:ext cx="5334000" cy="4580558"/>
          </a:xfrm>
          <a:prstGeom prst="roundRect">
            <a:avLst>
              <a:gd name="adj" fmla="val 1664"/>
            </a:avLst>
          </a:prstGeom>
          <a:solidFill>
            <a:srgbClr val="FFFFFF"/>
          </a:solidFill>
          <a:ln w="9525">
            <a:solidFill>
              <a:srgbClr val="DED9CD"/>
            </a:solidFill>
            <a:prstDash val="solid"/>
          </a:ln>
        </p:spPr>
        <p:txBody>
          <a:bodyPr/>
          <a:p/>
        </p:txBody>
      </p:sp>
      <p:sp>
        <p:nvSpPr>
          <p:cNvPr id="5" name="Text 3"/>
          <p:cNvSpPr/>
          <p:nvPr/>
        </p:nvSpPr>
        <p:spPr>
          <a:xfrm>
            <a:off x="1247775" y="2578373"/>
            <a:ext cx="5133975" cy="528638"/>
          </a:xfrm>
          <a:prstGeom prst="rect">
            <a:avLst/>
          </a:prstGeom>
          <a:noFill/>
          <a:ln/>
        </p:spPr>
        <p:txBody>
          <a:bodyPr wrap="square" lIns="25400" tIns="25400" rIns="25400" bIns="25400" rtlCol="0" anchor="t">
            <a:normAutofit/>
          </a:bodyPr>
          <a:lstStyle/>
          <a:p>
            <a:pPr algn="l" indent="0" marL="0">
              <a:buNone/>
            </a:pPr>
            <a:r>
              <a:rPr lang="en-US" sz="2550" dirty="0">
                <a:solidFill>
                  <a:srgbClr val="1C2A24"/>
                </a:solidFill>
                <a:latin typeface="Georgia" pitchFamily="34" charset="0"/>
                <a:ea typeface="Georgia" pitchFamily="34" charset="-122"/>
                <a:cs typeface="Georgia" pitchFamily="34" charset="-120"/>
              </a:rPr>
              <a:t>Analysis core</a:t>
            </a:r>
            <a:endParaRPr lang="en-US" sz="2550" dirty="0"/>
          </a:p>
        </p:txBody>
      </p:sp>
      <p:sp>
        <p:nvSpPr>
          <p:cNvPr id="6" name="Text 4"/>
          <p:cNvSpPr/>
          <p:nvPr/>
        </p:nvSpPr>
        <p:spPr>
          <a:xfrm>
            <a:off x="1247775" y="3126060"/>
            <a:ext cx="51339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8A9188"/>
                </a:solidFill>
                <a:latin typeface="Arial" pitchFamily="34" charset="0"/>
                <a:ea typeface="Arial" pitchFamily="34" charset="-122"/>
                <a:cs typeface="Arial" pitchFamily="34" charset="-120"/>
              </a:rPr>
              <a:t>Metrics, tables, permutation</a:t>
            </a:r>
            <a:endParaRPr lang="en-US" sz="1725" dirty="0"/>
          </a:p>
        </p:txBody>
      </p:sp>
      <p:sp>
        <p:nvSpPr>
          <p:cNvPr id="7" name="Shape 5"/>
          <p:cNvSpPr/>
          <p:nvPr/>
        </p:nvSpPr>
        <p:spPr>
          <a:xfrm>
            <a:off x="1247775" y="3926160"/>
            <a:ext cx="4667250" cy="9525"/>
          </a:xfrm>
          <a:prstGeom prst="rect">
            <a:avLst/>
          </a:prstGeom>
          <a:solidFill>
            <a:srgbClr val="2F6FBB">
              <a:alpha val="35000"/>
            </a:srgbClr>
          </a:solidFill>
          <a:ln/>
        </p:spPr>
        <p:txBody>
          <a:bodyPr/>
          <a:p/>
        </p:txBody>
      </p:sp>
      <p:sp>
        <p:nvSpPr>
          <p:cNvPr id="8" name="Text 6">
            <a:hlinkClick r:id="rId1" tooltip=""/>
          </p:cNvPr>
          <p:cNvSpPr/>
          <p:nvPr/>
        </p:nvSpPr>
        <p:spPr>
          <a:xfrm>
            <a:off x="1247775" y="3602310"/>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Biopython ↗</a:t>
            </a:r>
            <a:endParaRPr lang="en-US" sz="1875" dirty="0"/>
          </a:p>
        </p:txBody>
      </p:sp>
      <p:sp>
        <p:nvSpPr>
          <p:cNvPr id="9" name="Shape 7"/>
          <p:cNvSpPr/>
          <p:nvPr/>
        </p:nvSpPr>
        <p:spPr>
          <a:xfrm>
            <a:off x="1247775" y="4373835"/>
            <a:ext cx="4667250" cy="9525"/>
          </a:xfrm>
          <a:prstGeom prst="rect">
            <a:avLst/>
          </a:prstGeom>
          <a:solidFill>
            <a:srgbClr val="2F6FBB">
              <a:alpha val="35000"/>
            </a:srgbClr>
          </a:solidFill>
          <a:ln/>
        </p:spPr>
        <p:txBody>
          <a:bodyPr/>
          <a:p/>
        </p:txBody>
      </p:sp>
      <p:sp>
        <p:nvSpPr>
          <p:cNvPr id="10" name="Text 8">
            <a:hlinkClick r:id="rId2" tooltip=""/>
          </p:cNvPr>
          <p:cNvSpPr/>
          <p:nvPr/>
        </p:nvSpPr>
        <p:spPr>
          <a:xfrm>
            <a:off x="1247775" y="4049985"/>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pandas ↗</a:t>
            </a:r>
            <a:endParaRPr lang="en-US" sz="1875" dirty="0"/>
          </a:p>
        </p:txBody>
      </p:sp>
      <p:sp>
        <p:nvSpPr>
          <p:cNvPr id="11" name="Shape 9"/>
          <p:cNvSpPr/>
          <p:nvPr/>
        </p:nvSpPr>
        <p:spPr>
          <a:xfrm>
            <a:off x="1247775" y="4821510"/>
            <a:ext cx="4667250" cy="9525"/>
          </a:xfrm>
          <a:prstGeom prst="rect">
            <a:avLst/>
          </a:prstGeom>
          <a:solidFill>
            <a:srgbClr val="2F6FBB">
              <a:alpha val="35000"/>
            </a:srgbClr>
          </a:solidFill>
          <a:ln/>
        </p:spPr>
        <p:txBody>
          <a:bodyPr/>
          <a:p/>
        </p:txBody>
      </p:sp>
      <p:sp>
        <p:nvSpPr>
          <p:cNvPr id="12" name="Text 10">
            <a:hlinkClick r:id="rId3" tooltip=""/>
          </p:cNvPr>
          <p:cNvSpPr/>
          <p:nvPr/>
        </p:nvSpPr>
        <p:spPr>
          <a:xfrm>
            <a:off x="1247775" y="4497660"/>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NumPy ↗</a:t>
            </a:r>
            <a:endParaRPr lang="en-US" sz="1875" dirty="0"/>
          </a:p>
        </p:txBody>
      </p:sp>
      <p:sp>
        <p:nvSpPr>
          <p:cNvPr id="13" name="Shape 11"/>
          <p:cNvSpPr/>
          <p:nvPr/>
        </p:nvSpPr>
        <p:spPr>
          <a:xfrm>
            <a:off x="1247775" y="5269185"/>
            <a:ext cx="4667250" cy="9525"/>
          </a:xfrm>
          <a:prstGeom prst="rect">
            <a:avLst/>
          </a:prstGeom>
          <a:solidFill>
            <a:srgbClr val="2F6FBB">
              <a:alpha val="35000"/>
            </a:srgbClr>
          </a:solidFill>
          <a:ln/>
        </p:spPr>
        <p:txBody>
          <a:bodyPr/>
          <a:p/>
        </p:txBody>
      </p:sp>
      <p:sp>
        <p:nvSpPr>
          <p:cNvPr id="14" name="Text 12">
            <a:hlinkClick r:id="rId4" tooltip=""/>
          </p:cNvPr>
          <p:cNvSpPr/>
          <p:nvPr/>
        </p:nvSpPr>
        <p:spPr>
          <a:xfrm>
            <a:off x="1247775" y="4945335"/>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pyKVFinder ↗</a:t>
            </a:r>
            <a:endParaRPr lang="en-US" sz="1875" dirty="0"/>
          </a:p>
        </p:txBody>
      </p:sp>
      <p:sp>
        <p:nvSpPr>
          <p:cNvPr id="15" name="Shape 13"/>
          <p:cNvSpPr/>
          <p:nvPr/>
        </p:nvSpPr>
        <p:spPr>
          <a:xfrm>
            <a:off x="6477000" y="2225948"/>
            <a:ext cx="5334000" cy="4580558"/>
          </a:xfrm>
          <a:prstGeom prst="roundRect">
            <a:avLst>
              <a:gd name="adj" fmla="val 1664"/>
            </a:avLst>
          </a:prstGeom>
          <a:solidFill>
            <a:srgbClr val="FFFFFF"/>
          </a:solidFill>
          <a:ln w="9525">
            <a:solidFill>
              <a:srgbClr val="DED9CD"/>
            </a:solidFill>
            <a:prstDash val="solid"/>
          </a:ln>
        </p:spPr>
        <p:txBody>
          <a:bodyPr/>
          <a:p/>
        </p:txBody>
      </p:sp>
      <p:sp>
        <p:nvSpPr>
          <p:cNvPr id="16" name="Text 14"/>
          <p:cNvSpPr/>
          <p:nvPr/>
        </p:nvSpPr>
        <p:spPr>
          <a:xfrm>
            <a:off x="6810375" y="2578373"/>
            <a:ext cx="5133975" cy="528638"/>
          </a:xfrm>
          <a:prstGeom prst="rect">
            <a:avLst/>
          </a:prstGeom>
          <a:noFill/>
          <a:ln/>
        </p:spPr>
        <p:txBody>
          <a:bodyPr wrap="square" lIns="25400" tIns="25400" rIns="25400" bIns="25400" rtlCol="0" anchor="t">
            <a:normAutofit/>
          </a:bodyPr>
          <a:lstStyle/>
          <a:p>
            <a:pPr algn="l" indent="0" marL="0">
              <a:buNone/>
            </a:pPr>
            <a:r>
              <a:rPr lang="en-US" sz="2550" dirty="0">
                <a:solidFill>
                  <a:srgbClr val="1C2A24"/>
                </a:solidFill>
                <a:latin typeface="Georgia" pitchFamily="34" charset="0"/>
                <a:ea typeface="Georgia" pitchFamily="34" charset="-122"/>
                <a:cs typeface="Georgia" pitchFamily="34" charset="-120"/>
              </a:rPr>
              <a:t>Structure &amp; surface</a:t>
            </a:r>
            <a:endParaRPr lang="en-US" sz="2550" dirty="0"/>
          </a:p>
        </p:txBody>
      </p:sp>
      <p:sp>
        <p:nvSpPr>
          <p:cNvPr id="17" name="Text 15"/>
          <p:cNvSpPr/>
          <p:nvPr/>
        </p:nvSpPr>
        <p:spPr>
          <a:xfrm>
            <a:off x="6810375" y="3126060"/>
            <a:ext cx="51339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8A9188"/>
                </a:solidFill>
                <a:latin typeface="Arial" pitchFamily="34" charset="0"/>
                <a:ea typeface="Arial" pitchFamily="34" charset="-122"/>
                <a:cs typeface="Arial" pitchFamily="34" charset="-120"/>
              </a:rPr>
              <a:t>Distance, SASA, 3D handling</a:t>
            </a:r>
            <a:endParaRPr lang="en-US" sz="1725" dirty="0"/>
          </a:p>
        </p:txBody>
      </p:sp>
      <p:sp>
        <p:nvSpPr>
          <p:cNvPr id="18" name="Shape 16"/>
          <p:cNvSpPr/>
          <p:nvPr/>
        </p:nvSpPr>
        <p:spPr>
          <a:xfrm>
            <a:off x="6810375" y="3926160"/>
            <a:ext cx="4667250" cy="9525"/>
          </a:xfrm>
          <a:prstGeom prst="rect">
            <a:avLst/>
          </a:prstGeom>
          <a:solidFill>
            <a:srgbClr val="2F6FBB">
              <a:alpha val="35000"/>
            </a:srgbClr>
          </a:solidFill>
          <a:ln/>
        </p:spPr>
        <p:txBody>
          <a:bodyPr/>
          <a:p/>
        </p:txBody>
      </p:sp>
      <p:sp>
        <p:nvSpPr>
          <p:cNvPr id="19" name="Text 17">
            <a:hlinkClick r:id="rId5" tooltip=""/>
          </p:cNvPr>
          <p:cNvSpPr/>
          <p:nvPr/>
        </p:nvSpPr>
        <p:spPr>
          <a:xfrm>
            <a:off x="6810375" y="3602310"/>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UCSF ChimeraX ↗</a:t>
            </a:r>
            <a:endParaRPr lang="en-US" sz="1875" dirty="0"/>
          </a:p>
        </p:txBody>
      </p:sp>
      <p:sp>
        <p:nvSpPr>
          <p:cNvPr id="20" name="Shape 18"/>
          <p:cNvSpPr/>
          <p:nvPr/>
        </p:nvSpPr>
        <p:spPr>
          <a:xfrm>
            <a:off x="6810375" y="4373835"/>
            <a:ext cx="4667250" cy="9525"/>
          </a:xfrm>
          <a:prstGeom prst="rect">
            <a:avLst/>
          </a:prstGeom>
          <a:solidFill>
            <a:srgbClr val="2F6FBB">
              <a:alpha val="35000"/>
            </a:srgbClr>
          </a:solidFill>
          <a:ln/>
        </p:spPr>
        <p:txBody>
          <a:bodyPr/>
          <a:p/>
        </p:txBody>
      </p:sp>
      <p:sp>
        <p:nvSpPr>
          <p:cNvPr id="21" name="Text 19">
            <a:hlinkClick r:id="rId6" tooltip=""/>
          </p:cNvPr>
          <p:cNvSpPr/>
          <p:nvPr/>
        </p:nvSpPr>
        <p:spPr>
          <a:xfrm>
            <a:off x="6810375" y="4049985"/>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RCSB PDB ↗</a:t>
            </a:r>
            <a:endParaRPr lang="en-US" sz="1875" dirty="0"/>
          </a:p>
        </p:txBody>
      </p:sp>
      <p:sp>
        <p:nvSpPr>
          <p:cNvPr id="22" name="Shape 20"/>
          <p:cNvSpPr/>
          <p:nvPr/>
        </p:nvSpPr>
        <p:spPr>
          <a:xfrm>
            <a:off x="6810375" y="4821510"/>
            <a:ext cx="4667250" cy="9525"/>
          </a:xfrm>
          <a:prstGeom prst="rect">
            <a:avLst/>
          </a:prstGeom>
          <a:solidFill>
            <a:srgbClr val="2F6FBB">
              <a:alpha val="35000"/>
            </a:srgbClr>
          </a:solidFill>
          <a:ln/>
        </p:spPr>
        <p:txBody>
          <a:bodyPr/>
          <a:p/>
        </p:txBody>
      </p:sp>
      <p:sp>
        <p:nvSpPr>
          <p:cNvPr id="23" name="Text 21">
            <a:hlinkClick r:id="rId7" tooltip=""/>
          </p:cNvPr>
          <p:cNvSpPr/>
          <p:nvPr/>
        </p:nvSpPr>
        <p:spPr>
          <a:xfrm>
            <a:off x="6810375" y="4497660"/>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7" invalidUrl="" action="" tgtFrame="" tooltip="" history="1" highlightClick="0" endSnd="0">
                  <a:extLst>
                    <a:ext uri="{A12FA001-AC4F-418D-AE19-62706E023703}">
                      <ahyp:hlinkClr xmlns:ahyp="http://schemas.microsoft.com/office/drawing/2018/hyperlinkcolor" val="tx"/>
                    </a:ext>
                  </a:extLst>
                </a:hlinkClick>
              </a:rPr>
              <a:t>SWISS-MODEL ↗</a:t>
            </a:r>
            <a:endParaRPr lang="en-US" sz="1875" dirty="0"/>
          </a:p>
        </p:txBody>
      </p:sp>
      <p:sp>
        <p:nvSpPr>
          <p:cNvPr id="24" name="Shape 22"/>
          <p:cNvSpPr/>
          <p:nvPr/>
        </p:nvSpPr>
        <p:spPr>
          <a:xfrm>
            <a:off x="12039600" y="2225948"/>
            <a:ext cx="5334000" cy="4580558"/>
          </a:xfrm>
          <a:prstGeom prst="roundRect">
            <a:avLst>
              <a:gd name="adj" fmla="val 1664"/>
            </a:avLst>
          </a:prstGeom>
          <a:solidFill>
            <a:srgbClr val="FFFFFF"/>
          </a:solidFill>
          <a:ln w="9525">
            <a:solidFill>
              <a:srgbClr val="DED9CD"/>
            </a:solidFill>
            <a:prstDash val="solid"/>
          </a:ln>
        </p:spPr>
        <p:txBody>
          <a:bodyPr/>
          <a:p/>
        </p:txBody>
      </p:sp>
      <p:sp>
        <p:nvSpPr>
          <p:cNvPr id="25" name="Text 23"/>
          <p:cNvSpPr/>
          <p:nvPr/>
        </p:nvSpPr>
        <p:spPr>
          <a:xfrm>
            <a:off x="12372975" y="2578373"/>
            <a:ext cx="5133975" cy="528638"/>
          </a:xfrm>
          <a:prstGeom prst="rect">
            <a:avLst/>
          </a:prstGeom>
          <a:noFill/>
          <a:ln/>
        </p:spPr>
        <p:txBody>
          <a:bodyPr wrap="square" lIns="25400" tIns="25400" rIns="25400" bIns="25400" rtlCol="0" anchor="t">
            <a:normAutofit/>
          </a:bodyPr>
          <a:lstStyle/>
          <a:p>
            <a:pPr algn="l" indent="0" marL="0">
              <a:buNone/>
            </a:pPr>
            <a:r>
              <a:rPr lang="en-US" sz="2550" dirty="0">
                <a:solidFill>
                  <a:srgbClr val="1C2A24"/>
                </a:solidFill>
                <a:latin typeface="Georgia" pitchFamily="34" charset="0"/>
                <a:ea typeface="Georgia" pitchFamily="34" charset="-122"/>
                <a:cs typeface="Georgia" pitchFamily="34" charset="-120"/>
              </a:rPr>
              <a:t>Alignment &amp; stats</a:t>
            </a:r>
            <a:endParaRPr lang="en-US" sz="2550" dirty="0"/>
          </a:p>
        </p:txBody>
      </p:sp>
      <p:sp>
        <p:nvSpPr>
          <p:cNvPr id="26" name="Text 24"/>
          <p:cNvSpPr/>
          <p:nvPr/>
        </p:nvSpPr>
        <p:spPr>
          <a:xfrm>
            <a:off x="12372975" y="3126060"/>
            <a:ext cx="513397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8A9188"/>
                </a:solidFill>
                <a:latin typeface="Arial" pitchFamily="34" charset="0"/>
                <a:ea typeface="Arial" pitchFamily="34" charset="-122"/>
                <a:cs typeface="Arial" pitchFamily="34" charset="-120"/>
              </a:rPr>
              <a:t>Conservation, mixed models</a:t>
            </a:r>
            <a:endParaRPr lang="en-US" sz="1725" dirty="0"/>
          </a:p>
        </p:txBody>
      </p:sp>
      <p:sp>
        <p:nvSpPr>
          <p:cNvPr id="27" name="Shape 25"/>
          <p:cNvSpPr/>
          <p:nvPr/>
        </p:nvSpPr>
        <p:spPr>
          <a:xfrm>
            <a:off x="12372975" y="3926160"/>
            <a:ext cx="4667250" cy="9525"/>
          </a:xfrm>
          <a:prstGeom prst="rect">
            <a:avLst/>
          </a:prstGeom>
          <a:solidFill>
            <a:srgbClr val="2F6FBB">
              <a:alpha val="35000"/>
            </a:srgbClr>
          </a:solidFill>
          <a:ln/>
        </p:spPr>
        <p:txBody>
          <a:bodyPr/>
          <a:p/>
        </p:txBody>
      </p:sp>
      <p:sp>
        <p:nvSpPr>
          <p:cNvPr id="28" name="Text 26">
            <a:hlinkClick r:id="rId8" tooltip=""/>
          </p:cNvPr>
          <p:cNvSpPr/>
          <p:nvPr/>
        </p:nvSpPr>
        <p:spPr>
          <a:xfrm>
            <a:off x="12372975" y="3602310"/>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8" invalidUrl="" action="" tgtFrame="" tooltip="" history="1" highlightClick="0" endSnd="0">
                  <a:extLst>
                    <a:ext uri="{A12FA001-AC4F-418D-AE19-62706E023703}">
                      <ahyp:hlinkClr xmlns:ahyp="http://schemas.microsoft.com/office/drawing/2018/hyperlinkcolor" val="tx"/>
                    </a:ext>
                  </a:extLst>
                </a:hlinkClick>
              </a:rPr>
              <a:t>MAFFT ↗</a:t>
            </a:r>
            <a:endParaRPr lang="en-US" sz="1875" dirty="0"/>
          </a:p>
        </p:txBody>
      </p:sp>
      <p:sp>
        <p:nvSpPr>
          <p:cNvPr id="29" name="Shape 27"/>
          <p:cNvSpPr/>
          <p:nvPr/>
        </p:nvSpPr>
        <p:spPr>
          <a:xfrm>
            <a:off x="12372975" y="4373835"/>
            <a:ext cx="4667250" cy="9525"/>
          </a:xfrm>
          <a:prstGeom prst="rect">
            <a:avLst/>
          </a:prstGeom>
          <a:solidFill>
            <a:srgbClr val="2F6FBB">
              <a:alpha val="35000"/>
            </a:srgbClr>
          </a:solidFill>
          <a:ln/>
        </p:spPr>
        <p:txBody>
          <a:bodyPr/>
          <a:p/>
        </p:txBody>
      </p:sp>
      <p:sp>
        <p:nvSpPr>
          <p:cNvPr id="30" name="Text 28">
            <a:hlinkClick r:id="rId9" tooltip=""/>
          </p:cNvPr>
          <p:cNvSpPr/>
          <p:nvPr/>
        </p:nvSpPr>
        <p:spPr>
          <a:xfrm>
            <a:off x="12372975" y="4049985"/>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9" invalidUrl="" action="" tgtFrame="" tooltip="" history="1" highlightClick="0" endSnd="0">
                  <a:extLst>
                    <a:ext uri="{A12FA001-AC4F-418D-AE19-62706E023703}">
                      <ahyp:hlinkClr xmlns:ahyp="http://schemas.microsoft.com/office/drawing/2018/hyperlinkcolor" val="tx"/>
                    </a:ext>
                  </a:extLst>
                </a:hlinkClick>
              </a:rPr>
              <a:t>R ↗</a:t>
            </a:r>
            <a:endParaRPr lang="en-US" sz="1875" dirty="0"/>
          </a:p>
        </p:txBody>
      </p:sp>
      <p:sp>
        <p:nvSpPr>
          <p:cNvPr id="31" name="Shape 29"/>
          <p:cNvSpPr/>
          <p:nvPr/>
        </p:nvSpPr>
        <p:spPr>
          <a:xfrm>
            <a:off x="12372975" y="4821510"/>
            <a:ext cx="4667250" cy="9525"/>
          </a:xfrm>
          <a:prstGeom prst="rect">
            <a:avLst/>
          </a:prstGeom>
          <a:solidFill>
            <a:srgbClr val="2F6FBB">
              <a:alpha val="35000"/>
            </a:srgbClr>
          </a:solidFill>
          <a:ln/>
        </p:spPr>
        <p:txBody>
          <a:bodyPr/>
          <a:p/>
        </p:txBody>
      </p:sp>
      <p:sp>
        <p:nvSpPr>
          <p:cNvPr id="32" name="Text 30">
            <a:hlinkClick r:id="rId10" tooltip=""/>
          </p:cNvPr>
          <p:cNvSpPr/>
          <p:nvPr/>
        </p:nvSpPr>
        <p:spPr>
          <a:xfrm>
            <a:off x="12372975" y="4497660"/>
            <a:ext cx="5133975" cy="361950"/>
          </a:xfrm>
          <a:prstGeom prst="rect">
            <a:avLst/>
          </a:prstGeom>
          <a:noFill/>
          <a:ln/>
        </p:spPr>
        <p:txBody>
          <a:bodyPr wrap="square" lIns="25400" tIns="25400" rIns="25400" bIns="25400" rtlCol="0" anchor="t">
            <a:normAutofit/>
          </a:bodyPr>
          <a:lstStyle/>
          <a:p>
            <a:pPr algn="l" indent="0" marL="0">
              <a:buNone/>
            </a:pPr>
            <a:r>
              <a:rPr lang="en-US" sz="1875" u="sng" dirty="0">
                <a:solidFill>
                  <a:srgbClr val="2F6FBB"/>
                </a:solidFill>
                <a:latin typeface="Courier New" pitchFamily="34" charset="0"/>
                <a:ea typeface="Courier New" pitchFamily="34" charset="-122"/>
                <a:cs typeface="Courier New"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lme4 ↗</a:t>
            </a:r>
            <a:endParaRPr lang="en-US" sz="1875" dirty="0"/>
          </a:p>
        </p:txBody>
      </p:sp>
      <p:sp>
        <p:nvSpPr>
          <p:cNvPr id="33" name="Shape 31"/>
          <p:cNvSpPr/>
          <p:nvPr/>
        </p:nvSpPr>
        <p:spPr>
          <a:xfrm>
            <a:off x="914400" y="7035105"/>
            <a:ext cx="16459200" cy="2489895"/>
          </a:xfrm>
          <a:prstGeom prst="roundRect">
            <a:avLst>
              <a:gd name="adj" fmla="val 3060"/>
            </a:avLst>
          </a:prstGeom>
          <a:solidFill>
            <a:srgbClr val="14211B"/>
          </a:solidFill>
          <a:ln/>
        </p:spPr>
        <p:txBody>
          <a:bodyPr/>
          <a:p/>
        </p:txBody>
      </p:sp>
      <p:sp>
        <p:nvSpPr>
          <p:cNvPr id="34" name="Text 32"/>
          <p:cNvSpPr/>
          <p:nvPr/>
        </p:nvSpPr>
        <p:spPr>
          <a:xfrm>
            <a:off x="1295400" y="8046690"/>
            <a:ext cx="3000167" cy="504825"/>
          </a:xfrm>
          <a:prstGeom prst="rect">
            <a:avLst/>
          </a:prstGeom>
          <a:noFill/>
          <a:ln/>
        </p:spPr>
        <p:txBody>
          <a:bodyPr wrap="none" lIns="25400" tIns="25400" rIns="25400" bIns="25400" rtlCol="0" anchor="t">
            <a:normAutofit/>
          </a:bodyPr>
          <a:lstStyle/>
          <a:p>
            <a:pPr algn="l" indent="0" marL="0">
              <a:buNone/>
            </a:pPr>
            <a:r>
              <a:rPr lang="en-US" sz="2400" dirty="0">
                <a:solidFill>
                  <a:srgbClr val="F4F1EA"/>
                </a:solidFill>
                <a:latin typeface="Georgia" pitchFamily="34" charset="0"/>
                <a:ea typeface="Georgia" pitchFamily="34" charset="-122"/>
                <a:cs typeface="Georgia" pitchFamily="34" charset="-120"/>
              </a:rPr>
              <a:t>AI coding assistants</a:t>
            </a:r>
            <a:endParaRPr lang="en-US" sz="2400" dirty="0"/>
          </a:p>
        </p:txBody>
      </p:sp>
      <p:sp>
        <p:nvSpPr>
          <p:cNvPr id="35" name="Text 33"/>
          <p:cNvSpPr/>
          <p:nvPr/>
        </p:nvSpPr>
        <p:spPr>
          <a:xfrm>
            <a:off x="4403824" y="7946678"/>
            <a:ext cx="12966439"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CBD8CE"/>
                </a:solidFill>
                <a:latin typeface="Arial" pitchFamily="34" charset="0"/>
                <a:ea typeface="Arial" pitchFamily="34" charset="-122"/>
                <a:cs typeface="Arial" pitchFamily="34" charset="-120"/>
              </a:rPr>
              <a:t>Used for scripting, refactoring, and documentation — </a:t>
            </a:r>
            <a:pPr algn="l" indent="0" marL="0">
              <a:lnSpc>
                <a:spcPct val="140000"/>
              </a:lnSpc>
              <a:buNone/>
            </a:pPr>
            <a:r>
              <a:rPr lang="en-US" sz="1875" u="sng" dirty="0">
                <a:solidFill>
                  <a:srgbClr val="8FB7D8"/>
                </a:solidFill>
                <a:latin typeface="Courier New" pitchFamily="34" charset="0"/>
                <a:ea typeface="Courier New" pitchFamily="34" charset="-122"/>
                <a:cs typeface="Courier New"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Claude ↗ </a:t>
            </a:r>
            <a:pPr algn="l" indent="0" marL="0">
              <a:lnSpc>
                <a:spcPct val="140000"/>
              </a:lnSpc>
              <a:buNone/>
            </a:pPr>
            <a:r>
              <a:rPr lang="en-US" sz="1875" dirty="0">
                <a:solidFill>
                  <a:srgbClr val="CBD8CE"/>
                </a:solidFill>
                <a:latin typeface="Arial" pitchFamily="34" charset="0"/>
                <a:ea typeface="Arial" pitchFamily="34" charset="-122"/>
                <a:cs typeface="Arial" pitchFamily="34" charset="-120"/>
              </a:rPr>
              <a:t>&amp; code agents. Every claim still passes the primary-source evidence gate and is recorded in the verification log.</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7620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RESULT 1 · ENRICHMENT — THE EXPECTED BASELINE</a:t>
            </a:r>
            <a:endParaRPr lang="en-US" sz="1650" dirty="0"/>
          </a:p>
        </p:txBody>
      </p:sp>
      <p:sp>
        <p:nvSpPr>
          <p:cNvPr id="3" name="Text 1"/>
          <p:cNvSpPr/>
          <p:nvPr/>
        </p:nvSpPr>
        <p:spPr>
          <a:xfrm>
            <a:off x="914400" y="1166813"/>
            <a:ext cx="18105120" cy="658118"/>
          </a:xfrm>
          <a:prstGeom prst="rect">
            <a:avLst/>
          </a:prstGeom>
          <a:noFill/>
          <a:ln/>
        </p:spPr>
        <p:txBody>
          <a:bodyPr wrap="square" lIns="25400" tIns="25400" rIns="25400" bIns="25400" rtlCol="0" anchor="t">
            <a:normAutofit/>
          </a:bodyPr>
          <a:lstStyle/>
          <a:p>
            <a:pPr algn="l" indent="0" marL="0">
              <a:lnSpc>
                <a:spcPct val="105000"/>
              </a:lnSpc>
              <a:buNone/>
            </a:pPr>
            <a:r>
              <a:rPr lang="en-US" sz="4650" spc="-46" kern="0" dirty="0">
                <a:solidFill>
                  <a:srgbClr val="1C2A24"/>
                </a:solidFill>
                <a:latin typeface="Georgia" pitchFamily="34" charset="0"/>
                <a:ea typeface="Georgia" pitchFamily="34" charset="-122"/>
                <a:cs typeface="Georgia" pitchFamily="34" charset="-120"/>
              </a:rPr>
              <a:t>Resistance positions sit far closer to the core than chance</a:t>
            </a:r>
            <a:endParaRPr lang="en-US" sz="4650" dirty="0"/>
          </a:p>
        </p:txBody>
      </p:sp>
      <p:sp>
        <p:nvSpPr>
          <p:cNvPr id="4" name="Text 2"/>
          <p:cNvSpPr/>
          <p:nvPr/>
        </p:nvSpPr>
        <p:spPr>
          <a:xfrm>
            <a:off x="914400" y="3529459"/>
            <a:ext cx="1563521" cy="476250"/>
          </a:xfrm>
          <a:prstGeom prst="rect">
            <a:avLst/>
          </a:prstGeom>
          <a:noFill/>
          <a:ln/>
        </p:spPr>
        <p:txBody>
          <a:bodyPr wrap="square" lIns="25400" tIns="25400" rIns="25400" bIns="25400" rtlCol="0" anchor="t">
            <a:normAutofit/>
          </a:bodyPr>
          <a:lstStyle/>
          <a:p>
            <a:pPr algn="l" indent="0" marL="0">
              <a:buNone/>
            </a:pPr>
            <a:r>
              <a:rPr lang="en-US" sz="2250" dirty="0">
                <a:solidFill>
                  <a:srgbClr val="1C2A24"/>
                </a:solidFill>
                <a:latin typeface="Georgia" pitchFamily="34" charset="0"/>
                <a:ea typeface="Georgia" pitchFamily="34" charset="-122"/>
                <a:cs typeface="Georgia" pitchFamily="34" charset="-120"/>
              </a:rPr>
              <a:t>ALS/AHAS</a:t>
            </a:r>
            <a:endParaRPr lang="en-US" sz="2250" dirty="0"/>
          </a:p>
        </p:txBody>
      </p:sp>
      <p:sp>
        <p:nvSpPr>
          <p:cNvPr id="5" name="Text 3"/>
          <p:cNvSpPr/>
          <p:nvPr/>
        </p:nvSpPr>
        <p:spPr>
          <a:xfrm>
            <a:off x="7795171" y="3529459"/>
            <a:ext cx="2754905" cy="476250"/>
          </a:xfrm>
          <a:prstGeom prst="rect">
            <a:avLst/>
          </a:prstGeom>
          <a:noFill/>
          <a:ln/>
        </p:spPr>
        <p:txBody>
          <a:bodyPr wrap="square" lIns="25400" tIns="25400" rIns="25400" bIns="25400" rtlCol="0" anchor="t">
            <a:normAutofit/>
          </a:bodyPr>
          <a:lstStyle/>
          <a:p>
            <a:pPr algn="l" indent="0" marL="0">
              <a:buNone/>
            </a:pPr>
            <a:r>
              <a:rPr lang="en-US" sz="1950" dirty="0">
                <a:solidFill>
                  <a:srgbClr val="5A6660"/>
                </a:solidFill>
                <a:latin typeface="Courier New" pitchFamily="34" charset="0"/>
                <a:ea typeface="Courier New" pitchFamily="34" charset="-122"/>
                <a:cs typeface="Courier New" pitchFamily="34" charset="-120"/>
              </a:rPr>
              <a:t>obs 4.6 · p=0.0001</a:t>
            </a:r>
            <a:endParaRPr lang="en-US" sz="1950" dirty="0"/>
          </a:p>
        </p:txBody>
      </p:sp>
      <p:sp>
        <p:nvSpPr>
          <p:cNvPr id="6" name="Shape 4"/>
          <p:cNvSpPr/>
          <p:nvPr/>
        </p:nvSpPr>
        <p:spPr>
          <a:xfrm>
            <a:off x="914400" y="4043809"/>
            <a:ext cx="9555435" cy="323850"/>
          </a:xfrm>
          <a:prstGeom prst="roundRect">
            <a:avLst>
              <a:gd name="adj" fmla="val 11765"/>
            </a:avLst>
          </a:prstGeom>
          <a:solidFill>
            <a:srgbClr val="E4E9E5"/>
          </a:solidFill>
          <a:ln/>
        </p:spPr>
        <p:txBody>
          <a:bodyPr/>
          <a:p/>
        </p:txBody>
      </p:sp>
      <p:sp>
        <p:nvSpPr>
          <p:cNvPr id="7" name="Shape 5"/>
          <p:cNvSpPr/>
          <p:nvPr/>
        </p:nvSpPr>
        <p:spPr>
          <a:xfrm>
            <a:off x="914400" y="4043809"/>
            <a:ext cx="4777680" cy="323850"/>
          </a:xfrm>
          <a:prstGeom prst="roundRect">
            <a:avLst>
              <a:gd name="adj" fmla="val 11765"/>
            </a:avLst>
          </a:prstGeom>
          <a:solidFill>
            <a:srgbClr val="C8C8C8"/>
          </a:solidFill>
          <a:ln/>
        </p:spPr>
        <p:txBody>
          <a:bodyPr/>
          <a:p/>
        </p:txBody>
      </p:sp>
      <p:sp>
        <p:nvSpPr>
          <p:cNvPr id="8" name="Shape 6"/>
          <p:cNvSpPr/>
          <p:nvPr/>
        </p:nvSpPr>
        <p:spPr>
          <a:xfrm>
            <a:off x="914400" y="4043809"/>
            <a:ext cx="439489" cy="323850"/>
          </a:xfrm>
          <a:prstGeom prst="roundRect">
            <a:avLst>
              <a:gd name="adj" fmla="val 11765"/>
            </a:avLst>
          </a:prstGeom>
          <a:solidFill>
            <a:srgbClr val="46945F"/>
          </a:solidFill>
          <a:ln/>
        </p:spPr>
        <p:txBody>
          <a:bodyPr/>
          <a:p/>
        </p:txBody>
      </p:sp>
      <p:sp>
        <p:nvSpPr>
          <p:cNvPr id="9" name="Text 7"/>
          <p:cNvSpPr/>
          <p:nvPr/>
        </p:nvSpPr>
        <p:spPr>
          <a:xfrm>
            <a:off x="914400" y="4615309"/>
            <a:ext cx="671438" cy="476250"/>
          </a:xfrm>
          <a:prstGeom prst="rect">
            <a:avLst/>
          </a:prstGeom>
          <a:noFill/>
          <a:ln/>
        </p:spPr>
        <p:txBody>
          <a:bodyPr wrap="square" lIns="25400" tIns="25400" rIns="25400" bIns="25400" rtlCol="0" anchor="t">
            <a:normAutofit/>
          </a:bodyPr>
          <a:lstStyle/>
          <a:p>
            <a:pPr algn="l" indent="0" marL="0">
              <a:buNone/>
            </a:pPr>
            <a:r>
              <a:rPr lang="en-US" sz="2250" dirty="0">
                <a:solidFill>
                  <a:srgbClr val="1C2A24"/>
                </a:solidFill>
                <a:latin typeface="Georgia" pitchFamily="34" charset="0"/>
                <a:ea typeface="Georgia" pitchFamily="34" charset="-122"/>
                <a:cs typeface="Georgia" pitchFamily="34" charset="-120"/>
              </a:rPr>
              <a:t>PPO</a:t>
            </a:r>
            <a:endParaRPr lang="en-US" sz="2250" dirty="0"/>
          </a:p>
        </p:txBody>
      </p:sp>
      <p:sp>
        <p:nvSpPr>
          <p:cNvPr id="10" name="Text 8"/>
          <p:cNvSpPr/>
          <p:nvPr/>
        </p:nvSpPr>
        <p:spPr>
          <a:xfrm>
            <a:off x="7795171" y="4615309"/>
            <a:ext cx="2754905" cy="476250"/>
          </a:xfrm>
          <a:prstGeom prst="rect">
            <a:avLst/>
          </a:prstGeom>
          <a:noFill/>
          <a:ln/>
        </p:spPr>
        <p:txBody>
          <a:bodyPr wrap="square" lIns="25400" tIns="25400" rIns="25400" bIns="25400" rtlCol="0" anchor="t">
            <a:normAutofit/>
          </a:bodyPr>
          <a:lstStyle/>
          <a:p>
            <a:pPr algn="l" indent="0" marL="0">
              <a:buNone/>
            </a:pPr>
            <a:r>
              <a:rPr lang="en-US" sz="1950" dirty="0">
                <a:solidFill>
                  <a:srgbClr val="5A6660"/>
                </a:solidFill>
                <a:latin typeface="Courier New" pitchFamily="34" charset="0"/>
                <a:ea typeface="Courier New" pitchFamily="34" charset="-122"/>
                <a:cs typeface="Courier New" pitchFamily="34" charset="-120"/>
              </a:rPr>
              <a:t>obs 8.0 · p=0.0004</a:t>
            </a:r>
            <a:endParaRPr lang="en-US" sz="1950" dirty="0"/>
          </a:p>
        </p:txBody>
      </p:sp>
      <p:sp>
        <p:nvSpPr>
          <p:cNvPr id="11" name="Shape 9"/>
          <p:cNvSpPr/>
          <p:nvPr/>
        </p:nvSpPr>
        <p:spPr>
          <a:xfrm>
            <a:off x="914400" y="5129659"/>
            <a:ext cx="9555435" cy="323850"/>
          </a:xfrm>
          <a:prstGeom prst="roundRect">
            <a:avLst>
              <a:gd name="adj" fmla="val 11765"/>
            </a:avLst>
          </a:prstGeom>
          <a:solidFill>
            <a:srgbClr val="E4E9E5"/>
          </a:solidFill>
          <a:ln/>
        </p:spPr>
        <p:txBody>
          <a:bodyPr/>
          <a:p/>
        </p:txBody>
      </p:sp>
      <p:sp>
        <p:nvSpPr>
          <p:cNvPr id="12" name="Shape 10"/>
          <p:cNvSpPr/>
          <p:nvPr/>
        </p:nvSpPr>
        <p:spPr>
          <a:xfrm>
            <a:off x="914400" y="5129659"/>
            <a:ext cx="4777680" cy="323850"/>
          </a:xfrm>
          <a:prstGeom prst="roundRect">
            <a:avLst>
              <a:gd name="adj" fmla="val 11765"/>
            </a:avLst>
          </a:prstGeom>
          <a:solidFill>
            <a:srgbClr val="C8C8C8"/>
          </a:solidFill>
          <a:ln/>
        </p:spPr>
        <p:txBody>
          <a:bodyPr/>
          <a:p/>
        </p:txBody>
      </p:sp>
      <p:sp>
        <p:nvSpPr>
          <p:cNvPr id="13" name="Shape 11"/>
          <p:cNvSpPr/>
          <p:nvPr/>
        </p:nvSpPr>
        <p:spPr>
          <a:xfrm>
            <a:off x="914400" y="5129659"/>
            <a:ext cx="764381" cy="323850"/>
          </a:xfrm>
          <a:prstGeom prst="roundRect">
            <a:avLst>
              <a:gd name="adj" fmla="val 11765"/>
            </a:avLst>
          </a:prstGeom>
          <a:solidFill>
            <a:srgbClr val="9B4D8B"/>
          </a:solidFill>
          <a:ln/>
        </p:spPr>
        <p:txBody>
          <a:bodyPr/>
          <a:p/>
        </p:txBody>
      </p:sp>
      <p:sp>
        <p:nvSpPr>
          <p:cNvPr id="14" name="Text 12"/>
          <p:cNvSpPr/>
          <p:nvPr/>
        </p:nvSpPr>
        <p:spPr>
          <a:xfrm>
            <a:off x="914400" y="5701159"/>
            <a:ext cx="1098352" cy="476250"/>
          </a:xfrm>
          <a:prstGeom prst="rect">
            <a:avLst/>
          </a:prstGeom>
          <a:noFill/>
          <a:ln/>
        </p:spPr>
        <p:txBody>
          <a:bodyPr wrap="square" lIns="25400" tIns="25400" rIns="25400" bIns="25400" rtlCol="0" anchor="t">
            <a:normAutofit/>
          </a:bodyPr>
          <a:lstStyle/>
          <a:p>
            <a:pPr algn="l" indent="0" marL="0">
              <a:buNone/>
            </a:pPr>
            <a:r>
              <a:rPr lang="en-US" sz="2250" dirty="0">
                <a:solidFill>
                  <a:srgbClr val="1C2A24"/>
                </a:solidFill>
                <a:latin typeface="Georgia" pitchFamily="34" charset="0"/>
                <a:ea typeface="Georgia" pitchFamily="34" charset="-122"/>
                <a:cs typeface="Georgia" pitchFamily="34" charset="-120"/>
              </a:rPr>
              <a:t>ACCase</a:t>
            </a:r>
            <a:endParaRPr lang="en-US" sz="2250" dirty="0"/>
          </a:p>
        </p:txBody>
      </p:sp>
      <p:sp>
        <p:nvSpPr>
          <p:cNvPr id="15" name="Text 13"/>
          <p:cNvSpPr/>
          <p:nvPr/>
        </p:nvSpPr>
        <p:spPr>
          <a:xfrm>
            <a:off x="7646566" y="5701159"/>
            <a:ext cx="2907968" cy="476250"/>
          </a:xfrm>
          <a:prstGeom prst="rect">
            <a:avLst/>
          </a:prstGeom>
          <a:noFill/>
          <a:ln/>
        </p:spPr>
        <p:txBody>
          <a:bodyPr wrap="square" lIns="25400" tIns="25400" rIns="25400" bIns="25400" rtlCol="0" anchor="t">
            <a:normAutofit/>
          </a:bodyPr>
          <a:lstStyle/>
          <a:p>
            <a:pPr algn="l" indent="0" marL="0">
              <a:buNone/>
            </a:pPr>
            <a:r>
              <a:rPr lang="en-US" sz="1950" dirty="0">
                <a:solidFill>
                  <a:srgbClr val="5A6660"/>
                </a:solidFill>
                <a:latin typeface="Courier New" pitchFamily="34" charset="0"/>
                <a:ea typeface="Courier New" pitchFamily="34" charset="-122"/>
                <a:cs typeface="Courier New" pitchFamily="34" charset="-120"/>
              </a:rPr>
              <a:t>obs 13.2 · p=0.0003</a:t>
            </a:r>
            <a:endParaRPr lang="en-US" sz="1950" dirty="0"/>
          </a:p>
        </p:txBody>
      </p:sp>
      <p:sp>
        <p:nvSpPr>
          <p:cNvPr id="16" name="Shape 14"/>
          <p:cNvSpPr/>
          <p:nvPr/>
        </p:nvSpPr>
        <p:spPr>
          <a:xfrm>
            <a:off x="914400" y="6215509"/>
            <a:ext cx="9555435" cy="323850"/>
          </a:xfrm>
          <a:prstGeom prst="roundRect">
            <a:avLst>
              <a:gd name="adj" fmla="val 11765"/>
            </a:avLst>
          </a:prstGeom>
          <a:solidFill>
            <a:srgbClr val="E4E9E5"/>
          </a:solidFill>
          <a:ln/>
        </p:spPr>
        <p:txBody>
          <a:bodyPr/>
          <a:p/>
        </p:txBody>
      </p:sp>
      <p:sp>
        <p:nvSpPr>
          <p:cNvPr id="17" name="Shape 15"/>
          <p:cNvSpPr/>
          <p:nvPr/>
        </p:nvSpPr>
        <p:spPr>
          <a:xfrm>
            <a:off x="914400" y="6215509"/>
            <a:ext cx="4777680" cy="323850"/>
          </a:xfrm>
          <a:prstGeom prst="roundRect">
            <a:avLst>
              <a:gd name="adj" fmla="val 11765"/>
            </a:avLst>
          </a:prstGeom>
          <a:solidFill>
            <a:srgbClr val="C8C8C8"/>
          </a:solidFill>
          <a:ln/>
        </p:spPr>
        <p:txBody>
          <a:bodyPr/>
          <a:p/>
        </p:txBody>
      </p:sp>
      <p:sp>
        <p:nvSpPr>
          <p:cNvPr id="18" name="Shape 16"/>
          <p:cNvSpPr/>
          <p:nvPr/>
        </p:nvSpPr>
        <p:spPr>
          <a:xfrm>
            <a:off x="914400" y="6215509"/>
            <a:ext cx="1261244" cy="323850"/>
          </a:xfrm>
          <a:prstGeom prst="roundRect">
            <a:avLst>
              <a:gd name="adj" fmla="val 11765"/>
            </a:avLst>
          </a:prstGeom>
          <a:solidFill>
            <a:srgbClr val="3F6FB5"/>
          </a:solidFill>
          <a:ln/>
        </p:spPr>
        <p:txBody>
          <a:bodyPr/>
          <a:p/>
        </p:txBody>
      </p:sp>
      <p:sp>
        <p:nvSpPr>
          <p:cNvPr id="19" name="Text 17"/>
          <p:cNvSpPr/>
          <p:nvPr/>
        </p:nvSpPr>
        <p:spPr>
          <a:xfrm>
            <a:off x="914400" y="6787009"/>
            <a:ext cx="1395636" cy="476250"/>
          </a:xfrm>
          <a:prstGeom prst="rect">
            <a:avLst/>
          </a:prstGeom>
          <a:noFill/>
          <a:ln/>
        </p:spPr>
        <p:txBody>
          <a:bodyPr wrap="square" lIns="25400" tIns="25400" rIns="25400" bIns="25400" rtlCol="0" anchor="t">
            <a:normAutofit/>
          </a:bodyPr>
          <a:lstStyle/>
          <a:p>
            <a:pPr algn="l" indent="0" marL="0">
              <a:buNone/>
            </a:pPr>
            <a:r>
              <a:rPr lang="en-US" sz="2250" dirty="0">
                <a:solidFill>
                  <a:srgbClr val="1C2A24"/>
                </a:solidFill>
                <a:latin typeface="Georgia" pitchFamily="34" charset="0"/>
                <a:ea typeface="Georgia" pitchFamily="34" charset="-122"/>
                <a:cs typeface="Georgia" pitchFamily="34" charset="-120"/>
              </a:rPr>
              <a:t>EPSPS </a:t>
            </a:r>
            <a:pPr algn="l" indent="0" marL="0">
              <a:buNone/>
            </a:pPr>
            <a:r>
              <a:rPr lang="en-US" sz="1500" dirty="0">
                <a:solidFill>
                  <a:srgbClr val="C28B2C"/>
                </a:solidFill>
                <a:latin typeface="Courier New" pitchFamily="34" charset="0"/>
                <a:ea typeface="Courier New" pitchFamily="34" charset="-122"/>
                <a:cs typeface="Courier New" pitchFamily="34" charset="-120"/>
              </a:rPr>
              <a:t>n=2</a:t>
            </a:r>
            <a:endParaRPr lang="en-US" sz="2250" dirty="0"/>
          </a:p>
        </p:txBody>
      </p:sp>
      <p:sp>
        <p:nvSpPr>
          <p:cNvPr id="20" name="Text 18"/>
          <p:cNvSpPr/>
          <p:nvPr/>
        </p:nvSpPr>
        <p:spPr>
          <a:xfrm>
            <a:off x="7200826" y="6787009"/>
            <a:ext cx="3367080" cy="476250"/>
          </a:xfrm>
          <a:prstGeom prst="rect">
            <a:avLst/>
          </a:prstGeom>
          <a:noFill/>
          <a:ln/>
        </p:spPr>
        <p:txBody>
          <a:bodyPr wrap="square" lIns="25400" tIns="25400" rIns="25400" bIns="25400" rtlCol="0" anchor="t">
            <a:normAutofit/>
          </a:bodyPr>
          <a:lstStyle/>
          <a:p>
            <a:pPr algn="l" indent="0" marL="0">
              <a:buNone/>
            </a:pPr>
            <a:r>
              <a:rPr lang="en-US" sz="1950" dirty="0">
                <a:solidFill>
                  <a:srgbClr val="5A6660"/>
                </a:solidFill>
                <a:latin typeface="Courier New" pitchFamily="34" charset="0"/>
                <a:ea typeface="Courier New" pitchFamily="34" charset="-122"/>
                <a:cs typeface="Courier New" pitchFamily="34" charset="-120"/>
              </a:rPr>
              <a:t>obs 9.4 · p=0.0147</a:t>
            </a:r>
            <a:endParaRPr lang="en-US" sz="1950" dirty="0"/>
          </a:p>
        </p:txBody>
      </p:sp>
      <p:sp>
        <p:nvSpPr>
          <p:cNvPr id="21" name="Shape 19"/>
          <p:cNvSpPr/>
          <p:nvPr/>
        </p:nvSpPr>
        <p:spPr>
          <a:xfrm>
            <a:off x="914400" y="7301359"/>
            <a:ext cx="9555435" cy="323850"/>
          </a:xfrm>
          <a:prstGeom prst="roundRect">
            <a:avLst>
              <a:gd name="adj" fmla="val 11765"/>
            </a:avLst>
          </a:prstGeom>
          <a:solidFill>
            <a:srgbClr val="E4E9E5"/>
          </a:solidFill>
          <a:ln/>
        </p:spPr>
        <p:txBody>
          <a:bodyPr/>
          <a:p/>
        </p:txBody>
      </p:sp>
      <p:sp>
        <p:nvSpPr>
          <p:cNvPr id="22" name="Shape 20"/>
          <p:cNvSpPr/>
          <p:nvPr/>
        </p:nvSpPr>
        <p:spPr>
          <a:xfrm>
            <a:off x="914400" y="7301359"/>
            <a:ext cx="4777680" cy="323850"/>
          </a:xfrm>
          <a:prstGeom prst="roundRect">
            <a:avLst>
              <a:gd name="adj" fmla="val 11765"/>
            </a:avLst>
          </a:prstGeom>
          <a:solidFill>
            <a:srgbClr val="C8C8C8"/>
          </a:solidFill>
          <a:ln/>
        </p:spPr>
        <p:txBody>
          <a:bodyPr/>
          <a:p/>
        </p:txBody>
      </p:sp>
      <p:sp>
        <p:nvSpPr>
          <p:cNvPr id="23" name="Shape 21"/>
          <p:cNvSpPr/>
          <p:nvPr/>
        </p:nvSpPr>
        <p:spPr>
          <a:xfrm>
            <a:off x="914400" y="7301359"/>
            <a:ext cx="1232595" cy="323850"/>
          </a:xfrm>
          <a:prstGeom prst="roundRect">
            <a:avLst>
              <a:gd name="adj" fmla="val 11765"/>
            </a:avLst>
          </a:prstGeom>
          <a:solidFill>
            <a:srgbClr val="C28B2C"/>
          </a:solidFill>
          <a:ln/>
        </p:spPr>
        <p:txBody>
          <a:bodyPr/>
          <a:p/>
        </p:txBody>
      </p:sp>
      <p:sp>
        <p:nvSpPr>
          <p:cNvPr id="24" name="Text 22"/>
          <p:cNvSpPr/>
          <p:nvPr/>
        </p:nvSpPr>
        <p:spPr>
          <a:xfrm>
            <a:off x="914400" y="7930009"/>
            <a:ext cx="2452799" cy="309563"/>
          </a:xfrm>
          <a:prstGeom prst="rect">
            <a:avLst/>
          </a:prstGeom>
          <a:noFill/>
          <a:ln/>
        </p:spPr>
        <p:txBody>
          <a:bodyPr wrap="square" lIns="25400" tIns="25400" rIns="25400" bIns="25400" rtlCol="0" anchor="t">
            <a:normAutofit/>
          </a:bodyPr>
          <a:lstStyle/>
          <a:p>
            <a:pPr algn="l" indent="0" marL="0">
              <a:buNone/>
            </a:pPr>
            <a:r>
              <a:rPr lang="en-US" sz="1650" dirty="0">
                <a:solidFill>
                  <a:srgbClr val="5A6660"/>
                </a:solidFill>
                <a:latin typeface="Courier New" pitchFamily="34" charset="0"/>
                <a:ea typeface="Courier New" pitchFamily="34" charset="-122"/>
                <a:cs typeface="Courier New" pitchFamily="34" charset="-120"/>
              </a:rPr>
              <a:t>random mean ≈ 50</a:t>
            </a:r>
            <a:endParaRPr lang="en-US" sz="1650" dirty="0"/>
          </a:p>
        </p:txBody>
      </p:sp>
      <p:sp>
        <p:nvSpPr>
          <p:cNvPr id="25" name="Text 23"/>
          <p:cNvSpPr/>
          <p:nvPr/>
        </p:nvSpPr>
        <p:spPr>
          <a:xfrm>
            <a:off x="3449017" y="7930009"/>
            <a:ext cx="2627806" cy="309563"/>
          </a:xfrm>
          <a:prstGeom prst="rect">
            <a:avLst/>
          </a:prstGeom>
          <a:noFill/>
          <a:ln/>
        </p:spPr>
        <p:txBody>
          <a:bodyPr wrap="square" lIns="25400" tIns="25400" rIns="25400" bIns="25400" rtlCol="0" anchor="t">
            <a:normAutofit/>
          </a:bodyPr>
          <a:lstStyle/>
          <a:p>
            <a:pPr algn="l" indent="0" marL="0">
              <a:buNone/>
            </a:pPr>
            <a:r>
              <a:rPr lang="en-US" sz="1650" dirty="0">
                <a:solidFill>
                  <a:srgbClr val="5A6660"/>
                </a:solidFill>
                <a:latin typeface="Courier New" pitchFamily="34" charset="0"/>
                <a:ea typeface="Courier New" pitchFamily="34" charset="-122"/>
                <a:cs typeface="Courier New" pitchFamily="34" charset="-120"/>
              </a:rPr>
              <a:t>0 = closest to core</a:t>
            </a:r>
            <a:endParaRPr lang="en-US" sz="1650" dirty="0"/>
          </a:p>
        </p:txBody>
      </p:sp>
      <p:sp>
        <p:nvSpPr>
          <p:cNvPr id="26" name="Shape 24"/>
          <p:cNvSpPr/>
          <p:nvPr/>
        </p:nvSpPr>
        <p:spPr>
          <a:xfrm>
            <a:off x="11003235" y="3853532"/>
            <a:ext cx="6370290" cy="4023792"/>
          </a:xfrm>
          <a:prstGeom prst="roundRect">
            <a:avLst>
              <a:gd name="adj" fmla="val 1894"/>
            </a:avLst>
          </a:prstGeom>
          <a:solidFill>
            <a:srgbClr val="14211B"/>
          </a:solidFill>
          <a:ln/>
        </p:spPr>
        <p:txBody>
          <a:bodyPr/>
          <a:p/>
        </p:txBody>
      </p:sp>
      <p:sp>
        <p:nvSpPr>
          <p:cNvPr id="27" name="Text 25"/>
          <p:cNvSpPr/>
          <p:nvPr/>
        </p:nvSpPr>
        <p:spPr>
          <a:xfrm>
            <a:off x="11422335" y="4310732"/>
            <a:ext cx="5698053" cy="866775"/>
          </a:xfrm>
          <a:prstGeom prst="rect">
            <a:avLst/>
          </a:prstGeom>
          <a:noFill/>
          <a:ln/>
        </p:spPr>
        <p:txBody>
          <a:bodyPr wrap="square" lIns="25400" tIns="25400" rIns="25400" bIns="25400" rtlCol="0" anchor="t">
            <a:normAutofit/>
          </a:bodyPr>
          <a:lstStyle/>
          <a:p>
            <a:pPr algn="l" indent="0" marL="0">
              <a:lnSpc>
                <a:spcPct val="150000"/>
              </a:lnSpc>
              <a:buNone/>
            </a:pPr>
            <a:r>
              <a:rPr lang="en-US" sz="2175" dirty="0">
                <a:solidFill>
                  <a:srgbClr val="CBD8CE"/>
                </a:solidFill>
                <a:latin typeface="Arial" pitchFamily="34" charset="0"/>
                <a:ea typeface="Arial" pitchFamily="34" charset="-122"/>
                <a:cs typeface="Arial" pitchFamily="34" charset="-120"/>
              </a:rPr>
              <a:t>Three unrelated enzyme families, the same signal:</a:t>
            </a:r>
            <a:endParaRPr lang="en-US" sz="2175" dirty="0"/>
          </a:p>
        </p:txBody>
      </p:sp>
      <p:sp>
        <p:nvSpPr>
          <p:cNvPr id="28" name="Text 26"/>
          <p:cNvSpPr/>
          <p:nvPr/>
        </p:nvSpPr>
        <p:spPr>
          <a:xfrm>
            <a:off x="11422335" y="5368007"/>
            <a:ext cx="6085299" cy="781050"/>
          </a:xfrm>
          <a:prstGeom prst="rect">
            <a:avLst/>
          </a:prstGeom>
          <a:noFill/>
          <a:ln/>
        </p:spPr>
        <p:txBody>
          <a:bodyPr wrap="square" lIns="25400" tIns="25400" rIns="25400" bIns="25400" rtlCol="0" anchor="t">
            <a:normAutofit/>
          </a:bodyPr>
          <a:lstStyle/>
          <a:p>
            <a:pPr algn="l" indent="0" marL="0">
              <a:lnSpc>
                <a:spcPct val="100000"/>
              </a:lnSpc>
              <a:buNone/>
            </a:pPr>
            <a:r>
              <a:rPr lang="en-US" sz="5850" dirty="0">
                <a:solidFill>
                  <a:srgbClr val="8FBF9E"/>
                </a:solidFill>
                <a:latin typeface="Georgia" pitchFamily="34" charset="0"/>
                <a:ea typeface="Georgia" pitchFamily="34" charset="-122"/>
                <a:cs typeface="Georgia" pitchFamily="34" charset="-120"/>
              </a:rPr>
              <a:t>p &lt; 0.001</a:t>
            </a:r>
            <a:endParaRPr lang="en-US" sz="5850" dirty="0"/>
          </a:p>
        </p:txBody>
      </p:sp>
      <p:sp>
        <p:nvSpPr>
          <p:cNvPr id="29" name="Text 27"/>
          <p:cNvSpPr/>
          <p:nvPr/>
        </p:nvSpPr>
        <p:spPr>
          <a:xfrm>
            <a:off x="11422335" y="6301457"/>
            <a:ext cx="5698053" cy="115676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CBD8CE"/>
                </a:solidFill>
                <a:latin typeface="Arial" pitchFamily="34" charset="0"/>
                <a:ea typeface="Arial" pitchFamily="34" charset="-122"/>
                <a:cs typeface="Arial" pitchFamily="34" charset="-120"/>
              </a:rPr>
              <a:t>for PPO, ALS/AHAS, and ACCase — resistance positions land far nearer the active-site core than random residues.</a:t>
            </a:r>
            <a:endParaRPr lang="en-US" sz="20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5540"/>
        </a:solidFill>
      </p:bgPr>
    </p:bg>
    <p:spTree>
      <p:nvGrpSpPr>
        <p:cNvPr id="1" name=""/>
        <p:cNvGrpSpPr/>
        <p:nvPr/>
      </p:nvGrpSpPr>
      <p:grpSpPr>
        <a:xfrm>
          <a:off x="0" y="0"/>
          <a:ext cx="0" cy="0"/>
          <a:chOff x="0" y="0"/>
          <a:chExt cx="0" cy="0"/>
        </a:xfrm>
      </p:grpSpPr>
      <p:sp>
        <p:nvSpPr>
          <p:cNvPr id="2" name="Text 0"/>
          <p:cNvSpPr/>
          <p:nvPr/>
        </p:nvSpPr>
        <p:spPr>
          <a:xfrm>
            <a:off x="990600" y="838200"/>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A9CDB6"/>
                </a:solidFill>
                <a:latin typeface="Courier New" pitchFamily="34" charset="0"/>
                <a:ea typeface="Courier New" pitchFamily="34" charset="-122"/>
                <a:cs typeface="Courier New" pitchFamily="34" charset="-120"/>
              </a:rPr>
              <a:t>RESULT 2 · THE HONEST STRESS-TEST</a:t>
            </a:r>
            <a:endParaRPr lang="en-US" sz="1650" dirty="0"/>
          </a:p>
        </p:txBody>
      </p:sp>
      <p:sp>
        <p:nvSpPr>
          <p:cNvPr id="3" name="Text 1"/>
          <p:cNvSpPr/>
          <p:nvPr/>
        </p:nvSpPr>
        <p:spPr>
          <a:xfrm>
            <a:off x="990600" y="1243013"/>
            <a:ext cx="15716250" cy="664071"/>
          </a:xfrm>
          <a:prstGeom prst="rect">
            <a:avLst/>
          </a:prstGeom>
          <a:noFill/>
          <a:ln/>
        </p:spPr>
        <p:txBody>
          <a:bodyPr wrap="square" lIns="25400" tIns="25400" rIns="25400" bIns="25400" rtlCol="0" anchor="t">
            <a:normAutofit/>
          </a:bodyPr>
          <a:lstStyle/>
          <a:p>
            <a:pPr algn="l" indent="0" marL="0">
              <a:lnSpc>
                <a:spcPct val="106000"/>
              </a:lnSpc>
              <a:buNone/>
            </a:pPr>
            <a:r>
              <a:rPr lang="en-US" sz="4650" spc="-46" kern="0" dirty="0">
                <a:solidFill>
                  <a:srgbClr val="F4F1EA"/>
                </a:solidFill>
                <a:latin typeface="Georgia" pitchFamily="34" charset="0"/>
                <a:ea typeface="Georgia" pitchFamily="34" charset="-122"/>
                <a:cs typeface="Georgia" pitchFamily="34" charset="-120"/>
              </a:rPr>
              <a:t>Remove the “obvious” residues — the signal still holds</a:t>
            </a:r>
            <a:endParaRPr lang="en-US" sz="4650" dirty="0"/>
          </a:p>
        </p:txBody>
      </p:sp>
      <p:sp>
        <p:nvSpPr>
          <p:cNvPr id="4" name="Shape 2"/>
          <p:cNvSpPr/>
          <p:nvPr/>
        </p:nvSpPr>
        <p:spPr>
          <a:xfrm>
            <a:off x="990600" y="2326184"/>
            <a:ext cx="7924800" cy="7122616"/>
          </a:xfrm>
          <a:prstGeom prst="roundRect">
            <a:avLst>
              <a:gd name="adj" fmla="val 1070"/>
            </a:avLst>
          </a:prstGeom>
          <a:solidFill>
            <a:srgbClr val="FFFFFF">
              <a:alpha val="7000"/>
            </a:srgbClr>
          </a:solidFill>
          <a:ln w="9525">
            <a:solidFill>
              <a:srgbClr val="FFFFFF">
                <a:alpha val="18000"/>
              </a:srgbClr>
            </a:solidFill>
            <a:prstDash val="solid"/>
          </a:ln>
        </p:spPr>
        <p:txBody>
          <a:bodyPr/>
          <a:p/>
        </p:txBody>
      </p:sp>
      <p:sp>
        <p:nvSpPr>
          <p:cNvPr id="5" name="Text 3"/>
          <p:cNvSpPr/>
          <p:nvPr/>
        </p:nvSpPr>
        <p:spPr>
          <a:xfrm>
            <a:off x="1419225" y="4920704"/>
            <a:ext cx="7279577" cy="871538"/>
          </a:xfrm>
          <a:prstGeom prst="rect">
            <a:avLst/>
          </a:prstGeom>
          <a:noFill/>
          <a:ln/>
        </p:spPr>
        <p:txBody>
          <a:bodyPr wrap="square" lIns="25400" tIns="25400" rIns="25400" bIns="25400" rtlCol="0" anchor="t">
            <a:normAutofit/>
          </a:bodyPr>
          <a:lstStyle/>
          <a:p>
            <a:pPr algn="l" indent="0" marL="0">
              <a:lnSpc>
                <a:spcPct val="150000"/>
              </a:lnSpc>
              <a:buNone/>
            </a:pPr>
            <a:r>
              <a:rPr lang="en-US" sz="2175" i="1" dirty="0">
                <a:solidFill>
                  <a:srgbClr val="D6E3DA"/>
                </a:solidFill>
                <a:latin typeface="Arial" pitchFamily="34" charset="0"/>
                <a:ea typeface="Arial" pitchFamily="34" charset="-122"/>
                <a:cs typeface="Arial" pitchFamily="34" charset="-120"/>
              </a:rPr>
              <a:t>The skeptic: </a:t>
            </a:r>
            <a:pPr algn="l" indent="0" marL="0">
              <a:lnSpc>
                <a:spcPct val="150000"/>
              </a:lnSpc>
              <a:buNone/>
            </a:pPr>
            <a:r>
              <a:rPr lang="en-US" sz="2175" dirty="0">
                <a:solidFill>
                  <a:srgbClr val="D6E3DA"/>
                </a:solidFill>
                <a:latin typeface="Arial" pitchFamily="34" charset="0"/>
                <a:ea typeface="Arial" pitchFamily="34" charset="-122"/>
                <a:cs typeface="Arial" pitchFamily="34" charset="-120"/>
              </a:rPr>
              <a:t>“Direct-contact residues score zero distance by construction — of course they're near the core.”</a:t>
            </a:r>
            <a:endParaRPr lang="en-US" sz="2175" dirty="0"/>
          </a:p>
        </p:txBody>
      </p:sp>
      <p:sp>
        <p:nvSpPr>
          <p:cNvPr id="6" name="Text 4"/>
          <p:cNvSpPr/>
          <p:nvPr/>
        </p:nvSpPr>
        <p:spPr>
          <a:xfrm>
            <a:off x="1419225" y="6020842"/>
            <a:ext cx="7279577" cy="871538"/>
          </a:xfrm>
          <a:prstGeom prst="rect">
            <a:avLst/>
          </a:prstGeom>
          <a:noFill/>
          <a:ln/>
        </p:spPr>
        <p:txBody>
          <a:bodyPr wrap="square" lIns="25400" tIns="25400" rIns="25400" bIns="25400" rtlCol="0" anchor="t">
            <a:normAutofit/>
          </a:bodyPr>
          <a:lstStyle/>
          <a:p>
            <a:pPr algn="l" indent="0" marL="0">
              <a:lnSpc>
                <a:spcPct val="150000"/>
              </a:lnSpc>
              <a:buNone/>
            </a:pPr>
            <a:r>
              <a:rPr lang="en-US" sz="2175" i="1" dirty="0">
                <a:solidFill>
                  <a:srgbClr val="FFFFFF"/>
                </a:solidFill>
                <a:latin typeface="Arial" pitchFamily="34" charset="0"/>
                <a:ea typeface="Arial" pitchFamily="34" charset="-122"/>
                <a:cs typeface="Arial" pitchFamily="34" charset="-120"/>
              </a:rPr>
              <a:t>Our answer: </a:t>
            </a:r>
            <a:pPr algn="l" indent="0" marL="0">
              <a:lnSpc>
                <a:spcPct val="150000"/>
              </a:lnSpc>
              <a:buNone/>
            </a:pPr>
            <a:r>
              <a:rPr lang="en-US" sz="2175" dirty="0">
                <a:solidFill>
                  <a:srgbClr val="FFFFFF"/>
                </a:solidFill>
                <a:latin typeface="Arial" pitchFamily="34" charset="0"/>
                <a:ea typeface="Arial" pitchFamily="34" charset="-122"/>
                <a:cs typeface="Arial" pitchFamily="34" charset="-120"/>
              </a:rPr>
              <a:t>drop every direct-core position and re-run on non-core positions only.</a:t>
            </a:r>
            <a:endParaRPr lang="en-US" sz="2175" dirty="0"/>
          </a:p>
        </p:txBody>
      </p:sp>
      <p:sp>
        <p:nvSpPr>
          <p:cNvPr id="7" name="Shape 5"/>
          <p:cNvSpPr/>
          <p:nvPr/>
        </p:nvSpPr>
        <p:spPr>
          <a:xfrm>
            <a:off x="9372600" y="3990603"/>
            <a:ext cx="7924800" cy="1266825"/>
          </a:xfrm>
          <a:prstGeom prst="roundRect">
            <a:avLst>
              <a:gd name="adj" fmla="val 6015"/>
            </a:avLst>
          </a:prstGeom>
          <a:solidFill>
            <a:srgbClr val="14211B"/>
          </a:solidFill>
          <a:ln/>
        </p:spPr>
        <p:txBody>
          <a:bodyPr/>
          <a:p/>
        </p:txBody>
      </p:sp>
      <p:sp>
        <p:nvSpPr>
          <p:cNvPr id="8" name="Text 6"/>
          <p:cNvSpPr/>
          <p:nvPr/>
        </p:nvSpPr>
        <p:spPr>
          <a:xfrm>
            <a:off x="9753600" y="4333503"/>
            <a:ext cx="2504450" cy="619125"/>
          </a:xfrm>
          <a:prstGeom prst="rect">
            <a:avLst/>
          </a:prstGeom>
          <a:noFill/>
          <a:ln/>
        </p:spPr>
        <p:txBody>
          <a:bodyPr wrap="square" lIns="25400" tIns="25400" rIns="25400" bIns="25400" rtlCol="0" anchor="t">
            <a:normAutofit/>
          </a:bodyPr>
          <a:lstStyle/>
          <a:p>
            <a:pPr algn="l" indent="0" marL="0">
              <a:buNone/>
            </a:pPr>
            <a:r>
              <a:rPr lang="en-US" sz="3000" dirty="0">
                <a:solidFill>
                  <a:srgbClr val="F4F1EA"/>
                </a:solidFill>
                <a:latin typeface="Georgia" pitchFamily="34" charset="0"/>
                <a:ea typeface="Georgia" pitchFamily="34" charset="-122"/>
                <a:cs typeface="Georgia" pitchFamily="34" charset="-120"/>
              </a:rPr>
              <a:t>PPO </a:t>
            </a:r>
            <a:pPr algn="l" indent="0" marL="0">
              <a:buNone/>
            </a:pPr>
            <a:r>
              <a:rPr lang="en-US" sz="1800" dirty="0">
                <a:solidFill>
                  <a:srgbClr val="8FB7A0"/>
                </a:solidFill>
                <a:latin typeface="Georgia" pitchFamily="34" charset="0"/>
                <a:ea typeface="Georgia" pitchFamily="34" charset="-122"/>
                <a:cs typeface="Georgia" pitchFamily="34" charset="-120"/>
              </a:rPr>
              <a:t>non-core, n=3</a:t>
            </a:r>
            <a:endParaRPr lang="en-US" sz="3000" dirty="0"/>
          </a:p>
        </p:txBody>
      </p:sp>
      <p:sp>
        <p:nvSpPr>
          <p:cNvPr id="9" name="Text 7"/>
          <p:cNvSpPr/>
          <p:nvPr/>
        </p:nvSpPr>
        <p:spPr>
          <a:xfrm>
            <a:off x="14859000" y="4347790"/>
            <a:ext cx="2263140" cy="533400"/>
          </a:xfrm>
          <a:prstGeom prst="rect">
            <a:avLst/>
          </a:prstGeom>
          <a:noFill/>
          <a:ln/>
        </p:spPr>
        <p:txBody>
          <a:bodyPr wrap="square" lIns="25400" tIns="25400" rIns="25400" bIns="25400" rtlCol="0" anchor="t">
            <a:normAutofit/>
          </a:bodyPr>
          <a:lstStyle/>
          <a:p>
            <a:pPr algn="l" indent="0" marL="0">
              <a:buNone/>
            </a:pPr>
            <a:r>
              <a:rPr lang="en-US" sz="3000" dirty="0">
                <a:solidFill>
                  <a:srgbClr val="8FBF9E"/>
                </a:solidFill>
                <a:latin typeface="Courier New" pitchFamily="34" charset="0"/>
                <a:ea typeface="Courier New" pitchFamily="34" charset="-122"/>
                <a:cs typeface="Courier New" pitchFamily="34" charset="-120"/>
              </a:rPr>
              <a:t>p = 0.004</a:t>
            </a:r>
            <a:endParaRPr lang="en-US" sz="3000" dirty="0"/>
          </a:p>
        </p:txBody>
      </p:sp>
      <p:sp>
        <p:nvSpPr>
          <p:cNvPr id="10" name="Shape 8"/>
          <p:cNvSpPr/>
          <p:nvPr/>
        </p:nvSpPr>
        <p:spPr>
          <a:xfrm>
            <a:off x="9372600" y="5486028"/>
            <a:ext cx="7924800" cy="1266825"/>
          </a:xfrm>
          <a:prstGeom prst="roundRect">
            <a:avLst>
              <a:gd name="adj" fmla="val 6015"/>
            </a:avLst>
          </a:prstGeom>
          <a:solidFill>
            <a:srgbClr val="14211B"/>
          </a:solidFill>
          <a:ln/>
        </p:spPr>
        <p:txBody>
          <a:bodyPr/>
          <a:p/>
        </p:txBody>
      </p:sp>
      <p:sp>
        <p:nvSpPr>
          <p:cNvPr id="11" name="Text 9"/>
          <p:cNvSpPr/>
          <p:nvPr/>
        </p:nvSpPr>
        <p:spPr>
          <a:xfrm>
            <a:off x="9753600" y="5828928"/>
            <a:ext cx="3130644" cy="619125"/>
          </a:xfrm>
          <a:prstGeom prst="rect">
            <a:avLst/>
          </a:prstGeom>
          <a:noFill/>
          <a:ln/>
        </p:spPr>
        <p:txBody>
          <a:bodyPr wrap="square" lIns="25400" tIns="25400" rIns="25400" bIns="25400" rtlCol="0" anchor="t">
            <a:normAutofit/>
          </a:bodyPr>
          <a:lstStyle/>
          <a:p>
            <a:pPr algn="l" indent="0" marL="0">
              <a:buNone/>
            </a:pPr>
            <a:r>
              <a:rPr lang="en-US" sz="3000" dirty="0">
                <a:solidFill>
                  <a:srgbClr val="F4F1EA"/>
                </a:solidFill>
                <a:latin typeface="Georgia" pitchFamily="34" charset="0"/>
                <a:ea typeface="Georgia" pitchFamily="34" charset="-122"/>
                <a:cs typeface="Georgia" pitchFamily="34" charset="-120"/>
              </a:rPr>
              <a:t>ACCase </a:t>
            </a:r>
            <a:pPr algn="l" indent="0" marL="0">
              <a:buNone/>
            </a:pPr>
            <a:r>
              <a:rPr lang="en-US" sz="1800" dirty="0">
                <a:solidFill>
                  <a:srgbClr val="8FB7A0"/>
                </a:solidFill>
                <a:latin typeface="Georgia" pitchFamily="34" charset="0"/>
                <a:ea typeface="Georgia" pitchFamily="34" charset="-122"/>
                <a:cs typeface="Georgia" pitchFamily="34" charset="-120"/>
              </a:rPr>
              <a:t>non-core, n=4</a:t>
            </a:r>
            <a:endParaRPr lang="en-US" sz="3000" dirty="0"/>
          </a:p>
        </p:txBody>
      </p:sp>
      <p:sp>
        <p:nvSpPr>
          <p:cNvPr id="12" name="Text 10"/>
          <p:cNvSpPr/>
          <p:nvPr/>
        </p:nvSpPr>
        <p:spPr>
          <a:xfrm>
            <a:off x="14859000" y="5843215"/>
            <a:ext cx="2263140" cy="533400"/>
          </a:xfrm>
          <a:prstGeom prst="rect">
            <a:avLst/>
          </a:prstGeom>
          <a:noFill/>
          <a:ln/>
        </p:spPr>
        <p:txBody>
          <a:bodyPr wrap="square" lIns="25400" tIns="25400" rIns="25400" bIns="25400" rtlCol="0" anchor="t">
            <a:normAutofit/>
          </a:bodyPr>
          <a:lstStyle/>
          <a:p>
            <a:pPr algn="l" indent="0" marL="0">
              <a:buNone/>
            </a:pPr>
            <a:r>
              <a:rPr lang="en-US" sz="3000" dirty="0">
                <a:solidFill>
                  <a:srgbClr val="8FBF9E"/>
                </a:solidFill>
                <a:latin typeface="Courier New" pitchFamily="34" charset="0"/>
                <a:ea typeface="Courier New" pitchFamily="34" charset="-122"/>
                <a:cs typeface="Courier New" pitchFamily="34" charset="-120"/>
              </a:rPr>
              <a:t>p = 0.010</a:t>
            </a:r>
            <a:endParaRPr lang="en-US" sz="3000" dirty="0"/>
          </a:p>
        </p:txBody>
      </p:sp>
      <p:sp>
        <p:nvSpPr>
          <p:cNvPr id="13" name="Text 11"/>
          <p:cNvSpPr/>
          <p:nvPr/>
        </p:nvSpPr>
        <p:spPr>
          <a:xfrm>
            <a:off x="9372600" y="7038603"/>
            <a:ext cx="8162544" cy="783878"/>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D6E3DA"/>
                </a:solidFill>
                <a:latin typeface="Arial" pitchFamily="34" charset="0"/>
                <a:ea typeface="Arial" pitchFamily="34" charset="-122"/>
                <a:cs typeface="Arial" pitchFamily="34" charset="-120"/>
              </a:rPr>
              <a:t>The enrichment is not an artifact of the core definition. It's real structure.</a:t>
            </a:r>
            <a:endParaRPr lang="en-US" sz="20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38200" y="723900"/>
            <a:ext cx="1827276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RESULT 3 · RESISTANCE-ZONE MAP</a:t>
            </a:r>
            <a:endParaRPr lang="en-US" sz="1650" dirty="0"/>
          </a:p>
        </p:txBody>
      </p:sp>
      <p:sp>
        <p:nvSpPr>
          <p:cNvPr id="3" name="Text 1"/>
          <p:cNvSpPr/>
          <p:nvPr/>
        </p:nvSpPr>
        <p:spPr>
          <a:xfrm>
            <a:off x="838200" y="1109663"/>
            <a:ext cx="18272760" cy="618158"/>
          </a:xfrm>
          <a:prstGeom prst="rect">
            <a:avLst/>
          </a:prstGeom>
          <a:noFill/>
          <a:ln/>
        </p:spPr>
        <p:txBody>
          <a:bodyPr wrap="square" lIns="25400" tIns="25400" rIns="25400" bIns="25400" rtlCol="0" anchor="t">
            <a:normAutofit/>
          </a:bodyPr>
          <a:lstStyle/>
          <a:p>
            <a:pPr algn="l" indent="0" marL="0">
              <a:lnSpc>
                <a:spcPct val="105000"/>
              </a:lnSpc>
              <a:buNone/>
            </a:pPr>
            <a:r>
              <a:rPr lang="en-US" sz="4350" spc="-43" kern="0" dirty="0">
                <a:solidFill>
                  <a:srgbClr val="1C2A24"/>
                </a:solidFill>
                <a:latin typeface="Georgia" pitchFamily="34" charset="0"/>
                <a:ea typeface="Georgia" pitchFamily="34" charset="-122"/>
                <a:cs typeface="Georgia" pitchFamily="34" charset="-120"/>
              </a:rPr>
              <a:t>Every accepted position, placed by proximity</a:t>
            </a:r>
            <a:endParaRPr lang="en-US" sz="4350" dirty="0"/>
          </a:p>
        </p:txBody>
      </p:sp>
      <p:sp>
        <p:nvSpPr>
          <p:cNvPr id="4" name="Shape 2"/>
          <p:cNvSpPr/>
          <p:nvPr/>
        </p:nvSpPr>
        <p:spPr>
          <a:xfrm>
            <a:off x="838200" y="1918320"/>
            <a:ext cx="16611600" cy="8112993"/>
          </a:xfrm>
          <a:prstGeom prst="roundRect">
            <a:avLst>
              <a:gd name="adj" fmla="val 939"/>
            </a:avLst>
          </a:prstGeom>
          <a:solidFill>
            <a:srgbClr val="FFFFFF"/>
          </a:solidFill>
          <a:ln w="9525">
            <a:solidFill>
              <a:srgbClr val="DED9CD"/>
            </a:solidFill>
            <a:prstDash val="solid"/>
          </a:ln>
        </p:spPr>
        <p:txBody>
          <a:bodyPr/>
          <a:p/>
        </p:txBody>
      </p:sp>
      <p:sp>
        <p:nvSpPr>
          <p:cNvPr id="5" name="Text 3"/>
          <p:cNvSpPr/>
          <p:nvPr/>
        </p:nvSpPr>
        <p:spPr>
          <a:xfrm>
            <a:off x="1266825" y="2270745"/>
            <a:ext cx="1682703" cy="300038"/>
          </a:xfrm>
          <a:prstGeom prst="rect">
            <a:avLst/>
          </a:prstGeom>
          <a:noFill/>
          <a:ln/>
        </p:spPr>
        <p:txBody>
          <a:bodyPr wrap="square" lIns="25400" tIns="25400" rIns="25400" bIns="25400" rtlCol="0" anchor="t">
            <a:normAutofit/>
          </a:bodyPr>
          <a:lstStyle/>
          <a:p>
            <a:pPr algn="l" indent="0" marL="0">
              <a:buNone/>
            </a:pPr>
            <a:r>
              <a:rPr lang="en-US" sz="1575" dirty="0">
                <a:solidFill>
                  <a:srgbClr val="5A6660"/>
                </a:solidFill>
                <a:latin typeface="Courier New" pitchFamily="34" charset="0"/>
                <a:ea typeface="Courier New" pitchFamily="34" charset="-122"/>
                <a:cs typeface="Courier New" pitchFamily="34" charset="-120"/>
              </a:rPr>
              <a:t>direct core</a:t>
            </a:r>
            <a:endParaRPr lang="en-US" sz="1575" dirty="0"/>
          </a:p>
        </p:txBody>
      </p:sp>
      <p:sp>
        <p:nvSpPr>
          <p:cNvPr id="6" name="Text 4"/>
          <p:cNvSpPr/>
          <p:nvPr/>
        </p:nvSpPr>
        <p:spPr>
          <a:xfrm>
            <a:off x="3139455" y="2270745"/>
            <a:ext cx="1245915" cy="300038"/>
          </a:xfrm>
          <a:prstGeom prst="rect">
            <a:avLst/>
          </a:prstGeom>
          <a:noFill/>
          <a:ln/>
        </p:spPr>
        <p:txBody>
          <a:bodyPr wrap="square" lIns="25400" tIns="25400" rIns="25400" bIns="25400" rtlCol="0" anchor="t">
            <a:normAutofit/>
          </a:bodyPr>
          <a:lstStyle/>
          <a:p>
            <a:pPr algn="l" indent="0" marL="0">
              <a:buNone/>
            </a:pPr>
            <a:r>
              <a:rPr lang="en-US" sz="1575" dirty="0">
                <a:solidFill>
                  <a:srgbClr val="5A6660"/>
                </a:solidFill>
                <a:latin typeface="Courier New" pitchFamily="34" charset="0"/>
                <a:ea typeface="Courier New" pitchFamily="34" charset="-122"/>
                <a:cs typeface="Courier New" pitchFamily="34" charset="-120"/>
              </a:rPr>
              <a:t>adjacent</a:t>
            </a:r>
            <a:endParaRPr lang="en-US" sz="1575" dirty="0"/>
          </a:p>
        </p:txBody>
      </p:sp>
      <p:sp>
        <p:nvSpPr>
          <p:cNvPr id="7" name="Text 5"/>
          <p:cNvSpPr/>
          <p:nvPr/>
        </p:nvSpPr>
        <p:spPr>
          <a:xfrm>
            <a:off x="4652070" y="2270745"/>
            <a:ext cx="3134901" cy="300038"/>
          </a:xfrm>
          <a:prstGeom prst="rect">
            <a:avLst/>
          </a:prstGeom>
          <a:noFill/>
          <a:ln/>
        </p:spPr>
        <p:txBody>
          <a:bodyPr wrap="square" lIns="25400" tIns="25400" rIns="25400" bIns="25400" rtlCol="0" anchor="t">
            <a:normAutofit/>
          </a:bodyPr>
          <a:lstStyle/>
          <a:p>
            <a:pPr algn="l" indent="0" marL="0">
              <a:buNone/>
            </a:pPr>
            <a:r>
              <a:rPr lang="en-US" sz="1575" dirty="0">
                <a:solidFill>
                  <a:srgbClr val="5A6660"/>
                </a:solidFill>
                <a:latin typeface="Courier New" pitchFamily="34" charset="0"/>
                <a:ea typeface="Courier New" pitchFamily="34" charset="-122"/>
                <a:cs typeface="Courier New" pitchFamily="34" charset="-120"/>
              </a:rPr>
              <a:t>second-shell / channel</a:t>
            </a:r>
            <a:endParaRPr lang="en-US" sz="1575" dirty="0"/>
          </a:p>
        </p:txBody>
      </p:sp>
      <p:sp>
        <p:nvSpPr>
          <p:cNvPr id="8" name="Text 6"/>
          <p:cNvSpPr/>
          <p:nvPr/>
        </p:nvSpPr>
        <p:spPr>
          <a:xfrm>
            <a:off x="7844879" y="2270745"/>
            <a:ext cx="3002868" cy="300038"/>
          </a:xfrm>
          <a:prstGeom prst="rect">
            <a:avLst/>
          </a:prstGeom>
          <a:noFill/>
          <a:ln/>
        </p:spPr>
        <p:txBody>
          <a:bodyPr wrap="square" lIns="25400" tIns="25400" rIns="25400" bIns="25400" rtlCol="0" anchor="t">
            <a:normAutofit/>
          </a:bodyPr>
          <a:lstStyle/>
          <a:p>
            <a:pPr algn="l" indent="0" marL="0">
              <a:buNone/>
            </a:pPr>
            <a:r>
              <a:rPr lang="en-US" sz="1575" dirty="0">
                <a:solidFill>
                  <a:srgbClr val="5A6660"/>
                </a:solidFill>
                <a:latin typeface="Courier New" pitchFamily="34" charset="0"/>
                <a:ea typeface="Courier New" pitchFamily="34" charset="-122"/>
                <a:cs typeface="Courier New" pitchFamily="34" charset="-120"/>
              </a:rPr>
              <a:t>interface induced-fit</a:t>
            </a:r>
            <a:endParaRPr lang="en-US" sz="1575" dirty="0"/>
          </a:p>
        </p:txBody>
      </p:sp>
      <p:sp>
        <p:nvSpPr>
          <p:cNvPr id="9" name="Text 7"/>
          <p:cNvSpPr/>
          <p:nvPr/>
        </p:nvSpPr>
        <p:spPr>
          <a:xfrm>
            <a:off x="10917659" y="2270745"/>
            <a:ext cx="1550670" cy="300038"/>
          </a:xfrm>
          <a:prstGeom prst="rect">
            <a:avLst/>
          </a:prstGeom>
          <a:noFill/>
          <a:ln/>
        </p:spPr>
        <p:txBody>
          <a:bodyPr wrap="square" lIns="25400" tIns="25400" rIns="25400" bIns="25400" rtlCol="0" anchor="t">
            <a:normAutofit/>
          </a:bodyPr>
          <a:lstStyle/>
          <a:p>
            <a:pPr algn="l" indent="0" marL="0">
              <a:buNone/>
            </a:pPr>
            <a:r>
              <a:rPr lang="en-US" sz="1575" dirty="0">
                <a:solidFill>
                  <a:srgbClr val="5A6660"/>
                </a:solidFill>
                <a:latin typeface="Courier New" pitchFamily="34" charset="0"/>
                <a:ea typeface="Courier New" pitchFamily="34" charset="-122"/>
                <a:cs typeface="Courier New" pitchFamily="34" charset="-120"/>
              </a:rPr>
              <a:t>unresolved</a:t>
            </a:r>
            <a:endParaRPr lang="en-US" sz="1575" dirty="0"/>
          </a:p>
        </p:txBody>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66825" y="2704133"/>
            <a:ext cx="15754350" cy="697475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7620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THE CONTRIBUTION</a:t>
            </a:r>
            <a:endParaRPr lang="en-US" sz="1650" dirty="0"/>
          </a:p>
        </p:txBody>
      </p:sp>
      <p:sp>
        <p:nvSpPr>
          <p:cNvPr id="3" name="Text 1"/>
          <p:cNvSpPr/>
          <p:nvPr/>
        </p:nvSpPr>
        <p:spPr>
          <a:xfrm>
            <a:off x="914400" y="1147763"/>
            <a:ext cx="1810512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spc="-45" kern="0" dirty="0">
                <a:solidFill>
                  <a:srgbClr val="1C2A24"/>
                </a:solidFill>
                <a:latin typeface="Georgia" pitchFamily="34" charset="0"/>
                <a:ea typeface="Georgia" pitchFamily="34" charset="-122"/>
                <a:cs typeface="Georgia" pitchFamily="34" charset="-120"/>
              </a:rPr>
              <a:t>A shared vocabulary for how mutations meet the pocket</a:t>
            </a:r>
            <a:endParaRPr lang="en-US" sz="4500" dirty="0"/>
          </a:p>
        </p:txBody>
      </p:sp>
      <p:sp>
        <p:nvSpPr>
          <p:cNvPr id="4" name="Shape 2"/>
          <p:cNvSpPr/>
          <p:nvPr/>
        </p:nvSpPr>
        <p:spPr>
          <a:xfrm>
            <a:off x="914400" y="2128838"/>
            <a:ext cx="3185145" cy="1152525"/>
          </a:xfrm>
          <a:prstGeom prst="roundRect">
            <a:avLst>
              <a:gd name="adj" fmla="val 6612"/>
            </a:avLst>
          </a:prstGeom>
          <a:solidFill>
            <a:srgbClr val="FFFFFF"/>
          </a:solidFill>
          <a:ln w="9525">
            <a:solidFill>
              <a:srgbClr val="DED9CD"/>
            </a:solidFill>
            <a:prstDash val="solid"/>
          </a:ln>
        </p:spPr>
        <p:txBody>
          <a:bodyPr/>
          <a:p/>
        </p:txBody>
      </p:sp>
      <p:sp>
        <p:nvSpPr>
          <p:cNvPr id="5" name="Shape 3"/>
          <p:cNvSpPr/>
          <p:nvPr/>
        </p:nvSpPr>
        <p:spPr>
          <a:xfrm>
            <a:off x="2402160" y="2386013"/>
            <a:ext cx="209550" cy="209550"/>
          </a:xfrm>
          <a:prstGeom prst="ellipse">
            <a:avLst/>
          </a:prstGeom>
          <a:solidFill>
            <a:srgbClr val="2F6FBB"/>
          </a:solidFill>
          <a:ln/>
        </p:spPr>
        <p:txBody>
          <a:bodyPr/>
          <a:p/>
        </p:txBody>
      </p:sp>
      <p:sp>
        <p:nvSpPr>
          <p:cNvPr id="6" name="Text 4"/>
          <p:cNvSpPr/>
          <p:nvPr/>
        </p:nvSpPr>
        <p:spPr>
          <a:xfrm>
            <a:off x="912305" y="2728913"/>
            <a:ext cx="3189335"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1C2A24"/>
                </a:solidFill>
                <a:latin typeface="Arial" pitchFamily="34" charset="0"/>
                <a:ea typeface="Arial" pitchFamily="34" charset="-122"/>
                <a:cs typeface="Arial" pitchFamily="34" charset="-120"/>
              </a:rPr>
              <a:t>Direct core</a:t>
            </a:r>
            <a:endParaRPr lang="en-US" sz="1800" dirty="0"/>
          </a:p>
        </p:txBody>
      </p:sp>
      <p:sp>
        <p:nvSpPr>
          <p:cNvPr id="7" name="Shape 5"/>
          <p:cNvSpPr/>
          <p:nvPr/>
        </p:nvSpPr>
        <p:spPr>
          <a:xfrm>
            <a:off x="4232895" y="2128838"/>
            <a:ext cx="3185220" cy="1152525"/>
          </a:xfrm>
          <a:prstGeom prst="roundRect">
            <a:avLst>
              <a:gd name="adj" fmla="val 6612"/>
            </a:avLst>
          </a:prstGeom>
          <a:solidFill>
            <a:srgbClr val="FFFFFF"/>
          </a:solidFill>
          <a:ln w="9525">
            <a:solidFill>
              <a:srgbClr val="DED9CD"/>
            </a:solidFill>
            <a:prstDash val="solid"/>
          </a:ln>
        </p:spPr>
        <p:txBody>
          <a:bodyPr/>
          <a:p/>
        </p:txBody>
      </p:sp>
      <p:sp>
        <p:nvSpPr>
          <p:cNvPr id="8" name="Shape 6"/>
          <p:cNvSpPr/>
          <p:nvPr/>
        </p:nvSpPr>
        <p:spPr>
          <a:xfrm>
            <a:off x="5720730" y="2386013"/>
            <a:ext cx="209550" cy="209550"/>
          </a:xfrm>
          <a:prstGeom prst="ellipse">
            <a:avLst/>
          </a:prstGeom>
          <a:solidFill>
            <a:srgbClr val="46945F"/>
          </a:solidFill>
          <a:ln/>
        </p:spPr>
        <p:txBody>
          <a:bodyPr/>
          <a:p/>
        </p:txBody>
      </p:sp>
      <p:sp>
        <p:nvSpPr>
          <p:cNvPr id="9" name="Text 7"/>
          <p:cNvSpPr/>
          <p:nvPr/>
        </p:nvSpPr>
        <p:spPr>
          <a:xfrm>
            <a:off x="4230797" y="2728913"/>
            <a:ext cx="3189416"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1C2A24"/>
                </a:solidFill>
                <a:latin typeface="Arial" pitchFamily="34" charset="0"/>
                <a:ea typeface="Arial" pitchFamily="34" charset="-122"/>
                <a:cs typeface="Arial" pitchFamily="34" charset="-120"/>
              </a:rPr>
              <a:t>Adjacent</a:t>
            </a:r>
            <a:endParaRPr lang="en-US" sz="1800" dirty="0"/>
          </a:p>
        </p:txBody>
      </p:sp>
      <p:sp>
        <p:nvSpPr>
          <p:cNvPr id="10" name="Shape 8"/>
          <p:cNvSpPr/>
          <p:nvPr/>
        </p:nvSpPr>
        <p:spPr>
          <a:xfrm>
            <a:off x="7551465" y="2128838"/>
            <a:ext cx="3185145" cy="1152525"/>
          </a:xfrm>
          <a:prstGeom prst="roundRect">
            <a:avLst>
              <a:gd name="adj" fmla="val 6612"/>
            </a:avLst>
          </a:prstGeom>
          <a:solidFill>
            <a:srgbClr val="FFFFFF"/>
          </a:solidFill>
          <a:ln w="9525">
            <a:solidFill>
              <a:srgbClr val="DED9CD"/>
            </a:solidFill>
            <a:prstDash val="solid"/>
          </a:ln>
        </p:spPr>
        <p:txBody>
          <a:bodyPr/>
          <a:p/>
        </p:txBody>
      </p:sp>
      <p:sp>
        <p:nvSpPr>
          <p:cNvPr id="11" name="Shape 9"/>
          <p:cNvSpPr/>
          <p:nvPr/>
        </p:nvSpPr>
        <p:spPr>
          <a:xfrm>
            <a:off x="9039225" y="2386013"/>
            <a:ext cx="209550" cy="209550"/>
          </a:xfrm>
          <a:prstGeom prst="ellipse">
            <a:avLst/>
          </a:prstGeom>
          <a:solidFill>
            <a:srgbClr val="2F9FA8"/>
          </a:solidFill>
          <a:ln/>
        </p:spPr>
        <p:txBody>
          <a:bodyPr/>
          <a:p/>
        </p:txBody>
      </p:sp>
      <p:sp>
        <p:nvSpPr>
          <p:cNvPr id="12" name="Text 10"/>
          <p:cNvSpPr/>
          <p:nvPr/>
        </p:nvSpPr>
        <p:spPr>
          <a:xfrm>
            <a:off x="7549370" y="2728913"/>
            <a:ext cx="3189335"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1C2A24"/>
                </a:solidFill>
                <a:latin typeface="Arial" pitchFamily="34" charset="0"/>
                <a:ea typeface="Arial" pitchFamily="34" charset="-122"/>
                <a:cs typeface="Arial" pitchFamily="34" charset="-120"/>
              </a:rPr>
              <a:t>Second-shell</a:t>
            </a:r>
            <a:endParaRPr lang="en-US" sz="1800" dirty="0"/>
          </a:p>
        </p:txBody>
      </p:sp>
      <p:sp>
        <p:nvSpPr>
          <p:cNvPr id="13" name="Shape 11"/>
          <p:cNvSpPr/>
          <p:nvPr/>
        </p:nvSpPr>
        <p:spPr>
          <a:xfrm>
            <a:off x="10869960" y="2128838"/>
            <a:ext cx="3185145" cy="1152525"/>
          </a:xfrm>
          <a:prstGeom prst="roundRect">
            <a:avLst>
              <a:gd name="adj" fmla="val 6612"/>
            </a:avLst>
          </a:prstGeom>
          <a:solidFill>
            <a:srgbClr val="FFFFFF"/>
          </a:solidFill>
          <a:ln w="9525">
            <a:solidFill>
              <a:srgbClr val="DED9CD"/>
            </a:solidFill>
            <a:prstDash val="solid"/>
          </a:ln>
        </p:spPr>
        <p:txBody>
          <a:bodyPr/>
          <a:p/>
        </p:txBody>
      </p:sp>
      <p:sp>
        <p:nvSpPr>
          <p:cNvPr id="14" name="Shape 12"/>
          <p:cNvSpPr/>
          <p:nvPr/>
        </p:nvSpPr>
        <p:spPr>
          <a:xfrm>
            <a:off x="12357720" y="2386013"/>
            <a:ext cx="209550" cy="209550"/>
          </a:xfrm>
          <a:prstGeom prst="ellipse">
            <a:avLst/>
          </a:prstGeom>
          <a:solidFill>
            <a:srgbClr val="C28B2C"/>
          </a:solidFill>
          <a:ln/>
        </p:spPr>
        <p:txBody>
          <a:bodyPr/>
          <a:p/>
        </p:txBody>
      </p:sp>
      <p:sp>
        <p:nvSpPr>
          <p:cNvPr id="15" name="Text 13"/>
          <p:cNvSpPr/>
          <p:nvPr/>
        </p:nvSpPr>
        <p:spPr>
          <a:xfrm>
            <a:off x="10867865" y="2728913"/>
            <a:ext cx="3189335"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1C2A24"/>
                </a:solidFill>
                <a:latin typeface="Arial" pitchFamily="34" charset="0"/>
                <a:ea typeface="Arial" pitchFamily="34" charset="-122"/>
                <a:cs typeface="Arial" pitchFamily="34" charset="-120"/>
              </a:rPr>
              <a:t>Allosteric hinge</a:t>
            </a:r>
            <a:endParaRPr lang="en-US" sz="1800" dirty="0"/>
          </a:p>
        </p:txBody>
      </p:sp>
      <p:sp>
        <p:nvSpPr>
          <p:cNvPr id="16" name="Shape 14"/>
          <p:cNvSpPr/>
          <p:nvPr/>
        </p:nvSpPr>
        <p:spPr>
          <a:xfrm>
            <a:off x="14188455" y="2128838"/>
            <a:ext cx="3185145" cy="1152525"/>
          </a:xfrm>
          <a:prstGeom prst="roundRect">
            <a:avLst>
              <a:gd name="adj" fmla="val 6612"/>
            </a:avLst>
          </a:prstGeom>
          <a:solidFill>
            <a:srgbClr val="FFFFFF"/>
          </a:solidFill>
          <a:ln w="9525">
            <a:solidFill>
              <a:srgbClr val="DED9CD"/>
            </a:solidFill>
            <a:prstDash val="solid"/>
          </a:ln>
        </p:spPr>
        <p:txBody>
          <a:bodyPr/>
          <a:p/>
        </p:txBody>
      </p:sp>
      <p:sp>
        <p:nvSpPr>
          <p:cNvPr id="17" name="Shape 15"/>
          <p:cNvSpPr/>
          <p:nvPr/>
        </p:nvSpPr>
        <p:spPr>
          <a:xfrm>
            <a:off x="15676215" y="2386013"/>
            <a:ext cx="209550" cy="209550"/>
          </a:xfrm>
          <a:prstGeom prst="ellipse">
            <a:avLst/>
          </a:prstGeom>
          <a:solidFill>
            <a:srgbClr val="7B5BC6"/>
          </a:solidFill>
          <a:ln/>
        </p:spPr>
        <p:txBody>
          <a:bodyPr/>
          <a:p/>
        </p:txBody>
      </p:sp>
      <p:sp>
        <p:nvSpPr>
          <p:cNvPr id="18" name="Text 16"/>
          <p:cNvSpPr/>
          <p:nvPr/>
        </p:nvSpPr>
        <p:spPr>
          <a:xfrm>
            <a:off x="14186360" y="2728913"/>
            <a:ext cx="3189335"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1C2A24"/>
                </a:solidFill>
                <a:latin typeface="Arial" pitchFamily="34" charset="0"/>
                <a:ea typeface="Arial" pitchFamily="34" charset="-122"/>
                <a:cs typeface="Arial" pitchFamily="34" charset="-120"/>
              </a:rPr>
              <a:t>Interface fit</a:t>
            </a:r>
            <a:endParaRPr lang="en-US" sz="1800" dirty="0"/>
          </a:p>
        </p:txBody>
      </p:sp>
      <p:sp>
        <p:nvSpPr>
          <p:cNvPr id="19" name="Shape 17"/>
          <p:cNvSpPr/>
          <p:nvPr/>
        </p:nvSpPr>
        <p:spPr>
          <a:xfrm>
            <a:off x="914400" y="3586163"/>
            <a:ext cx="8096250" cy="5938838"/>
          </a:xfrm>
          <a:prstGeom prst="roundRect">
            <a:avLst>
              <a:gd name="adj" fmla="val 1283"/>
            </a:avLst>
          </a:prstGeom>
          <a:solidFill>
            <a:srgbClr val="14211B"/>
          </a:solidFill>
          <a:ln/>
        </p:spPr>
        <p:txBody>
          <a:bodyPr/>
          <a:p/>
        </p:txBody>
      </p:sp>
      <p:sp>
        <p:nvSpPr>
          <p:cNvPr id="20" name="Text 18"/>
          <p:cNvSpPr/>
          <p:nvPr/>
        </p:nvSpPr>
        <p:spPr>
          <a:xfrm>
            <a:off x="1295400" y="3967163"/>
            <a:ext cx="8067675"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FB7A0"/>
                </a:solidFill>
                <a:latin typeface="Courier New" pitchFamily="34" charset="0"/>
                <a:ea typeface="Courier New" pitchFamily="34" charset="-122"/>
                <a:cs typeface="Courier New" pitchFamily="34" charset="-120"/>
              </a:rPr>
              <a:t>FLAGSHIP · PPO</a:t>
            </a:r>
            <a:endParaRPr lang="en-US" sz="1650" dirty="0"/>
          </a:p>
        </p:txBody>
      </p:sp>
      <p:sp>
        <p:nvSpPr>
          <p:cNvPr id="21" name="Text 19"/>
          <p:cNvSpPr/>
          <p:nvPr/>
        </p:nvSpPr>
        <p:spPr>
          <a:xfrm>
            <a:off x="1295400" y="4333875"/>
            <a:ext cx="8067675" cy="676275"/>
          </a:xfrm>
          <a:prstGeom prst="rect">
            <a:avLst/>
          </a:prstGeom>
          <a:noFill/>
          <a:ln/>
        </p:spPr>
        <p:txBody>
          <a:bodyPr wrap="square" lIns="25400" tIns="25400" rIns="25400" bIns="25400" rtlCol="0" anchor="t">
            <a:normAutofit/>
          </a:bodyPr>
          <a:lstStyle/>
          <a:p>
            <a:pPr algn="l" indent="0" marL="0">
              <a:buNone/>
            </a:pPr>
            <a:r>
              <a:rPr lang="en-US" sz="3300" dirty="0">
                <a:solidFill>
                  <a:srgbClr val="F4F1EA"/>
                </a:solidFill>
                <a:latin typeface="Georgia" pitchFamily="34" charset="0"/>
                <a:ea typeface="Georgia" pitchFamily="34" charset="-122"/>
                <a:cs typeface="Georgia" pitchFamily="34" charset="-120"/>
              </a:rPr>
              <a:t>ΔG210 deletion</a:t>
            </a:r>
            <a:endParaRPr lang="en-US" sz="3300" dirty="0"/>
          </a:p>
        </p:txBody>
      </p:sp>
      <p:sp>
        <p:nvSpPr>
          <p:cNvPr id="22" name="Text 20"/>
          <p:cNvSpPr/>
          <p:nvPr/>
        </p:nvSpPr>
        <p:spPr>
          <a:xfrm>
            <a:off x="1295400" y="5124450"/>
            <a:ext cx="7554278" cy="115676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CBD8CE"/>
                </a:solidFill>
                <a:latin typeface="Arial" pitchFamily="34" charset="0"/>
                <a:ea typeface="Arial" pitchFamily="34" charset="-122"/>
                <a:cs typeface="Arial" pitchFamily="34" charset="-120"/>
              </a:rPr>
              <a:t>Near the active-site zone, but its effect is helix destabilization and cavity expansion — a mechanism distance alone can't see. Why we pair mapping with literature.</a:t>
            </a:r>
            <a:endParaRPr lang="en-US" sz="2025" dirty="0"/>
          </a:p>
        </p:txBody>
      </p:sp>
      <p:sp>
        <p:nvSpPr>
          <p:cNvPr id="23" name="Shape 21"/>
          <p:cNvSpPr/>
          <p:nvPr/>
        </p:nvSpPr>
        <p:spPr>
          <a:xfrm>
            <a:off x="9277350" y="3586163"/>
            <a:ext cx="8096250" cy="5938838"/>
          </a:xfrm>
          <a:prstGeom prst="roundRect">
            <a:avLst>
              <a:gd name="adj" fmla="val 1283"/>
            </a:avLst>
          </a:prstGeom>
          <a:solidFill>
            <a:srgbClr val="14211B"/>
          </a:solidFill>
          <a:ln/>
        </p:spPr>
        <p:txBody>
          <a:bodyPr/>
          <a:p/>
        </p:txBody>
      </p:sp>
      <p:sp>
        <p:nvSpPr>
          <p:cNvPr id="24" name="Text 22"/>
          <p:cNvSpPr/>
          <p:nvPr/>
        </p:nvSpPr>
        <p:spPr>
          <a:xfrm>
            <a:off x="9658350" y="3967163"/>
            <a:ext cx="8067675"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FB7A0"/>
                </a:solidFill>
                <a:latin typeface="Courier New" pitchFamily="34" charset="0"/>
                <a:ea typeface="Courier New" pitchFamily="34" charset="-122"/>
                <a:cs typeface="Courier New" pitchFamily="34" charset="-120"/>
              </a:rPr>
              <a:t>FLAGSHIP · ACCase</a:t>
            </a:r>
            <a:endParaRPr lang="en-US" sz="1650" dirty="0"/>
          </a:p>
        </p:txBody>
      </p:sp>
      <p:sp>
        <p:nvSpPr>
          <p:cNvPr id="25" name="Text 23"/>
          <p:cNvSpPr/>
          <p:nvPr/>
        </p:nvSpPr>
        <p:spPr>
          <a:xfrm>
            <a:off x="9658350" y="4333875"/>
            <a:ext cx="8067675" cy="676275"/>
          </a:xfrm>
          <a:prstGeom prst="rect">
            <a:avLst/>
          </a:prstGeom>
          <a:noFill/>
          <a:ln/>
        </p:spPr>
        <p:txBody>
          <a:bodyPr wrap="square" lIns="25400" tIns="25400" rIns="25400" bIns="25400" rtlCol="0" anchor="t">
            <a:normAutofit/>
          </a:bodyPr>
          <a:lstStyle/>
          <a:p>
            <a:pPr algn="l" indent="0" marL="0">
              <a:buNone/>
            </a:pPr>
            <a:r>
              <a:rPr lang="en-US" sz="3300" dirty="0">
                <a:solidFill>
                  <a:srgbClr val="F4F1EA"/>
                </a:solidFill>
                <a:latin typeface="Georgia" pitchFamily="34" charset="0"/>
                <a:ea typeface="Georgia" pitchFamily="34" charset="-122"/>
                <a:cs typeface="Georgia" pitchFamily="34" charset="-120"/>
              </a:rPr>
              <a:t>Cys2088Arg</a:t>
            </a:r>
            <a:endParaRPr lang="en-US" sz="3300" dirty="0"/>
          </a:p>
        </p:txBody>
      </p:sp>
      <p:sp>
        <p:nvSpPr>
          <p:cNvPr id="26" name="Text 24"/>
          <p:cNvSpPr/>
          <p:nvPr/>
        </p:nvSpPr>
        <p:spPr>
          <a:xfrm>
            <a:off x="9658350" y="5124450"/>
            <a:ext cx="7554278" cy="1156767"/>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CBD8CE"/>
                </a:solidFill>
                <a:latin typeface="Arial" pitchFamily="34" charset="0"/>
                <a:ea typeface="Arial" pitchFamily="34" charset="-122"/>
                <a:cs typeface="Arial" pitchFamily="34" charset="-120"/>
              </a:rPr>
              <a:t>The most distal accepted position — out in the dimer-interface resistance zone, yet confers broad APP + CHD resistance. Structure explains what a pocket-only view misses.</a:t>
            </a:r>
            <a:endParaRPr lang="en-US" sz="20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1B"/>
        </a:solidFill>
      </p:bgPr>
    </p:bg>
    <p:spTree>
      <p:nvGrpSpPr>
        <p:cNvPr id="1" name=""/>
        <p:cNvGrpSpPr/>
        <p:nvPr/>
      </p:nvGrpSpPr>
      <p:grpSpPr>
        <a:xfrm>
          <a:off x="0" y="0"/>
          <a:ext cx="0" cy="0"/>
          <a:chOff x="0" y="0"/>
          <a:chExt cx="0" cy="0"/>
        </a:xfrm>
      </p:grpSpPr>
      <p:sp>
        <p:nvSpPr>
          <p:cNvPr id="2" name="Text 0"/>
          <p:cNvSpPr/>
          <p:nvPr/>
        </p:nvSpPr>
        <p:spPr>
          <a:xfrm>
            <a:off x="990600" y="2549649"/>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8FB7A0"/>
                </a:solidFill>
                <a:latin typeface="Courier New" pitchFamily="34" charset="0"/>
                <a:ea typeface="Courier New" pitchFamily="34" charset="-122"/>
                <a:cs typeface="Courier New" pitchFamily="34" charset="-120"/>
              </a:rPr>
              <a:t>THE NEGATIVE CONTROL</a:t>
            </a:r>
            <a:endParaRPr lang="en-US" sz="1650" dirty="0"/>
          </a:p>
        </p:txBody>
      </p:sp>
      <p:sp>
        <p:nvSpPr>
          <p:cNvPr id="3" name="Text 1"/>
          <p:cNvSpPr/>
          <p:nvPr/>
        </p:nvSpPr>
        <p:spPr>
          <a:xfrm>
            <a:off x="990600" y="3011612"/>
            <a:ext cx="14225588" cy="1395859"/>
          </a:xfrm>
          <a:prstGeom prst="rect">
            <a:avLst/>
          </a:prstGeom>
          <a:noFill/>
          <a:ln/>
        </p:spPr>
        <p:txBody>
          <a:bodyPr wrap="square" lIns="25400" tIns="25400" rIns="25400" bIns="25400" rtlCol="0" anchor="t">
            <a:normAutofit/>
          </a:bodyPr>
          <a:lstStyle/>
          <a:p>
            <a:pPr algn="l" indent="0" marL="0">
              <a:lnSpc>
                <a:spcPct val="108000"/>
              </a:lnSpc>
              <a:buNone/>
            </a:pPr>
            <a:r>
              <a:rPr lang="en-US" sz="4950" spc="-49" kern="0" dirty="0">
                <a:solidFill>
                  <a:srgbClr val="F4F1EA"/>
                </a:solidFill>
                <a:latin typeface="Georgia" pitchFamily="34" charset="0"/>
                <a:ea typeface="Georgia" pitchFamily="34" charset="-122"/>
                <a:cs typeface="Georgia" pitchFamily="34" charset="-120"/>
              </a:rPr>
              <a:t>HPPD is kept as a contrast — not forced into the story</a:t>
            </a:r>
            <a:endParaRPr lang="en-US" sz="4950" dirty="0"/>
          </a:p>
        </p:txBody>
      </p:sp>
      <p:sp>
        <p:nvSpPr>
          <p:cNvPr id="4" name="Text 2"/>
          <p:cNvSpPr/>
          <p:nvPr/>
        </p:nvSpPr>
        <p:spPr>
          <a:xfrm>
            <a:off x="990600" y="5110535"/>
            <a:ext cx="9477185" cy="2419052"/>
          </a:xfrm>
          <a:prstGeom prst="rect">
            <a:avLst/>
          </a:prstGeom>
          <a:noFill/>
          <a:ln/>
        </p:spPr>
        <p:txBody>
          <a:bodyPr wrap="square" lIns="25400" tIns="25400" rIns="25400" bIns="25400" rtlCol="0" anchor="t">
            <a:normAutofit/>
          </a:bodyPr>
          <a:lstStyle/>
          <a:p>
            <a:pPr algn="l" indent="0" marL="0">
              <a:lnSpc>
                <a:spcPct val="155000"/>
              </a:lnSpc>
              <a:buNone/>
            </a:pPr>
            <a:r>
              <a:rPr lang="en-US" sz="2400" dirty="0">
                <a:solidFill>
                  <a:srgbClr val="DCE6DF"/>
                </a:solidFill>
                <a:latin typeface="Arial" pitchFamily="34" charset="0"/>
                <a:ea typeface="Arial" pitchFamily="34" charset="-122"/>
                <a:cs typeface="Arial" pitchFamily="34" charset="-120"/>
              </a:rPr>
              <a:t>The source audit found </a:t>
            </a:r>
            <a:pPr algn="l" indent="0" marL="0">
              <a:lnSpc>
                <a:spcPct val="155000"/>
              </a:lnSpc>
              <a:buNone/>
            </a:pPr>
            <a:r>
              <a:rPr lang="en-US" sz="2400" b="1" dirty="0">
                <a:solidFill>
                  <a:srgbClr val="FFFFFF"/>
                </a:solidFill>
                <a:latin typeface="Arial" pitchFamily="34" charset="0"/>
                <a:ea typeface="Arial" pitchFamily="34" charset="-122"/>
                <a:cs typeface="Arial" pitchFamily="34" charset="-120"/>
              </a:rPr>
              <a:t>no verified weed-evolved HPPD target-site mutation </a:t>
            </a:r>
            <a:pPr algn="l" indent="0" marL="0">
              <a:lnSpc>
                <a:spcPct val="155000"/>
              </a:lnSpc>
              <a:buNone/>
            </a:pPr>
            <a:r>
              <a:rPr lang="en-US" sz="2400" dirty="0">
                <a:solidFill>
                  <a:srgbClr val="DCE6DF"/>
                </a:solidFill>
                <a:latin typeface="Arial" pitchFamily="34" charset="0"/>
                <a:ea typeface="Arial" pitchFamily="34" charset="-122"/>
                <a:cs typeface="Arial" pitchFamily="34" charset="-120"/>
              </a:rPr>
              <a:t>— resistance there is largely metabolic and expression-driven. So HPPD carries zero pooled mutation rows. A framework that correctly reports “nothing here” is a framework you can trust when it reports something.</a:t>
            </a:r>
            <a:endParaRPr lang="en-US" sz="2400" dirty="0"/>
          </a:p>
        </p:txBody>
      </p:sp>
      <p:sp>
        <p:nvSpPr>
          <p:cNvPr id="5" name="Shape 3"/>
          <p:cNvSpPr/>
          <p:nvPr/>
        </p:nvSpPr>
        <p:spPr>
          <a:xfrm>
            <a:off x="10725150" y="4864671"/>
            <a:ext cx="6572250" cy="2872680"/>
          </a:xfrm>
          <a:prstGeom prst="roundRect">
            <a:avLst>
              <a:gd name="adj" fmla="val 2653"/>
            </a:avLst>
          </a:prstGeom>
          <a:solidFill>
            <a:srgbClr val="FFFFFF">
              <a:alpha val="6000"/>
            </a:srgbClr>
          </a:solidFill>
          <a:ln w="9525">
            <a:solidFill>
              <a:srgbClr val="FFFFFF">
                <a:alpha val="18000"/>
              </a:srgbClr>
            </a:solidFill>
            <a:prstDash val="solid"/>
          </a:ln>
        </p:spPr>
        <p:txBody>
          <a:bodyPr/>
          <a:p/>
        </p:txBody>
      </p:sp>
      <p:sp>
        <p:nvSpPr>
          <p:cNvPr id="6" name="Text 4"/>
          <p:cNvSpPr/>
          <p:nvPr/>
        </p:nvSpPr>
        <p:spPr>
          <a:xfrm>
            <a:off x="10868025" y="5331396"/>
            <a:ext cx="6286500" cy="1085850"/>
          </a:xfrm>
          <a:prstGeom prst="rect">
            <a:avLst/>
          </a:prstGeom>
          <a:noFill/>
          <a:ln/>
        </p:spPr>
        <p:txBody>
          <a:bodyPr wrap="square" lIns="25400" tIns="25400" rIns="25400" bIns="25400" rtlCol="0" anchor="t">
            <a:normAutofit/>
          </a:bodyPr>
          <a:lstStyle/>
          <a:p>
            <a:pPr algn="ctr" indent="0" marL="0">
              <a:lnSpc>
                <a:spcPct val="100000"/>
              </a:lnSpc>
              <a:buNone/>
            </a:pPr>
            <a:r>
              <a:rPr lang="en-US" sz="8250" dirty="0">
                <a:solidFill>
                  <a:srgbClr val="D9A85A"/>
                </a:solidFill>
                <a:latin typeface="Georgia" pitchFamily="34" charset="0"/>
                <a:ea typeface="Georgia" pitchFamily="34" charset="-122"/>
                <a:cs typeface="Georgia" pitchFamily="34" charset="-120"/>
              </a:rPr>
              <a:t>0</a:t>
            </a:r>
            <a:endParaRPr lang="en-US" sz="8250" dirty="0"/>
          </a:p>
        </p:txBody>
      </p:sp>
      <p:sp>
        <p:nvSpPr>
          <p:cNvPr id="7" name="Text 5"/>
          <p:cNvSpPr/>
          <p:nvPr/>
        </p:nvSpPr>
        <p:spPr>
          <a:xfrm>
            <a:off x="11068050" y="6550596"/>
            <a:ext cx="5886450" cy="758130"/>
          </a:xfrm>
          <a:prstGeom prst="rect">
            <a:avLst/>
          </a:prstGeom>
          <a:noFill/>
          <a:ln/>
        </p:spPr>
        <p:txBody>
          <a:bodyPr wrap="square" lIns="25400" tIns="25400" rIns="25400" bIns="25400" rtlCol="0" anchor="t">
            <a:normAutofit/>
          </a:bodyPr>
          <a:lstStyle/>
          <a:p>
            <a:pPr algn="ctr" indent="0" marL="0">
              <a:lnSpc>
                <a:spcPct val="140000"/>
              </a:lnSpc>
              <a:buNone/>
            </a:pPr>
            <a:r>
              <a:rPr lang="en-US" sz="2025" dirty="0">
                <a:solidFill>
                  <a:srgbClr val="CBD8CE"/>
                </a:solidFill>
                <a:latin typeface="Arial" pitchFamily="34" charset="0"/>
                <a:ea typeface="Arial" pitchFamily="34" charset="-122"/>
                <a:cs typeface="Arial" pitchFamily="34" charset="-120"/>
              </a:rPr>
              <a:t>accepted TSR rows — retained only for structural context ( </a:t>
            </a:r>
            <a:pPr algn="ctr" indent="0" marL="0">
              <a:lnSpc>
                <a:spcPct val="140000"/>
              </a:lnSpc>
              <a:buNone/>
            </a:pPr>
            <a:r>
              <a:rPr lang="en-US" sz="2025" u="sng" dirty="0">
                <a:solidFill>
                  <a:srgbClr val="8FB7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5YWG ↗</a:t>
            </a:r>
            <a:pPr algn="ctr" indent="0" marL="0">
              <a:lnSpc>
                <a:spcPct val="140000"/>
              </a:lnSpc>
              <a:buNone/>
            </a:pPr>
            <a:r>
              <a:rPr lang="en-US" sz="2025" dirty="0">
                <a:solidFill>
                  <a:srgbClr val="CBD8CE"/>
                </a:solidFill>
                <a:latin typeface="Arial" pitchFamily="34" charset="0"/>
                <a:ea typeface="Arial" pitchFamily="34" charset="-122"/>
                <a:cs typeface="Arial" pitchFamily="34" charset="-120"/>
              </a:rPr>
              <a:t>)</a:t>
            </a:r>
            <a:endParaRPr lang="en-US" sz="20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90600" y="838200"/>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LIMITATIONS — STATED PLAINLY</a:t>
            </a:r>
            <a:endParaRPr lang="en-US" sz="1650" dirty="0"/>
          </a:p>
        </p:txBody>
      </p:sp>
      <p:sp>
        <p:nvSpPr>
          <p:cNvPr id="3" name="Text 1"/>
          <p:cNvSpPr/>
          <p:nvPr/>
        </p:nvSpPr>
        <p:spPr>
          <a:xfrm>
            <a:off x="990600" y="1243013"/>
            <a:ext cx="1793748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spc="-48" kern="0" dirty="0">
                <a:solidFill>
                  <a:srgbClr val="1C2A24"/>
                </a:solidFill>
                <a:latin typeface="Georgia" pitchFamily="34" charset="0"/>
                <a:ea typeface="Georgia" pitchFamily="34" charset="-122"/>
                <a:cs typeface="Georgia" pitchFamily="34" charset="-120"/>
              </a:rPr>
              <a:t>Where this map stops</a:t>
            </a:r>
            <a:endParaRPr lang="en-US" sz="4800" dirty="0"/>
          </a:p>
        </p:txBody>
      </p:sp>
      <p:sp>
        <p:nvSpPr>
          <p:cNvPr id="4" name="Shape 2"/>
          <p:cNvSpPr/>
          <p:nvPr/>
        </p:nvSpPr>
        <p:spPr>
          <a:xfrm>
            <a:off x="990600" y="2378348"/>
            <a:ext cx="7886700" cy="19050"/>
          </a:xfrm>
          <a:prstGeom prst="rect">
            <a:avLst/>
          </a:prstGeom>
          <a:solidFill>
            <a:srgbClr val="DED9CD"/>
          </a:solidFill>
          <a:ln/>
        </p:spPr>
        <p:txBody>
          <a:bodyPr/>
          <a:p/>
        </p:txBody>
      </p:sp>
      <p:sp>
        <p:nvSpPr>
          <p:cNvPr id="5" name="Text 3"/>
          <p:cNvSpPr/>
          <p:nvPr/>
        </p:nvSpPr>
        <p:spPr>
          <a:xfrm>
            <a:off x="990600" y="2625998"/>
            <a:ext cx="37341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C28B2C"/>
                </a:solidFill>
                <a:latin typeface="Courier New" pitchFamily="34" charset="0"/>
                <a:ea typeface="Courier New" pitchFamily="34" charset="-122"/>
                <a:cs typeface="Courier New" pitchFamily="34" charset="-120"/>
              </a:rPr>
              <a:t>01</a:t>
            </a:r>
            <a:endParaRPr lang="en-US" sz="1950" dirty="0"/>
          </a:p>
        </p:txBody>
      </p:sp>
      <p:sp>
        <p:nvSpPr>
          <p:cNvPr id="6" name="Text 4"/>
          <p:cNvSpPr/>
          <p:nvPr/>
        </p:nvSpPr>
        <p:spPr>
          <a:xfrm>
            <a:off x="1478310" y="2625998"/>
            <a:ext cx="7620960" cy="816173"/>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1C2A24"/>
                </a:solidFill>
                <a:latin typeface="Arial" pitchFamily="34" charset="0"/>
                <a:ea typeface="Arial" pitchFamily="34" charset="-122"/>
                <a:cs typeface="Arial" pitchFamily="34" charset="-120"/>
              </a:rPr>
              <a:t>Static context, </a:t>
            </a:r>
            <a:pPr algn="l" indent="0" marL="0">
              <a:lnSpc>
                <a:spcPct val="140000"/>
              </a:lnSpc>
              <a:buNone/>
            </a:pPr>
            <a:r>
              <a:rPr lang="en-US" sz="2175" b="1" dirty="0">
                <a:solidFill>
                  <a:srgbClr val="1C2A24"/>
                </a:solidFill>
                <a:latin typeface="Arial" pitchFamily="34" charset="0"/>
                <a:ea typeface="Arial" pitchFamily="34" charset="-122"/>
                <a:cs typeface="Arial" pitchFamily="34" charset="-120"/>
              </a:rPr>
              <a:t>not </a:t>
            </a:r>
            <a:pPr algn="l" indent="0" marL="0">
              <a:lnSpc>
                <a:spcPct val="140000"/>
              </a:lnSpc>
              <a:buNone/>
            </a:pPr>
            <a:r>
              <a:rPr lang="en-US" sz="2175" dirty="0">
                <a:solidFill>
                  <a:srgbClr val="1C2A24"/>
                </a:solidFill>
                <a:latin typeface="Arial" pitchFamily="34" charset="0"/>
                <a:ea typeface="Arial" pitchFamily="34" charset="-122"/>
                <a:cs typeface="Arial" pitchFamily="34" charset="-120"/>
              </a:rPr>
              <a:t>binding free energy or mutant-state dynamics.</a:t>
            </a:r>
            <a:endParaRPr lang="en-US" sz="2175" dirty="0"/>
          </a:p>
        </p:txBody>
      </p:sp>
      <p:sp>
        <p:nvSpPr>
          <p:cNvPr id="7" name="Shape 5"/>
          <p:cNvSpPr/>
          <p:nvPr/>
        </p:nvSpPr>
        <p:spPr>
          <a:xfrm>
            <a:off x="9410700" y="2378348"/>
            <a:ext cx="7886700" cy="19050"/>
          </a:xfrm>
          <a:prstGeom prst="rect">
            <a:avLst/>
          </a:prstGeom>
          <a:solidFill>
            <a:srgbClr val="DED9CD"/>
          </a:solidFill>
          <a:ln/>
        </p:spPr>
        <p:txBody>
          <a:bodyPr/>
          <a:p/>
        </p:txBody>
      </p:sp>
      <p:sp>
        <p:nvSpPr>
          <p:cNvPr id="8" name="Text 6"/>
          <p:cNvSpPr/>
          <p:nvPr/>
        </p:nvSpPr>
        <p:spPr>
          <a:xfrm>
            <a:off x="9410700" y="2625998"/>
            <a:ext cx="37341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C28B2C"/>
                </a:solidFill>
                <a:latin typeface="Courier New" pitchFamily="34" charset="0"/>
                <a:ea typeface="Courier New" pitchFamily="34" charset="-122"/>
                <a:cs typeface="Courier New" pitchFamily="34" charset="-120"/>
              </a:rPr>
              <a:t>02</a:t>
            </a:r>
            <a:endParaRPr lang="en-US" sz="1950" dirty="0"/>
          </a:p>
        </p:txBody>
      </p:sp>
      <p:sp>
        <p:nvSpPr>
          <p:cNvPr id="9" name="Text 7"/>
          <p:cNvSpPr/>
          <p:nvPr/>
        </p:nvSpPr>
        <p:spPr>
          <a:xfrm>
            <a:off x="9898410" y="2625998"/>
            <a:ext cx="7620960" cy="811411"/>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1C2A24"/>
                </a:solidFill>
                <a:latin typeface="Arial" pitchFamily="34" charset="0"/>
                <a:ea typeface="Arial" pitchFamily="34" charset="-122"/>
                <a:cs typeface="Arial" pitchFamily="34" charset="-120"/>
              </a:rPr>
              <a:t>EPSPS now has two accepted positions (was one) and is statistically significant, though still the smallest pooled family.</a:t>
            </a:r>
            <a:endParaRPr lang="en-US" sz="2175" dirty="0"/>
          </a:p>
        </p:txBody>
      </p:sp>
      <p:sp>
        <p:nvSpPr>
          <p:cNvPr id="10" name="Shape 8"/>
          <p:cNvSpPr/>
          <p:nvPr/>
        </p:nvSpPr>
        <p:spPr>
          <a:xfrm>
            <a:off x="990600" y="5718274"/>
            <a:ext cx="7886700" cy="19050"/>
          </a:xfrm>
          <a:prstGeom prst="rect">
            <a:avLst/>
          </a:prstGeom>
          <a:solidFill>
            <a:srgbClr val="DED9CD"/>
          </a:solidFill>
          <a:ln/>
        </p:spPr>
        <p:txBody>
          <a:bodyPr/>
          <a:p/>
        </p:txBody>
      </p:sp>
      <p:sp>
        <p:nvSpPr>
          <p:cNvPr id="11" name="Text 9"/>
          <p:cNvSpPr/>
          <p:nvPr/>
        </p:nvSpPr>
        <p:spPr>
          <a:xfrm>
            <a:off x="990600" y="5965924"/>
            <a:ext cx="37341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C28B2C"/>
                </a:solidFill>
                <a:latin typeface="Courier New" pitchFamily="34" charset="0"/>
                <a:ea typeface="Courier New" pitchFamily="34" charset="-122"/>
                <a:cs typeface="Courier New" pitchFamily="34" charset="-120"/>
              </a:rPr>
              <a:t>03</a:t>
            </a:r>
            <a:endParaRPr lang="en-US" sz="1950" dirty="0"/>
          </a:p>
        </p:txBody>
      </p:sp>
      <p:sp>
        <p:nvSpPr>
          <p:cNvPr id="12" name="Text 10"/>
          <p:cNvSpPr/>
          <p:nvPr/>
        </p:nvSpPr>
        <p:spPr>
          <a:xfrm>
            <a:off x="1478310" y="5965924"/>
            <a:ext cx="7620960" cy="811411"/>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1C2A24"/>
                </a:solidFill>
                <a:latin typeface="Arial" pitchFamily="34" charset="0"/>
                <a:ea typeface="Arial" pitchFamily="34" charset="-122"/>
                <a:cs typeface="Arial" pitchFamily="34" charset="-120"/>
              </a:rPr>
              <a:t>ACCase uses a homology model (GMQE 0.76), not a solved weed structure.</a:t>
            </a:r>
            <a:endParaRPr lang="en-US" sz="2175" dirty="0"/>
          </a:p>
        </p:txBody>
      </p:sp>
      <p:sp>
        <p:nvSpPr>
          <p:cNvPr id="13" name="Shape 11"/>
          <p:cNvSpPr/>
          <p:nvPr/>
        </p:nvSpPr>
        <p:spPr>
          <a:xfrm>
            <a:off x="9410700" y="5718274"/>
            <a:ext cx="7886700" cy="19050"/>
          </a:xfrm>
          <a:prstGeom prst="rect">
            <a:avLst/>
          </a:prstGeom>
          <a:solidFill>
            <a:srgbClr val="DED9CD"/>
          </a:solidFill>
          <a:ln/>
        </p:spPr>
        <p:txBody>
          <a:bodyPr/>
          <a:p/>
        </p:txBody>
      </p:sp>
      <p:sp>
        <p:nvSpPr>
          <p:cNvPr id="14" name="Text 12"/>
          <p:cNvSpPr/>
          <p:nvPr/>
        </p:nvSpPr>
        <p:spPr>
          <a:xfrm>
            <a:off x="9410700" y="5965924"/>
            <a:ext cx="37341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C28B2C"/>
                </a:solidFill>
                <a:latin typeface="Courier New" pitchFamily="34" charset="0"/>
                <a:ea typeface="Courier New" pitchFamily="34" charset="-122"/>
                <a:cs typeface="Courier New" pitchFamily="34" charset="-120"/>
              </a:rPr>
              <a:t>04</a:t>
            </a:r>
            <a:endParaRPr lang="en-US" sz="1950" dirty="0"/>
          </a:p>
        </p:txBody>
      </p:sp>
      <p:sp>
        <p:nvSpPr>
          <p:cNvPr id="15" name="Text 13"/>
          <p:cNvSpPr/>
          <p:nvPr/>
        </p:nvSpPr>
        <p:spPr>
          <a:xfrm>
            <a:off x="9898410" y="5965924"/>
            <a:ext cx="7620960" cy="811411"/>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1C2A24"/>
                </a:solidFill>
                <a:latin typeface="Arial" pitchFamily="34" charset="0"/>
                <a:ea typeface="Arial" pitchFamily="34" charset="-122"/>
                <a:cs typeface="Arial" pitchFamily="34" charset="-120"/>
              </a:rPr>
              <a:t>Structure &amp; core choices matter — so all are scripted, seeded, and logged.</a:t>
            </a:r>
            <a:endParaRPr lang="en-US" sz="2175" dirty="0"/>
          </a:p>
        </p:txBody>
      </p:sp>
      <p:sp>
        <p:nvSpPr>
          <p:cNvPr id="16" name="Text 14"/>
          <p:cNvSpPr/>
          <p:nvPr/>
        </p:nvSpPr>
        <p:spPr>
          <a:xfrm>
            <a:off x="990600" y="9129713"/>
            <a:ext cx="1793748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5A6660"/>
                </a:solidFill>
                <a:latin typeface="Arial" pitchFamily="34" charset="0"/>
                <a:ea typeface="Arial" pitchFamily="34" charset="-122"/>
                <a:cs typeface="Arial" pitchFamily="34" charset="-120"/>
              </a:rPr>
              <a:t>Every limitation is a boundary on the claim — not a crack in it.</a:t>
            </a:r>
            <a:endParaRPr lang="en-US" sz="1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E5540"/>
        </a:solidFill>
      </p:bgPr>
    </p:bg>
    <p:spTree>
      <p:nvGrpSpPr>
        <p:cNvPr id="1" name=""/>
        <p:cNvGrpSpPr/>
        <p:nvPr/>
      </p:nvGrpSpPr>
      <p:grpSpPr>
        <a:xfrm>
          <a:off x="0" y="0"/>
          <a:ext cx="0" cy="0"/>
          <a:chOff x="0" y="0"/>
          <a:chExt cx="0" cy="0"/>
        </a:xfrm>
      </p:grpSpPr>
      <p:sp>
        <p:nvSpPr>
          <p:cNvPr id="2" name="Text 0"/>
          <p:cNvSpPr/>
          <p:nvPr/>
        </p:nvSpPr>
        <p:spPr>
          <a:xfrm>
            <a:off x="990600" y="838200"/>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A9CDB6"/>
                </a:solidFill>
                <a:latin typeface="Courier New" pitchFamily="34" charset="0"/>
                <a:ea typeface="Courier New" pitchFamily="34" charset="-122"/>
                <a:cs typeface="Courier New" pitchFamily="34" charset="-120"/>
              </a:rPr>
              <a:t>WHY IT'S DIFFERENT &amp; WHY IT'S USEFUL</a:t>
            </a:r>
            <a:endParaRPr lang="en-US" sz="1650" dirty="0"/>
          </a:p>
        </p:txBody>
      </p:sp>
      <p:sp>
        <p:nvSpPr>
          <p:cNvPr id="3" name="Text 1"/>
          <p:cNvSpPr/>
          <p:nvPr/>
        </p:nvSpPr>
        <p:spPr>
          <a:xfrm>
            <a:off x="990600" y="1243013"/>
            <a:ext cx="14716125" cy="1249561"/>
          </a:xfrm>
          <a:prstGeom prst="rect">
            <a:avLst/>
          </a:prstGeom>
          <a:noFill/>
          <a:ln/>
        </p:spPr>
        <p:txBody>
          <a:bodyPr wrap="square" lIns="25400" tIns="25400" rIns="25400" bIns="25400" rtlCol="0" anchor="t">
            <a:normAutofit/>
          </a:bodyPr>
          <a:lstStyle/>
          <a:p>
            <a:pPr algn="l" indent="0" marL="0">
              <a:lnSpc>
                <a:spcPct val="106000"/>
              </a:lnSpc>
              <a:buNone/>
            </a:pPr>
            <a:r>
              <a:rPr lang="en-US" sz="4500" spc="-45" kern="0" dirty="0">
                <a:solidFill>
                  <a:srgbClr val="F4F1EA"/>
                </a:solidFill>
                <a:latin typeface="Georgia" pitchFamily="34" charset="0"/>
                <a:ea typeface="Georgia" pitchFamily="34" charset="-122"/>
                <a:cs typeface="Georgia" pitchFamily="34" charset="-120"/>
              </a:rPr>
              <a:t>The first shared yardstick — and a triage lens for new mutations</a:t>
            </a:r>
            <a:endParaRPr lang="en-US" sz="4500" dirty="0"/>
          </a:p>
        </p:txBody>
      </p:sp>
      <p:sp>
        <p:nvSpPr>
          <p:cNvPr id="4" name="Shape 2"/>
          <p:cNvSpPr/>
          <p:nvPr/>
        </p:nvSpPr>
        <p:spPr>
          <a:xfrm>
            <a:off x="990600" y="2911673"/>
            <a:ext cx="7962900" cy="6537127"/>
          </a:xfrm>
          <a:prstGeom prst="roundRect">
            <a:avLst>
              <a:gd name="adj" fmla="val 1166"/>
            </a:avLst>
          </a:prstGeom>
          <a:solidFill>
            <a:srgbClr val="FFFFFF">
              <a:alpha val="7000"/>
            </a:srgbClr>
          </a:solidFill>
          <a:ln w="9525">
            <a:solidFill>
              <a:srgbClr val="FFFFFF">
                <a:alpha val="18000"/>
              </a:srgbClr>
            </a:solidFill>
            <a:prstDash val="solid"/>
          </a:ln>
        </p:spPr>
        <p:txBody>
          <a:bodyPr/>
          <a:p/>
        </p:txBody>
      </p:sp>
      <p:sp>
        <p:nvSpPr>
          <p:cNvPr id="5" name="Text 3"/>
          <p:cNvSpPr/>
          <p:nvPr/>
        </p:nvSpPr>
        <p:spPr>
          <a:xfrm>
            <a:off x="1419225" y="3340298"/>
            <a:ext cx="7816215" cy="323850"/>
          </a:xfrm>
          <a:prstGeom prst="rect">
            <a:avLst/>
          </a:prstGeom>
          <a:noFill/>
          <a:ln/>
        </p:spPr>
        <p:txBody>
          <a:bodyPr wrap="square" lIns="25400" tIns="25400" rIns="25400" bIns="25400" rtlCol="0" anchor="t">
            <a:normAutofit/>
          </a:bodyPr>
          <a:lstStyle/>
          <a:p>
            <a:pPr algn="l" indent="0" marL="0">
              <a:buNone/>
            </a:pPr>
            <a:r>
              <a:rPr lang="en-US" sz="1725" dirty="0">
                <a:solidFill>
                  <a:srgbClr val="A9CDB6"/>
                </a:solidFill>
                <a:latin typeface="Courier New" pitchFamily="34" charset="0"/>
                <a:ea typeface="Courier New" pitchFamily="34" charset="-122"/>
                <a:cs typeface="Courier New" pitchFamily="34" charset="-120"/>
              </a:rPr>
              <a:t>WHAT'S NEW</a:t>
            </a:r>
            <a:endParaRPr lang="en-US" sz="1725" dirty="0"/>
          </a:p>
        </p:txBody>
      </p:sp>
      <p:sp>
        <p:nvSpPr>
          <p:cNvPr id="6" name="Text 4"/>
          <p:cNvSpPr/>
          <p:nvPr/>
        </p:nvSpPr>
        <p:spPr>
          <a:xfrm>
            <a:off x="1480185" y="3778448"/>
            <a:ext cx="7250430" cy="891480"/>
          </a:xfrm>
          <a:prstGeom prst="rect">
            <a:avLst/>
          </a:prstGeom>
          <a:noFill/>
          <a:ln/>
        </p:spPr>
        <p:txBody>
          <a:bodyPr wrap="square" lIns="25400" tIns="25400" rIns="25400" bIns="25400" rtlCol="0" anchor="t">
            <a:normAutofit/>
          </a:bodyPr>
          <a:lstStyle/>
          <a:p>
            <a:pPr algn="l" marL="186690" indent="-186690">
              <a:lnSpc>
                <a:spcPct val="160000"/>
              </a:lnSpc>
              <a:buSzPct val="100000"/>
              <a:buChar char="•"/>
              <a:tabLst>
                <a:tab pos="186690" algn="l"/>
              </a:tabLst>
            </a:pPr>
            <a:r>
              <a:rPr lang="en-US" sz="2100" dirty="0">
                <a:solidFill>
                  <a:srgbClr val="EAF1EC"/>
                </a:solidFill>
                <a:latin typeface="Arial" pitchFamily="34" charset="0"/>
                <a:ea typeface="Arial" pitchFamily="34" charset="-122"/>
                <a:cs typeface="Arial" pitchFamily="34" charset="-120"/>
              </a:rPr>
              <a:t>One reproducible metric across unrelated targets — not family-by-family.</a:t>
            </a:r>
            <a:endParaRPr lang="en-US" sz="2100" dirty="0"/>
          </a:p>
        </p:txBody>
      </p:sp>
      <p:sp>
        <p:nvSpPr>
          <p:cNvPr id="7" name="Text 5"/>
          <p:cNvSpPr/>
          <p:nvPr/>
        </p:nvSpPr>
        <p:spPr>
          <a:xfrm>
            <a:off x="1480185" y="4631829"/>
            <a:ext cx="7250430" cy="896243"/>
          </a:xfrm>
          <a:prstGeom prst="rect">
            <a:avLst/>
          </a:prstGeom>
          <a:noFill/>
          <a:ln/>
        </p:spPr>
        <p:txBody>
          <a:bodyPr wrap="square" lIns="25400" tIns="25400" rIns="25400" bIns="25400" rtlCol="0" anchor="t">
            <a:normAutofit/>
          </a:bodyPr>
          <a:lstStyle/>
          <a:p>
            <a:pPr algn="l" marL="186690" indent="-186690">
              <a:lnSpc>
                <a:spcPct val="160000"/>
              </a:lnSpc>
              <a:buSzPct val="100000"/>
              <a:buChar char="•"/>
            </a:pPr>
            <a:r>
              <a:rPr lang="en-US" sz="2100" dirty="0">
                <a:solidFill>
                  <a:srgbClr val="EAF1EC"/>
                </a:solidFill>
                <a:latin typeface="Arial" pitchFamily="34" charset="0"/>
                <a:ea typeface="Arial" pitchFamily="34" charset="-122"/>
                <a:cs typeface="Arial" pitchFamily="34" charset="-120"/>
              </a:rPr>
              <a:t>Moves past “near the pocket” to a </a:t>
            </a:r>
            <a:pPr algn="l" indent="0" marL="0">
              <a:lnSpc>
                <a:spcPct val="160000"/>
              </a:lnSpc>
              <a:buNone/>
            </a:pPr>
            <a:r>
              <a:rPr lang="en-US" sz="2100" i="1" dirty="0">
                <a:solidFill>
                  <a:srgbClr val="EAF1EC"/>
                </a:solidFill>
                <a:latin typeface="Arial" pitchFamily="34" charset="0"/>
                <a:ea typeface="Arial" pitchFamily="34" charset="-122"/>
                <a:cs typeface="Arial" pitchFamily="34" charset="-120"/>
              </a:rPr>
              <a:t>tested </a:t>
            </a:r>
            <a:pPr algn="l" indent="0" marL="0">
              <a:lnSpc>
                <a:spcPct val="160000"/>
              </a:lnSpc>
              <a:buNone/>
            </a:pPr>
            <a:r>
              <a:rPr lang="en-US" sz="2100" dirty="0">
                <a:solidFill>
                  <a:srgbClr val="EAF1EC"/>
                </a:solidFill>
                <a:latin typeface="Arial" pitchFamily="34" charset="0"/>
                <a:ea typeface="Arial" pitchFamily="34" charset="-122"/>
                <a:cs typeface="Arial" pitchFamily="34" charset="-120"/>
              </a:rPr>
              <a:t>typology of how positions relate to it.</a:t>
            </a:r>
            <a:endParaRPr lang="en-US" sz="2100" dirty="0"/>
          </a:p>
        </p:txBody>
      </p:sp>
      <p:sp>
        <p:nvSpPr>
          <p:cNvPr id="8" name="Text 6"/>
          <p:cNvSpPr/>
          <p:nvPr/>
        </p:nvSpPr>
        <p:spPr>
          <a:xfrm>
            <a:off x="1480185" y="5489972"/>
            <a:ext cx="7250430" cy="891480"/>
          </a:xfrm>
          <a:prstGeom prst="rect">
            <a:avLst/>
          </a:prstGeom>
          <a:noFill/>
          <a:ln/>
        </p:spPr>
        <p:txBody>
          <a:bodyPr wrap="square" lIns="25400" tIns="25400" rIns="25400" bIns="25400" rtlCol="0" anchor="t">
            <a:normAutofit/>
          </a:bodyPr>
          <a:lstStyle/>
          <a:p>
            <a:pPr algn="l" marL="186690" indent="-186690">
              <a:lnSpc>
                <a:spcPct val="160000"/>
              </a:lnSpc>
              <a:buSzPct val="100000"/>
              <a:buChar char="•"/>
              <a:tabLst>
                <a:tab pos="186690" algn="l"/>
              </a:tabLst>
            </a:pPr>
            <a:r>
              <a:rPr lang="en-US" sz="2100" dirty="0">
                <a:solidFill>
                  <a:srgbClr val="EAF1EC"/>
                </a:solidFill>
                <a:latin typeface="Arial" pitchFamily="34" charset="0"/>
                <a:ea typeface="Arial" pitchFamily="34" charset="-122"/>
                <a:cs typeface="Arial" pitchFamily="34" charset="-120"/>
              </a:rPr>
              <a:t>Enrichment shown to survive removal of direct-contact residues.</a:t>
            </a:r>
            <a:endParaRPr lang="en-US" sz="2100" dirty="0"/>
          </a:p>
        </p:txBody>
      </p:sp>
      <p:sp>
        <p:nvSpPr>
          <p:cNvPr id="9" name="Shape 7"/>
          <p:cNvSpPr/>
          <p:nvPr/>
        </p:nvSpPr>
        <p:spPr>
          <a:xfrm>
            <a:off x="9334500" y="2911673"/>
            <a:ext cx="7962900" cy="6537127"/>
          </a:xfrm>
          <a:prstGeom prst="roundRect">
            <a:avLst>
              <a:gd name="adj" fmla="val 1166"/>
            </a:avLst>
          </a:prstGeom>
          <a:solidFill>
            <a:srgbClr val="14211B"/>
          </a:solidFill>
          <a:ln/>
        </p:spPr>
        <p:txBody>
          <a:bodyPr/>
          <a:p/>
        </p:txBody>
      </p:sp>
      <p:sp>
        <p:nvSpPr>
          <p:cNvPr id="10" name="Text 8"/>
          <p:cNvSpPr/>
          <p:nvPr/>
        </p:nvSpPr>
        <p:spPr>
          <a:xfrm>
            <a:off x="9753600" y="3330773"/>
            <a:ext cx="7837170" cy="323850"/>
          </a:xfrm>
          <a:prstGeom prst="rect">
            <a:avLst/>
          </a:prstGeom>
          <a:noFill/>
          <a:ln/>
        </p:spPr>
        <p:txBody>
          <a:bodyPr wrap="square" lIns="25400" tIns="25400" rIns="25400" bIns="25400" rtlCol="0" anchor="t">
            <a:normAutofit/>
          </a:bodyPr>
          <a:lstStyle/>
          <a:p>
            <a:pPr algn="l" indent="0" marL="0">
              <a:buNone/>
            </a:pPr>
            <a:r>
              <a:rPr lang="en-US" sz="1725" dirty="0">
                <a:solidFill>
                  <a:srgbClr val="8FBF9E"/>
                </a:solidFill>
                <a:latin typeface="Courier New" pitchFamily="34" charset="0"/>
                <a:ea typeface="Courier New" pitchFamily="34" charset="-122"/>
                <a:cs typeface="Courier New" pitchFamily="34" charset="-120"/>
              </a:rPr>
              <a:t>WHAT IT'S FOR</a:t>
            </a:r>
            <a:endParaRPr lang="en-US" sz="1725" dirty="0"/>
          </a:p>
        </p:txBody>
      </p:sp>
      <p:sp>
        <p:nvSpPr>
          <p:cNvPr id="11" name="Text 9"/>
          <p:cNvSpPr/>
          <p:nvPr/>
        </p:nvSpPr>
        <p:spPr>
          <a:xfrm>
            <a:off x="9814560" y="3768923"/>
            <a:ext cx="7139940" cy="2598241"/>
          </a:xfrm>
          <a:prstGeom prst="rect">
            <a:avLst/>
          </a:prstGeom>
          <a:noFill/>
          <a:ln/>
        </p:spPr>
        <p:txBody>
          <a:bodyPr wrap="square" lIns="25400" tIns="25400" rIns="25400" bIns="25400" rtlCol="0" anchor="t">
            <a:normAutofit/>
          </a:bodyPr>
          <a:lstStyle/>
          <a:p>
            <a:pPr algn="l" marL="186690" indent="-186690">
              <a:lnSpc>
                <a:spcPct val="160000"/>
              </a:lnSpc>
              <a:buSzPct val="100000"/>
              <a:buChar char="•"/>
              <a:tabLst>
                <a:tab pos="186690" algn="l"/>
              </a:tabLst>
            </a:pPr>
            <a:r>
              <a:rPr lang="en-US" sz="2100" dirty="0">
                <a:solidFill>
                  <a:srgbClr val="DCE6DF"/>
                </a:solidFill>
                <a:latin typeface="Arial" pitchFamily="34" charset="0"/>
                <a:ea typeface="Arial" pitchFamily="34" charset="-122"/>
                <a:cs typeface="Arial" pitchFamily="34" charset="-120"/>
              </a:rPr>
              <a:t>Place a newly-reported mutation in the framework in minutes.</a:t>
            </a:r>
            <a:endParaRPr lang="en-US" sz="2100" dirty="0"/>
          </a:p>
          <a:p>
            <a:pPr algn="l" marL="186690" indent="-186690">
              <a:lnSpc>
                <a:spcPct val="160000"/>
              </a:lnSpc>
              <a:buSzPct val="100000"/>
              <a:buChar char="•"/>
              <a:tabLst>
                <a:tab pos="186690" algn="l"/>
              </a:tabLst>
            </a:pPr>
            <a:r>
              <a:rPr lang="en-US" sz="2100" dirty="0">
                <a:solidFill>
                  <a:srgbClr val="DCE6DF"/>
                </a:solidFill>
                <a:latin typeface="Arial" pitchFamily="34" charset="0"/>
                <a:ea typeface="Arial" pitchFamily="34" charset="-122"/>
                <a:cs typeface="Arial" pitchFamily="34" charset="-120"/>
              </a:rPr>
              <a:t>Get a structurally-informed first read: contact vs second-shell vs interface.</a:t>
            </a:r>
            <a:endParaRPr lang="en-US" sz="2100" dirty="0"/>
          </a:p>
          <a:p>
            <a:pPr algn="l" marL="186690" indent="-186690">
              <a:lnSpc>
                <a:spcPct val="160000"/>
              </a:lnSpc>
              <a:buSzPct val="100000"/>
              <a:buChar char="•"/>
              <a:tabLst>
                <a:tab pos="186690" algn="l"/>
              </a:tabLst>
            </a:pPr>
            <a:r>
              <a:rPr lang="en-US" sz="2100" dirty="0">
                <a:solidFill>
                  <a:srgbClr val="DCE6DF"/>
                </a:solidFill>
                <a:latin typeface="Arial" pitchFamily="34" charset="0"/>
                <a:ea typeface="Arial" pitchFamily="34" charset="-122"/>
                <a:cs typeface="Arial" pitchFamily="34" charset="-120"/>
              </a:rPr>
              <a:t>Focus follow-up assays and alternative-chemistry decisions.</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14400" y="7620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3B6B4A"/>
                </a:solidFill>
                <a:latin typeface="Courier New" pitchFamily="34" charset="0"/>
                <a:ea typeface="Courier New" pitchFamily="34" charset="-122"/>
                <a:cs typeface="Courier New" pitchFamily="34" charset="-120"/>
              </a:rPr>
              <a:t>PHASE 5 · THE EMERGING TARGETS, AUDITED</a:t>
            </a:r>
            <a:endParaRPr lang="en-US" sz="1650" dirty="0"/>
          </a:p>
        </p:txBody>
      </p:sp>
      <p:sp>
        <p:nvSpPr>
          <p:cNvPr id="3" name="Text 1"/>
          <p:cNvSpPr/>
          <p:nvPr/>
        </p:nvSpPr>
        <p:spPr>
          <a:xfrm>
            <a:off x="914400" y="1147763"/>
            <a:ext cx="1810512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spc="-45" kern="0" dirty="0">
                <a:solidFill>
                  <a:srgbClr val="1C2A24"/>
                </a:solidFill>
                <a:latin typeface="Georgia" pitchFamily="34" charset="0"/>
                <a:ea typeface="Georgia" pitchFamily="34" charset="-122"/>
                <a:cs typeface="Georgia" pitchFamily="34" charset="-120"/>
              </a:rPr>
              <a:t>We audited FAT and DHODH — and held both out</a:t>
            </a:r>
            <a:endParaRPr lang="en-US" sz="4500" dirty="0"/>
          </a:p>
        </p:txBody>
      </p:sp>
      <p:sp>
        <p:nvSpPr>
          <p:cNvPr id="4" name="Shape 2"/>
          <p:cNvSpPr/>
          <p:nvPr/>
        </p:nvSpPr>
        <p:spPr>
          <a:xfrm>
            <a:off x="914400" y="2128838"/>
            <a:ext cx="8096250" cy="6396038"/>
          </a:xfrm>
          <a:prstGeom prst="roundRect">
            <a:avLst>
              <a:gd name="adj" fmla="val 1191"/>
            </a:avLst>
          </a:prstGeom>
          <a:solidFill>
            <a:srgbClr val="FFFFFF"/>
          </a:solidFill>
          <a:ln w="9525">
            <a:solidFill>
              <a:srgbClr val="DED9CD"/>
            </a:solidFill>
            <a:prstDash val="solid"/>
          </a:ln>
        </p:spPr>
        <p:txBody>
          <a:bodyPr/>
          <a:p/>
        </p:txBody>
      </p:sp>
      <p:sp>
        <p:nvSpPr>
          <p:cNvPr id="5" name="Text 3"/>
          <p:cNvSpPr/>
          <p:nvPr/>
        </p:nvSpPr>
        <p:spPr>
          <a:xfrm>
            <a:off x="1304925" y="2519363"/>
            <a:ext cx="807021" cy="619125"/>
          </a:xfrm>
          <a:prstGeom prst="rect">
            <a:avLst/>
          </a:prstGeom>
          <a:noFill/>
          <a:ln/>
        </p:spPr>
        <p:txBody>
          <a:bodyPr wrap="square" lIns="25400" tIns="25400" rIns="25400" bIns="25400" rtlCol="0" anchor="t">
            <a:normAutofit/>
          </a:bodyPr>
          <a:lstStyle/>
          <a:p>
            <a:pPr algn="l" indent="0" marL="0">
              <a:buNone/>
            </a:pPr>
            <a:r>
              <a:rPr lang="en-US" sz="3000" dirty="0">
                <a:solidFill>
                  <a:srgbClr val="1C2A24"/>
                </a:solidFill>
                <a:latin typeface="Georgia" pitchFamily="34" charset="0"/>
                <a:ea typeface="Georgia" pitchFamily="34" charset="-122"/>
                <a:cs typeface="Georgia" pitchFamily="34" charset="-120"/>
              </a:rPr>
              <a:t>FAT</a:t>
            </a:r>
            <a:endParaRPr lang="en-US" sz="3000" dirty="0"/>
          </a:p>
        </p:txBody>
      </p:sp>
      <p:sp>
        <p:nvSpPr>
          <p:cNvPr id="6" name="Text 4"/>
          <p:cNvSpPr/>
          <p:nvPr/>
        </p:nvSpPr>
        <p:spPr>
          <a:xfrm>
            <a:off x="2169096" y="2738438"/>
            <a:ext cx="3344451" cy="271463"/>
          </a:xfrm>
          <a:prstGeom prst="rect">
            <a:avLst/>
          </a:prstGeom>
          <a:noFill/>
          <a:ln/>
        </p:spPr>
        <p:txBody>
          <a:bodyPr wrap="square" lIns="25400" tIns="25400" rIns="25400" bIns="25400" rtlCol="0" anchor="t">
            <a:normAutofit/>
          </a:bodyPr>
          <a:lstStyle/>
          <a:p>
            <a:pPr algn="l" indent="0" marL="0">
              <a:buNone/>
            </a:pPr>
            <a:r>
              <a:rPr lang="en-US" sz="1425" dirty="0">
                <a:solidFill>
                  <a:srgbClr val="C28B2C"/>
                </a:solidFill>
                <a:latin typeface="Courier New" pitchFamily="34" charset="0"/>
                <a:ea typeface="Courier New" pitchFamily="34" charset="-122"/>
                <a:cs typeface="Courier New" pitchFamily="34" charset="-120"/>
              </a:rPr>
              <a:t>ENGINEERED, NOT WEED-EVOLVED</a:t>
            </a:r>
            <a:endParaRPr lang="en-US" sz="1425" dirty="0"/>
          </a:p>
        </p:txBody>
      </p:sp>
      <p:sp>
        <p:nvSpPr>
          <p:cNvPr id="7" name="Text 5"/>
          <p:cNvSpPr/>
          <p:nvPr/>
        </p:nvSpPr>
        <p:spPr>
          <a:xfrm>
            <a:off x="1304925" y="3271838"/>
            <a:ext cx="7534656" cy="1502866"/>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R171K is a lab construct with a huge resistance index — but it needs </a:t>
            </a:r>
            <a:pPr algn="l" indent="0" marL="0">
              <a:lnSpc>
                <a:spcPct val="145000"/>
              </a:lnSpc>
              <a:buNone/>
            </a:pPr>
            <a:r>
              <a:rPr lang="en-US" sz="1950" b="1" dirty="0">
                <a:solidFill>
                  <a:srgbClr val="3A443E"/>
                </a:solidFill>
                <a:latin typeface="Arial" pitchFamily="34" charset="0"/>
                <a:ea typeface="Arial" pitchFamily="34" charset="-122"/>
                <a:cs typeface="Arial" pitchFamily="34" charset="-120"/>
              </a:rPr>
              <a:t>three simultaneous nucleotide changes </a:t>
            </a:r>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 so the authors call field evolution unlikely. Real cinmethylin resistance in </a:t>
            </a:r>
            <a:pPr algn="l" indent="0" marL="0">
              <a:lnSpc>
                <a:spcPct val="145000"/>
              </a:lnSpc>
              <a:buNone/>
            </a:pPr>
            <a:r>
              <a:rPr lang="en-US" sz="1950" i="1" dirty="0">
                <a:solidFill>
                  <a:srgbClr val="3A443E"/>
                </a:solidFill>
                <a:latin typeface="Arial" pitchFamily="34" charset="0"/>
                <a:ea typeface="Arial" pitchFamily="34" charset="-122"/>
                <a:cs typeface="Arial" pitchFamily="34" charset="-120"/>
              </a:rPr>
              <a:t>Lolium </a:t>
            </a:r>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does exist — but it's </a:t>
            </a:r>
            <a:pPr algn="l" indent="0" marL="0">
              <a:lnSpc>
                <a:spcPct val="145000"/>
              </a:lnSpc>
              <a:buNone/>
            </a:pPr>
            <a:r>
              <a:rPr lang="en-US" sz="1950" b="1" dirty="0">
                <a:solidFill>
                  <a:srgbClr val="3A443E"/>
                </a:solidFill>
                <a:latin typeface="Arial" pitchFamily="34" charset="0"/>
                <a:ea typeface="Arial" pitchFamily="34" charset="-122"/>
                <a:cs typeface="Arial" pitchFamily="34" charset="-120"/>
              </a:rPr>
              <a:t>metabolic (P450)</a:t>
            </a:r>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 not target-site.</a:t>
            </a:r>
            <a:endParaRPr lang="en-US" sz="1950" dirty="0"/>
          </a:p>
        </p:txBody>
      </p:sp>
      <p:sp>
        <p:nvSpPr>
          <p:cNvPr id="8" name="Shape 6"/>
          <p:cNvSpPr/>
          <p:nvPr/>
        </p:nvSpPr>
        <p:spPr>
          <a:xfrm>
            <a:off x="9277350" y="2128838"/>
            <a:ext cx="8096250" cy="6396038"/>
          </a:xfrm>
          <a:prstGeom prst="roundRect">
            <a:avLst>
              <a:gd name="adj" fmla="val 1191"/>
            </a:avLst>
          </a:prstGeom>
          <a:solidFill>
            <a:srgbClr val="FFFFFF"/>
          </a:solidFill>
          <a:ln w="9525">
            <a:solidFill>
              <a:srgbClr val="DED9CD"/>
            </a:solidFill>
            <a:prstDash val="solid"/>
          </a:ln>
        </p:spPr>
        <p:txBody>
          <a:bodyPr/>
          <a:p/>
        </p:txBody>
      </p:sp>
      <p:sp>
        <p:nvSpPr>
          <p:cNvPr id="9" name="Text 7"/>
          <p:cNvSpPr/>
          <p:nvPr/>
        </p:nvSpPr>
        <p:spPr>
          <a:xfrm>
            <a:off x="9667875" y="2519363"/>
            <a:ext cx="1666823" cy="619125"/>
          </a:xfrm>
          <a:prstGeom prst="rect">
            <a:avLst/>
          </a:prstGeom>
          <a:noFill/>
          <a:ln/>
        </p:spPr>
        <p:txBody>
          <a:bodyPr wrap="square" lIns="25400" tIns="25400" rIns="25400" bIns="25400" rtlCol="0" anchor="t">
            <a:normAutofit/>
          </a:bodyPr>
          <a:lstStyle/>
          <a:p>
            <a:pPr algn="l" indent="0" marL="0">
              <a:buNone/>
            </a:pPr>
            <a:r>
              <a:rPr lang="en-US" sz="3000" dirty="0">
                <a:solidFill>
                  <a:srgbClr val="1C2A24"/>
                </a:solidFill>
                <a:latin typeface="Georgia" pitchFamily="34" charset="0"/>
                <a:ea typeface="Georgia" pitchFamily="34" charset="-122"/>
                <a:cs typeface="Georgia" pitchFamily="34" charset="-120"/>
              </a:rPr>
              <a:t>DHODH</a:t>
            </a:r>
            <a:endParaRPr lang="en-US" sz="3000" dirty="0"/>
          </a:p>
        </p:txBody>
      </p:sp>
      <p:sp>
        <p:nvSpPr>
          <p:cNvPr id="10" name="Text 8"/>
          <p:cNvSpPr/>
          <p:nvPr/>
        </p:nvSpPr>
        <p:spPr>
          <a:xfrm>
            <a:off x="11316519" y="2738438"/>
            <a:ext cx="2866660" cy="271463"/>
          </a:xfrm>
          <a:prstGeom prst="rect">
            <a:avLst/>
          </a:prstGeom>
          <a:noFill/>
          <a:ln/>
        </p:spPr>
        <p:txBody>
          <a:bodyPr wrap="square" lIns="25400" tIns="25400" rIns="25400" bIns="25400" rtlCol="0" anchor="t">
            <a:normAutofit/>
          </a:bodyPr>
          <a:lstStyle/>
          <a:p>
            <a:pPr algn="l" indent="0" marL="0">
              <a:buNone/>
            </a:pPr>
            <a:r>
              <a:rPr lang="en-US" sz="1425" dirty="0">
                <a:solidFill>
                  <a:srgbClr val="C28B2C"/>
                </a:solidFill>
                <a:latin typeface="Courier New" pitchFamily="34" charset="0"/>
                <a:ea typeface="Courier New" pitchFamily="34" charset="-122"/>
                <a:cs typeface="Courier New" pitchFamily="34" charset="-120"/>
              </a:rPr>
              <a:t>LAB-SELECTED, NOT PUBLIC</a:t>
            </a:r>
            <a:endParaRPr lang="en-US" sz="1425" dirty="0"/>
          </a:p>
        </p:txBody>
      </p:sp>
      <p:sp>
        <p:nvSpPr>
          <p:cNvPr id="11" name="Text 9"/>
          <p:cNvSpPr/>
          <p:nvPr/>
        </p:nvSpPr>
        <p:spPr>
          <a:xfrm>
            <a:off x="9667875" y="3271838"/>
            <a:ext cx="7534656" cy="1493341"/>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G198E and A141T come from </a:t>
            </a:r>
            <a:pPr algn="l" indent="0" marL="0">
              <a:lnSpc>
                <a:spcPct val="145000"/>
              </a:lnSpc>
              <a:buNone/>
            </a:pPr>
            <a:r>
              <a:rPr lang="en-US" sz="1950" b="1" dirty="0">
                <a:solidFill>
                  <a:srgbClr val="3A443E"/>
                </a:solidFill>
                <a:latin typeface="Arial" pitchFamily="34" charset="0"/>
                <a:ea typeface="Arial" pitchFamily="34" charset="-122"/>
                <a:cs typeface="Arial" pitchFamily="34" charset="-120"/>
              </a:rPr>
              <a:t>EMS-mutagenised Arabidopsis </a:t>
            </a:r>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lines, not weeds. A real rice DHODH structure exists but was </a:t>
            </a:r>
            <a:pPr algn="l" indent="0" marL="0">
              <a:lnSpc>
                <a:spcPct val="145000"/>
              </a:lnSpc>
              <a:buNone/>
            </a:pPr>
            <a:r>
              <a:rPr lang="en-US" sz="1950" b="1" dirty="0">
                <a:solidFill>
                  <a:srgbClr val="3A443E"/>
                </a:solidFill>
                <a:latin typeface="Arial" pitchFamily="34" charset="0"/>
                <a:ea typeface="Arial" pitchFamily="34" charset="-122"/>
                <a:cs typeface="Arial" pitchFamily="34" charset="-120"/>
              </a:rPr>
              <a:t>never publicly deposited </a:t>
            </a:r>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 so we say “no </a:t>
            </a:r>
            <a:pPr algn="l" indent="0" marL="0">
              <a:lnSpc>
                <a:spcPct val="145000"/>
              </a:lnSpc>
              <a:buNone/>
            </a:pPr>
            <a:r>
              <a:rPr lang="en-US" sz="1950" i="1" dirty="0">
                <a:solidFill>
                  <a:srgbClr val="3A443E"/>
                </a:solidFill>
                <a:latin typeface="Arial" pitchFamily="34" charset="0"/>
                <a:ea typeface="Arial" pitchFamily="34" charset="-122"/>
                <a:cs typeface="Arial" pitchFamily="34" charset="-120"/>
              </a:rPr>
              <a:t>public </a:t>
            </a:r>
            <a:pPr algn="l" indent="0" marL="0">
              <a:lnSpc>
                <a:spcPct val="145000"/>
              </a:lnSpc>
              <a:buNone/>
            </a:pPr>
            <a:r>
              <a:rPr lang="en-US" sz="1950" dirty="0">
                <a:solidFill>
                  <a:srgbClr val="3A443E"/>
                </a:solidFill>
                <a:latin typeface="Arial" pitchFamily="34" charset="0"/>
                <a:ea typeface="Arial" pitchFamily="34" charset="-122"/>
                <a:cs typeface="Arial" pitchFamily="34" charset="-120"/>
              </a:rPr>
              <a:t>plant structure,” not “none at all.”</a:t>
            </a:r>
            <a:endParaRPr lang="en-US" sz="1950" dirty="0"/>
          </a:p>
        </p:txBody>
      </p:sp>
      <p:sp>
        <p:nvSpPr>
          <p:cNvPr id="12" name="Text 10"/>
          <p:cNvSpPr/>
          <p:nvPr/>
        </p:nvSpPr>
        <p:spPr>
          <a:xfrm>
            <a:off x="914400" y="8829675"/>
            <a:ext cx="16952976" cy="733425"/>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5A6660"/>
                </a:solidFill>
                <a:latin typeface="Arial" pitchFamily="34" charset="0"/>
                <a:ea typeface="Arial" pitchFamily="34" charset="-122"/>
                <a:cs typeface="Arial" pitchFamily="34" charset="-120"/>
              </a:rPr>
              <a:t>A numbering check even refuted our own prior hypothesis: black-grass R171 and Arabidopsis Arg176 are most likely </a:t>
            </a:r>
            <a:pPr algn="l" indent="0" marL="0">
              <a:lnSpc>
                <a:spcPct val="145000"/>
              </a:lnSpc>
              <a:buNone/>
            </a:pPr>
            <a:r>
              <a:rPr lang="en-US" sz="1875" b="1" dirty="0">
                <a:solidFill>
                  <a:srgbClr val="5A6660"/>
                </a:solidFill>
                <a:latin typeface="Arial" pitchFamily="34" charset="0"/>
                <a:ea typeface="Arial" pitchFamily="34" charset="-122"/>
                <a:cs typeface="Arial" pitchFamily="34" charset="-120"/>
              </a:rPr>
              <a:t>different residues </a:t>
            </a:r>
            <a:pPr algn="l" indent="0" marL="0">
              <a:lnSpc>
                <a:spcPct val="145000"/>
              </a:lnSpc>
              <a:buNone/>
            </a:pPr>
            <a:r>
              <a:rPr lang="en-US" sz="1875" dirty="0">
                <a:solidFill>
                  <a:srgbClr val="5A6660"/>
                </a:solidFill>
                <a:latin typeface="Arial" pitchFamily="34" charset="0"/>
                <a:ea typeface="Arial" pitchFamily="34" charset="-122"/>
                <a:cs typeface="Arial" pitchFamily="34" charset="-120"/>
              </a:rPr>
              <a:t>, ~70 positions apart.</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E5540"/>
        </a:solidFill>
      </p:bgPr>
    </p:bg>
    <p:spTree>
      <p:nvGrpSpPr>
        <p:cNvPr id="1" name=""/>
        <p:cNvGrpSpPr/>
        <p:nvPr/>
      </p:nvGrpSpPr>
      <p:grpSpPr>
        <a:xfrm>
          <a:off x="0" y="0"/>
          <a:ext cx="0" cy="0"/>
          <a:chOff x="0" y="0"/>
          <a:chExt cx="0" cy="0"/>
        </a:xfrm>
      </p:grpSpPr>
      <p:sp>
        <p:nvSpPr>
          <p:cNvPr id="2" name="Text 0"/>
          <p:cNvSpPr/>
          <p:nvPr/>
        </p:nvSpPr>
        <p:spPr>
          <a:xfrm>
            <a:off x="990600" y="2679725"/>
            <a:ext cx="1793748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A9CDB6"/>
                </a:solidFill>
                <a:latin typeface="Courier New" pitchFamily="34" charset="0"/>
                <a:ea typeface="Courier New" pitchFamily="34" charset="-122"/>
                <a:cs typeface="Courier New" pitchFamily="34" charset="-120"/>
              </a:rPr>
              <a:t>WHY THEY'RE HELD OUT — THE DISCIPLINE</a:t>
            </a:r>
            <a:endParaRPr lang="en-US" sz="1650" dirty="0"/>
          </a:p>
        </p:txBody>
      </p:sp>
      <p:sp>
        <p:nvSpPr>
          <p:cNvPr id="3" name="Text 1"/>
          <p:cNvSpPr/>
          <p:nvPr/>
        </p:nvSpPr>
        <p:spPr>
          <a:xfrm>
            <a:off x="990600" y="3141687"/>
            <a:ext cx="14519910" cy="1354782"/>
          </a:xfrm>
          <a:prstGeom prst="rect">
            <a:avLst/>
          </a:prstGeom>
          <a:noFill/>
          <a:ln/>
        </p:spPr>
        <p:txBody>
          <a:bodyPr wrap="square" lIns="25400" tIns="25400" rIns="25400" bIns="25400" rtlCol="0" anchor="t">
            <a:normAutofit/>
          </a:bodyPr>
          <a:lstStyle/>
          <a:p>
            <a:pPr algn="l" indent="0" marL="0">
              <a:lnSpc>
                <a:spcPct val="108000"/>
              </a:lnSpc>
              <a:buNone/>
            </a:pPr>
            <a:r>
              <a:rPr lang="en-US" sz="4800" spc="-48" kern="0" dirty="0">
                <a:solidFill>
                  <a:srgbClr val="F4F1EA"/>
                </a:solidFill>
                <a:latin typeface="Georgia" pitchFamily="34" charset="0"/>
                <a:ea typeface="Georgia" pitchFamily="34" charset="-122"/>
                <a:cs typeface="Georgia" pitchFamily="34" charset="-120"/>
              </a:rPr>
              <a:t>Nothing joins the pooled analysis until it's weed-evolved</a:t>
            </a:r>
            <a:endParaRPr lang="en-US" sz="4800" dirty="0"/>
          </a:p>
        </p:txBody>
      </p:sp>
      <p:sp>
        <p:nvSpPr>
          <p:cNvPr id="4" name="Text 2"/>
          <p:cNvSpPr/>
          <p:nvPr/>
        </p:nvSpPr>
        <p:spPr>
          <a:xfrm>
            <a:off x="990600" y="5336604"/>
            <a:ext cx="8123301" cy="1887736"/>
          </a:xfrm>
          <a:prstGeom prst="rect">
            <a:avLst/>
          </a:prstGeom>
          <a:noFill/>
          <a:ln/>
        </p:spPr>
        <p:txBody>
          <a:bodyPr wrap="square" lIns="25400" tIns="25400" rIns="25400" bIns="25400" rtlCol="0" anchor="t">
            <a:normAutofit/>
          </a:bodyPr>
          <a:lstStyle/>
          <a:p>
            <a:pPr algn="l" indent="0" marL="0">
              <a:lnSpc>
                <a:spcPct val="155000"/>
              </a:lnSpc>
              <a:buNone/>
            </a:pPr>
            <a:r>
              <a:rPr lang="en-US" sz="2325" dirty="0">
                <a:solidFill>
                  <a:srgbClr val="EAF1EC"/>
                </a:solidFill>
                <a:latin typeface="Arial" pitchFamily="34" charset="0"/>
                <a:ea typeface="Arial" pitchFamily="34" charset="-122"/>
                <a:cs typeface="Arial" pitchFamily="34" charset="-120"/>
              </a:rPr>
              <a:t>Both targets have verified mutation evidence — but engineered and EMS-lab variants are </a:t>
            </a:r>
            <a:pPr algn="l" indent="0" marL="0">
              <a:lnSpc>
                <a:spcPct val="155000"/>
              </a:lnSpc>
              <a:buNone/>
            </a:pPr>
            <a:r>
              <a:rPr lang="en-US" sz="2325" b="1" dirty="0">
                <a:solidFill>
                  <a:srgbClr val="FFFFFF"/>
                </a:solidFill>
                <a:latin typeface="Arial" pitchFamily="34" charset="0"/>
                <a:ea typeface="Arial" pitchFamily="34" charset="-122"/>
                <a:cs typeface="Arial" pitchFamily="34" charset="-120"/>
              </a:rPr>
              <a:t>not the same thing </a:t>
            </a:r>
            <a:pPr algn="l" indent="0" marL="0">
              <a:lnSpc>
                <a:spcPct val="155000"/>
              </a:lnSpc>
              <a:buNone/>
            </a:pPr>
            <a:r>
              <a:rPr lang="en-US" sz="2325" dirty="0">
                <a:solidFill>
                  <a:srgbClr val="EAF1EC"/>
                </a:solidFill>
                <a:latin typeface="Arial" pitchFamily="34" charset="0"/>
                <a:ea typeface="Arial" pitchFamily="34" charset="-122"/>
                <a:cs typeface="Arial" pitchFamily="34" charset="-120"/>
              </a:rPr>
              <a:t>as resistance that evolved in a field. They live in a separate Phase 5 </a:t>
            </a:r>
            <a:pPr algn="l" indent="0" marL="0">
              <a:lnSpc>
                <a:spcPct val="155000"/>
              </a:lnSpc>
              <a:buNone/>
            </a:pPr>
            <a:r>
              <a:rPr lang="en-US" sz="2325" i="1" dirty="0">
                <a:solidFill>
                  <a:srgbClr val="EAF1EC"/>
                </a:solidFill>
                <a:latin typeface="Arial" pitchFamily="34" charset="0"/>
                <a:ea typeface="Arial" pitchFamily="34" charset="-122"/>
                <a:cs typeface="Arial" pitchFamily="34" charset="-120"/>
              </a:rPr>
              <a:t>risk table</a:t>
            </a:r>
            <a:pPr algn="l" indent="0" marL="0">
              <a:lnSpc>
                <a:spcPct val="155000"/>
              </a:lnSpc>
              <a:buNone/>
            </a:pPr>
            <a:r>
              <a:rPr lang="en-US" sz="2325" dirty="0">
                <a:solidFill>
                  <a:srgbClr val="EAF1EC"/>
                </a:solidFill>
                <a:latin typeface="Arial" pitchFamily="34" charset="0"/>
                <a:ea typeface="Arial" pitchFamily="34" charset="-122"/>
                <a:cs typeface="Arial" pitchFamily="34" charset="-120"/>
              </a:rPr>
              <a:t>, never in the Phase 4 pooled test.</a:t>
            </a:r>
            <a:endParaRPr lang="en-US" sz="2325" dirty="0"/>
          </a:p>
        </p:txBody>
      </p:sp>
      <p:sp>
        <p:nvSpPr>
          <p:cNvPr id="5" name="Shape 3"/>
          <p:cNvSpPr/>
          <p:nvPr/>
        </p:nvSpPr>
        <p:spPr>
          <a:xfrm>
            <a:off x="9410700" y="4915570"/>
            <a:ext cx="7886700" cy="985838"/>
          </a:xfrm>
          <a:prstGeom prst="roundRect">
            <a:avLst>
              <a:gd name="adj" fmla="val 7729"/>
            </a:avLst>
          </a:prstGeom>
          <a:solidFill>
            <a:srgbClr val="14211B"/>
          </a:solidFill>
          <a:ln/>
        </p:spPr>
        <p:txBody>
          <a:bodyPr/>
          <a:p/>
        </p:txBody>
      </p:sp>
      <p:sp>
        <p:nvSpPr>
          <p:cNvPr id="6" name="Text 4"/>
          <p:cNvSpPr/>
          <p:nvPr/>
        </p:nvSpPr>
        <p:spPr>
          <a:xfrm>
            <a:off x="9715500" y="5163220"/>
            <a:ext cx="697409" cy="528638"/>
          </a:xfrm>
          <a:prstGeom prst="rect">
            <a:avLst/>
          </a:prstGeom>
          <a:noFill/>
          <a:ln/>
        </p:spPr>
        <p:txBody>
          <a:bodyPr wrap="square" lIns="25400" tIns="25400" rIns="25400" bIns="25400" rtlCol="0" anchor="t">
            <a:normAutofit/>
          </a:bodyPr>
          <a:lstStyle/>
          <a:p>
            <a:pPr algn="l" indent="0" marL="0">
              <a:buNone/>
            </a:pPr>
            <a:r>
              <a:rPr lang="en-US" sz="2550" dirty="0">
                <a:solidFill>
                  <a:srgbClr val="F4F1EA"/>
                </a:solidFill>
                <a:latin typeface="Georgia" pitchFamily="34" charset="0"/>
                <a:ea typeface="Georgia" pitchFamily="34" charset="-122"/>
                <a:cs typeface="Georgia" pitchFamily="34" charset="-120"/>
              </a:rPr>
              <a:t>FAT</a:t>
            </a:r>
            <a:endParaRPr lang="en-US" sz="2550" dirty="0"/>
          </a:p>
        </p:txBody>
      </p:sp>
      <p:sp>
        <p:nvSpPr>
          <p:cNvPr id="7" name="Text 5"/>
          <p:cNvSpPr/>
          <p:nvPr/>
        </p:nvSpPr>
        <p:spPr>
          <a:xfrm>
            <a:off x="15483780" y="5260851"/>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D9A85A"/>
                </a:solidFill>
                <a:latin typeface="Courier New" pitchFamily="34" charset="0"/>
                <a:ea typeface="Courier New" pitchFamily="34" charset="-122"/>
                <a:cs typeface="Courier New" pitchFamily="34" charset="-120"/>
              </a:rPr>
              <a:t>audit_first</a:t>
            </a:r>
            <a:endParaRPr lang="en-US" sz="1800" dirty="0"/>
          </a:p>
        </p:txBody>
      </p:sp>
      <p:sp>
        <p:nvSpPr>
          <p:cNvPr id="8" name="Shape 6"/>
          <p:cNvSpPr/>
          <p:nvPr/>
        </p:nvSpPr>
        <p:spPr>
          <a:xfrm>
            <a:off x="9410700" y="6072857"/>
            <a:ext cx="7886700" cy="985838"/>
          </a:xfrm>
          <a:prstGeom prst="roundRect">
            <a:avLst>
              <a:gd name="adj" fmla="val 7729"/>
            </a:avLst>
          </a:prstGeom>
          <a:solidFill>
            <a:srgbClr val="14211B"/>
          </a:solidFill>
          <a:ln/>
        </p:spPr>
        <p:txBody>
          <a:bodyPr/>
          <a:p/>
        </p:txBody>
      </p:sp>
      <p:sp>
        <p:nvSpPr>
          <p:cNvPr id="9" name="Text 7"/>
          <p:cNvSpPr/>
          <p:nvPr/>
        </p:nvSpPr>
        <p:spPr>
          <a:xfrm>
            <a:off x="9715500" y="6320507"/>
            <a:ext cx="1416754" cy="528638"/>
          </a:xfrm>
          <a:prstGeom prst="rect">
            <a:avLst/>
          </a:prstGeom>
          <a:noFill/>
          <a:ln/>
        </p:spPr>
        <p:txBody>
          <a:bodyPr wrap="square" lIns="25400" tIns="25400" rIns="25400" bIns="25400" rtlCol="0" anchor="t">
            <a:normAutofit/>
          </a:bodyPr>
          <a:lstStyle/>
          <a:p>
            <a:pPr algn="l" indent="0" marL="0">
              <a:buNone/>
            </a:pPr>
            <a:r>
              <a:rPr lang="en-US" sz="2550" dirty="0">
                <a:solidFill>
                  <a:srgbClr val="F4F1EA"/>
                </a:solidFill>
                <a:latin typeface="Georgia" pitchFamily="34" charset="0"/>
                <a:ea typeface="Georgia" pitchFamily="34" charset="-122"/>
                <a:cs typeface="Georgia" pitchFamily="34" charset="-120"/>
              </a:rPr>
              <a:t>DHODH</a:t>
            </a:r>
            <a:endParaRPr lang="en-US" sz="2550" dirty="0"/>
          </a:p>
        </p:txBody>
      </p:sp>
      <p:sp>
        <p:nvSpPr>
          <p:cNvPr id="10" name="Text 8"/>
          <p:cNvSpPr/>
          <p:nvPr/>
        </p:nvSpPr>
        <p:spPr>
          <a:xfrm>
            <a:off x="14660835" y="6418138"/>
            <a:ext cx="25649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D9A85A"/>
                </a:solidFill>
                <a:latin typeface="Courier New" pitchFamily="34" charset="0"/>
                <a:ea typeface="Courier New" pitchFamily="34" charset="-122"/>
                <a:cs typeface="Courier New" pitchFamily="34" charset="-120"/>
              </a:rPr>
              <a:t>hold_model_source</a:t>
            </a:r>
            <a:endParaRPr lang="en-US" sz="1800" dirty="0"/>
          </a:p>
        </p:txBody>
      </p:sp>
      <p:sp>
        <p:nvSpPr>
          <p:cNvPr id="11" name="Text 9"/>
          <p:cNvSpPr/>
          <p:nvPr/>
        </p:nvSpPr>
        <p:spPr>
          <a:xfrm>
            <a:off x="9410700" y="7287295"/>
            <a:ext cx="867537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D6E3DA"/>
                </a:solidFill>
                <a:latin typeface="Arial" pitchFamily="34" charset="0"/>
                <a:ea typeface="Arial" pitchFamily="34" charset="-122"/>
                <a:cs typeface="Arial" pitchFamily="34" charset="-120"/>
              </a:rPr>
              <a:t>The same six-point gate that kept HPPD honest now gates the roadmap.</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1B"/>
        </a:solidFill>
      </p:bgPr>
    </p:bg>
    <p:spTree>
      <p:nvGrpSpPr>
        <p:cNvPr id="1" name=""/>
        <p:cNvGrpSpPr/>
        <p:nvPr/>
      </p:nvGrpSpPr>
      <p:grpSpPr>
        <a:xfrm>
          <a:off x="0" y="0"/>
          <a:ext cx="0" cy="0"/>
          <a:chOff x="0" y="0"/>
          <a:chExt cx="0" cy="0"/>
        </a:xfrm>
      </p:grpSpPr>
      <p:sp>
        <p:nvSpPr>
          <p:cNvPr id="2" name="Text 0"/>
          <p:cNvSpPr/>
          <p:nvPr/>
        </p:nvSpPr>
        <p:spPr>
          <a:xfrm>
            <a:off x="914400" y="762000"/>
            <a:ext cx="18105120" cy="309563"/>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8FB7A0"/>
                </a:solidFill>
                <a:latin typeface="Courier New" pitchFamily="34" charset="0"/>
                <a:ea typeface="Courier New" pitchFamily="34" charset="-122"/>
                <a:cs typeface="Courier New" pitchFamily="34" charset="-120"/>
              </a:rPr>
              <a:t>STATUS &amp; WHERE TO DIG IN</a:t>
            </a:r>
            <a:endParaRPr lang="en-US" sz="1650" dirty="0"/>
          </a:p>
        </p:txBody>
      </p:sp>
      <p:sp>
        <p:nvSpPr>
          <p:cNvPr id="3" name="Text 1"/>
          <p:cNvSpPr/>
          <p:nvPr/>
        </p:nvSpPr>
        <p:spPr>
          <a:xfrm>
            <a:off x="914400" y="1147763"/>
            <a:ext cx="1810512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spc="-45" kern="0" dirty="0">
                <a:solidFill>
                  <a:srgbClr val="F4F1EA"/>
                </a:solidFill>
                <a:latin typeface="Georgia" pitchFamily="34" charset="0"/>
                <a:ea typeface="Georgia" pitchFamily="34" charset="-122"/>
                <a:cs typeface="Georgia" pitchFamily="34" charset="-120"/>
              </a:rPr>
              <a:t>Submission-ready, and everything open to inspect</a:t>
            </a:r>
            <a:endParaRPr lang="en-US" sz="4500" dirty="0"/>
          </a:p>
        </p:txBody>
      </p:sp>
      <p:sp>
        <p:nvSpPr>
          <p:cNvPr id="4" name="Shape 2"/>
          <p:cNvSpPr/>
          <p:nvPr/>
        </p:nvSpPr>
        <p:spPr>
          <a:xfrm>
            <a:off x="914400" y="2128838"/>
            <a:ext cx="8096250" cy="5091113"/>
          </a:xfrm>
          <a:prstGeom prst="roundRect">
            <a:avLst>
              <a:gd name="adj" fmla="val 1497"/>
            </a:avLst>
          </a:prstGeom>
          <a:solidFill>
            <a:srgbClr val="FFFFFF">
              <a:alpha val="6000"/>
            </a:srgbClr>
          </a:solidFill>
          <a:ln w="9525">
            <a:solidFill>
              <a:srgbClr val="FFFFFF">
                <a:alpha val="16000"/>
              </a:srgbClr>
            </a:solidFill>
            <a:prstDash val="solid"/>
          </a:ln>
        </p:spPr>
        <p:txBody>
          <a:bodyPr/>
          <a:p/>
        </p:txBody>
      </p:sp>
      <p:sp>
        <p:nvSpPr>
          <p:cNvPr id="5" name="Text 3"/>
          <p:cNvSpPr/>
          <p:nvPr/>
        </p:nvSpPr>
        <p:spPr>
          <a:xfrm>
            <a:off x="1304925" y="2519363"/>
            <a:ext cx="804672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FB7A0"/>
                </a:solidFill>
                <a:latin typeface="Courier New" pitchFamily="34" charset="0"/>
                <a:ea typeface="Courier New" pitchFamily="34" charset="-122"/>
                <a:cs typeface="Courier New" pitchFamily="34" charset="-120"/>
              </a:rPr>
              <a:t>MANUSCRIPT STATUS</a:t>
            </a:r>
            <a:endParaRPr lang="en-US" sz="1650" dirty="0"/>
          </a:p>
        </p:txBody>
      </p:sp>
      <p:sp>
        <p:nvSpPr>
          <p:cNvPr id="6" name="Text 4"/>
          <p:cNvSpPr/>
          <p:nvPr/>
        </p:nvSpPr>
        <p:spPr>
          <a:xfrm>
            <a:off x="1304925" y="2962275"/>
            <a:ext cx="7534656" cy="1247775"/>
          </a:xfrm>
          <a:prstGeom prst="rect">
            <a:avLst/>
          </a:prstGeom>
          <a:noFill/>
          <a:ln/>
        </p:spPr>
        <p:txBody>
          <a:bodyPr wrap="square" lIns="25400" tIns="25400" rIns="25400" bIns="25400" rtlCol="0" anchor="t">
            <a:normAutofit/>
          </a:bodyPr>
          <a:lstStyle/>
          <a:p>
            <a:pPr algn="l" indent="0" marL="0">
              <a:lnSpc>
                <a:spcPct val="150000"/>
              </a:lnSpc>
              <a:buNone/>
            </a:pPr>
            <a:r>
              <a:rPr lang="en-US" sz="2100" b="1" dirty="0">
                <a:solidFill>
                  <a:srgbClr val="FFFFFF"/>
                </a:solidFill>
                <a:latin typeface="Arial" pitchFamily="34" charset="0"/>
                <a:ea typeface="Arial" pitchFamily="34" charset="-122"/>
                <a:cs typeface="Arial" pitchFamily="34" charset="-120"/>
              </a:rPr>
              <a:t>Target journal: Pest Management Science. </a:t>
            </a:r>
            <a:pPr algn="l" indent="0" marL="0">
              <a:lnSpc>
                <a:spcPct val="150000"/>
              </a:lnSpc>
              <a:buNone/>
            </a:pPr>
            <a:r>
              <a:rPr lang="en-US" sz="2100" dirty="0">
                <a:solidFill>
                  <a:srgbClr val="DCE6DF"/>
                </a:solidFill>
                <a:latin typeface="Arial" pitchFamily="34" charset="0"/>
                <a:ea typeface="Arial" pitchFamily="34" charset="-122"/>
                <a:cs typeface="Arial" pitchFamily="34" charset="-120"/>
              </a:rPr>
              <a:t>Abstract trimmed to length, citations in PMS superscript style, 22 references each cited once, figures vector-ready.</a:t>
            </a:r>
            <a:endParaRPr lang="en-US" sz="2100" dirty="0"/>
          </a:p>
        </p:txBody>
      </p:sp>
      <p:sp>
        <p:nvSpPr>
          <p:cNvPr id="7" name="Text 5"/>
          <p:cNvSpPr/>
          <p:nvPr/>
        </p:nvSpPr>
        <p:spPr>
          <a:xfrm>
            <a:off x="1304925" y="4343400"/>
            <a:ext cx="7534656" cy="16383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CBD8CE"/>
                </a:solidFill>
                <a:latin typeface="Arial" pitchFamily="34" charset="0"/>
                <a:ea typeface="Arial" pitchFamily="34" charset="-122"/>
                <a:cs typeface="Arial" pitchFamily="34" charset="-120"/>
              </a:rPr>
              <a:t>Reproducibility scaffolding done — pinned environment, </a:t>
            </a:r>
            <a:pPr algn="l" indent="0" marL="0">
              <a:lnSpc>
                <a:spcPct val="150000"/>
              </a:lnSpc>
              <a:buNone/>
            </a:pPr>
            <a:r>
              <a:rPr lang="en-US" sz="2100" dirty="0">
                <a:solidFill>
                  <a:srgbClr val="CBD8CE"/>
                </a:solidFill>
                <a:latin typeface="Courier New" pitchFamily="34" charset="0"/>
                <a:ea typeface="Courier New" pitchFamily="34" charset="-122"/>
                <a:cs typeface="Courier New" pitchFamily="34" charset="-120"/>
              </a:rPr>
              <a:t>CITATION.cff </a:t>
            </a:r>
            <a:pPr algn="l" indent="0" marL="0">
              <a:lnSpc>
                <a:spcPct val="150000"/>
              </a:lnSpc>
              <a:buNone/>
            </a:pPr>
            <a:r>
              <a:rPr lang="en-US" sz="2100" dirty="0">
                <a:solidFill>
                  <a:srgbClr val="CBD8CE"/>
                </a:solidFill>
                <a:latin typeface="Arial" pitchFamily="34" charset="0"/>
                <a:ea typeface="Arial" pitchFamily="34" charset="-122"/>
                <a:cs typeface="Arial" pitchFamily="34" charset="-120"/>
              </a:rPr>
              <a:t>, MIT license, one-command rebuild, 20 passing tests. Remaining: Zenodo release &amp; ORCID at submission.</a:t>
            </a:r>
            <a:endParaRPr lang="en-US" sz="2100" dirty="0"/>
          </a:p>
        </p:txBody>
      </p:sp>
      <p:sp>
        <p:nvSpPr>
          <p:cNvPr id="8" name="Shape 6"/>
          <p:cNvSpPr/>
          <p:nvPr/>
        </p:nvSpPr>
        <p:spPr>
          <a:xfrm>
            <a:off x="9277350" y="2128838"/>
            <a:ext cx="8096250" cy="5091113"/>
          </a:xfrm>
          <a:prstGeom prst="roundRect">
            <a:avLst>
              <a:gd name="adj" fmla="val 1497"/>
            </a:avLst>
          </a:prstGeom>
          <a:solidFill>
            <a:srgbClr val="FFFFFF">
              <a:alpha val="6000"/>
            </a:srgbClr>
          </a:solidFill>
          <a:ln w="9525">
            <a:solidFill>
              <a:srgbClr val="FFFFFF">
                <a:alpha val="16000"/>
              </a:srgbClr>
            </a:solidFill>
            <a:prstDash val="solid"/>
          </a:ln>
        </p:spPr>
        <p:txBody>
          <a:bodyPr/>
          <a:p/>
        </p:txBody>
      </p:sp>
      <p:sp>
        <p:nvSpPr>
          <p:cNvPr id="9" name="Text 7"/>
          <p:cNvSpPr/>
          <p:nvPr/>
        </p:nvSpPr>
        <p:spPr>
          <a:xfrm>
            <a:off x="9667875" y="2519363"/>
            <a:ext cx="8046720" cy="309563"/>
          </a:xfrm>
          <a:prstGeom prst="rect">
            <a:avLst/>
          </a:prstGeom>
          <a:noFill/>
          <a:ln/>
        </p:spPr>
        <p:txBody>
          <a:bodyPr wrap="square" lIns="25400" tIns="25400" rIns="25400" bIns="25400" rtlCol="0" anchor="t">
            <a:normAutofit/>
          </a:bodyPr>
          <a:lstStyle/>
          <a:p>
            <a:pPr algn="l" indent="0" marL="0">
              <a:buNone/>
            </a:pPr>
            <a:r>
              <a:rPr lang="en-US" sz="1650" dirty="0">
                <a:solidFill>
                  <a:srgbClr val="8FBF9E"/>
                </a:solidFill>
                <a:latin typeface="Courier New" pitchFamily="34" charset="0"/>
                <a:ea typeface="Courier New" pitchFamily="34" charset="-122"/>
                <a:cs typeface="Courier New" pitchFamily="34" charset="-120"/>
              </a:rPr>
              <a:t>OPEN &amp; REPRODUCIBLE</a:t>
            </a:r>
            <a:endParaRPr lang="en-US" sz="1650" dirty="0"/>
          </a:p>
        </p:txBody>
      </p:sp>
      <p:sp>
        <p:nvSpPr>
          <p:cNvPr id="10" name="Shape 8"/>
          <p:cNvSpPr/>
          <p:nvPr/>
        </p:nvSpPr>
        <p:spPr>
          <a:xfrm>
            <a:off x="9667875" y="2962275"/>
            <a:ext cx="7315200" cy="590550"/>
          </a:xfrm>
          <a:prstGeom prst="roundRect">
            <a:avLst>
              <a:gd name="adj" fmla="val 9677"/>
            </a:avLst>
          </a:prstGeom>
          <a:solidFill>
            <a:srgbClr val="0C130F"/>
          </a:solidFill>
          <a:ln/>
        </p:spPr>
        <p:txBody>
          <a:bodyPr/>
          <a:p/>
        </p:txBody>
      </p:sp>
      <p:sp>
        <p:nvSpPr>
          <p:cNvPr id="11" name="Text 9"/>
          <p:cNvSpPr/>
          <p:nvPr/>
        </p:nvSpPr>
        <p:spPr>
          <a:xfrm>
            <a:off x="9858375" y="3114675"/>
            <a:ext cx="7153656" cy="323850"/>
          </a:xfrm>
          <a:prstGeom prst="rect">
            <a:avLst/>
          </a:prstGeom>
          <a:noFill/>
          <a:ln/>
        </p:spPr>
        <p:txBody>
          <a:bodyPr wrap="square" lIns="25400" tIns="25400" rIns="25400" bIns="25400" rtlCol="0" anchor="t">
            <a:normAutofit/>
          </a:bodyPr>
          <a:lstStyle/>
          <a:p>
            <a:pPr algn="l" indent="0" marL="0">
              <a:buNone/>
            </a:pPr>
            <a:r>
              <a:rPr lang="en-US" sz="1725" dirty="0">
                <a:solidFill>
                  <a:srgbClr val="CBD8CE"/>
                </a:solidFill>
                <a:latin typeface="Courier New" pitchFamily="34" charset="0"/>
                <a:ea typeface="Courier New" pitchFamily="34" charset="-122"/>
                <a:cs typeface="Courier New" pitchFamily="34" charset="-120"/>
              </a:rPr>
              <a:t>$ python scripts/rebuild_all.py</a:t>
            </a:r>
            <a:endParaRPr lang="en-US" sz="1725" dirty="0"/>
          </a:p>
        </p:txBody>
      </p:sp>
      <p:sp>
        <p:nvSpPr>
          <p:cNvPr id="12" name="Shape 10"/>
          <p:cNvSpPr/>
          <p:nvPr/>
        </p:nvSpPr>
        <p:spPr>
          <a:xfrm>
            <a:off x="9667875" y="4095750"/>
            <a:ext cx="7315200" cy="9525"/>
          </a:xfrm>
          <a:prstGeom prst="rect">
            <a:avLst/>
          </a:prstGeom>
          <a:solidFill>
            <a:srgbClr val="8FB7D8">
              <a:alpha val="40000"/>
            </a:srgbClr>
          </a:solidFill>
          <a:ln/>
        </p:spPr>
        <p:txBody>
          <a:bodyPr/>
          <a:p/>
        </p:txBody>
      </p:sp>
      <p:sp>
        <p:nvSpPr>
          <p:cNvPr id="13" name="Text 11">
            <a:hlinkClick r:id="rId1" tooltip=""/>
          </p:cNvPr>
          <p:cNvSpPr/>
          <p:nvPr/>
        </p:nvSpPr>
        <p:spPr>
          <a:xfrm>
            <a:off x="9667875" y="3762375"/>
            <a:ext cx="8046720" cy="371475"/>
          </a:xfrm>
          <a:prstGeom prst="rect">
            <a:avLst/>
          </a:prstGeom>
          <a:noFill/>
          <a:ln/>
        </p:spPr>
        <p:txBody>
          <a:bodyPr wrap="square" lIns="25400" tIns="25400" rIns="25400" bIns="25400" rtlCol="0" anchor="t">
            <a:normAutofit/>
          </a:bodyPr>
          <a:lstStyle/>
          <a:p>
            <a:pPr algn="l" indent="0" marL="0">
              <a:buNone/>
            </a:pPr>
            <a:r>
              <a:rPr lang="en-US" sz="1950" u="sng" dirty="0">
                <a:solidFill>
                  <a:srgbClr val="8FB7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Full repository (data · code · logs) ↗</a:t>
            </a:r>
            <a:endParaRPr lang="en-US" sz="1950" dirty="0"/>
          </a:p>
        </p:txBody>
      </p:sp>
      <p:sp>
        <p:nvSpPr>
          <p:cNvPr id="14" name="Shape 12"/>
          <p:cNvSpPr/>
          <p:nvPr/>
        </p:nvSpPr>
        <p:spPr>
          <a:xfrm>
            <a:off x="9667875" y="4572000"/>
            <a:ext cx="7315200" cy="9525"/>
          </a:xfrm>
          <a:prstGeom prst="rect">
            <a:avLst/>
          </a:prstGeom>
          <a:solidFill>
            <a:srgbClr val="8FB7D8">
              <a:alpha val="40000"/>
            </a:srgbClr>
          </a:solidFill>
          <a:ln/>
        </p:spPr>
        <p:txBody>
          <a:bodyPr/>
          <a:p/>
        </p:txBody>
      </p:sp>
      <p:sp>
        <p:nvSpPr>
          <p:cNvPr id="15" name="Text 13">
            <a:hlinkClick r:id="rId2" tooltip=""/>
          </p:cNvPr>
          <p:cNvSpPr/>
          <p:nvPr/>
        </p:nvSpPr>
        <p:spPr>
          <a:xfrm>
            <a:off x="9667875" y="4238625"/>
            <a:ext cx="8046720" cy="371475"/>
          </a:xfrm>
          <a:prstGeom prst="rect">
            <a:avLst/>
          </a:prstGeom>
          <a:noFill/>
          <a:ln/>
        </p:spPr>
        <p:txBody>
          <a:bodyPr wrap="square" lIns="25400" tIns="25400" rIns="25400" bIns="25400" rtlCol="0" anchor="t">
            <a:normAutofit/>
          </a:bodyPr>
          <a:lstStyle/>
          <a:p>
            <a:pPr algn="l" indent="0" marL="0">
              <a:buNone/>
            </a:pPr>
            <a:r>
              <a:rPr lang="en-US" sz="1950" u="sng" dirty="0">
                <a:solidFill>
                  <a:srgbClr val="8FB7D8"/>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RCSB PDB — all 3D structures ↗</a:t>
            </a:r>
            <a:endParaRPr lang="en-US" sz="1950" dirty="0"/>
          </a:p>
        </p:txBody>
      </p:sp>
      <p:sp>
        <p:nvSpPr>
          <p:cNvPr id="16" name="Shape 14"/>
          <p:cNvSpPr/>
          <p:nvPr/>
        </p:nvSpPr>
        <p:spPr>
          <a:xfrm>
            <a:off x="9667875" y="5048250"/>
            <a:ext cx="7315200" cy="9525"/>
          </a:xfrm>
          <a:prstGeom prst="rect">
            <a:avLst/>
          </a:prstGeom>
          <a:solidFill>
            <a:srgbClr val="8FB7D8">
              <a:alpha val="40000"/>
            </a:srgbClr>
          </a:solidFill>
          <a:ln/>
        </p:spPr>
        <p:txBody>
          <a:bodyPr/>
          <a:p/>
        </p:txBody>
      </p:sp>
      <p:sp>
        <p:nvSpPr>
          <p:cNvPr id="17" name="Text 15">
            <a:hlinkClick r:id="rId3" tooltip=""/>
          </p:cNvPr>
          <p:cNvSpPr/>
          <p:nvPr/>
        </p:nvSpPr>
        <p:spPr>
          <a:xfrm>
            <a:off x="9667875" y="4714875"/>
            <a:ext cx="8046720" cy="371475"/>
          </a:xfrm>
          <a:prstGeom prst="rect">
            <a:avLst/>
          </a:prstGeom>
          <a:noFill/>
          <a:ln/>
        </p:spPr>
        <p:txBody>
          <a:bodyPr wrap="square" lIns="25400" tIns="25400" rIns="25400" bIns="25400" rtlCol="0" anchor="t">
            <a:normAutofit/>
          </a:bodyPr>
          <a:lstStyle/>
          <a:p>
            <a:pPr algn="l" indent="0" marL="0">
              <a:buNone/>
            </a:pPr>
            <a:r>
              <a:rPr lang="en-US" sz="1950" u="sng" dirty="0">
                <a:solidFill>
                  <a:srgbClr val="8FB7D8"/>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Délye 2005 — ACCase TSR ↗</a:t>
            </a:r>
            <a:endParaRPr lang="en-US" sz="1950" dirty="0"/>
          </a:p>
        </p:txBody>
      </p:sp>
      <p:sp>
        <p:nvSpPr>
          <p:cNvPr id="18" name="Shape 16"/>
          <p:cNvSpPr/>
          <p:nvPr/>
        </p:nvSpPr>
        <p:spPr>
          <a:xfrm>
            <a:off x="9667875" y="5524500"/>
            <a:ext cx="7315200" cy="9525"/>
          </a:xfrm>
          <a:prstGeom prst="rect">
            <a:avLst/>
          </a:prstGeom>
          <a:solidFill>
            <a:srgbClr val="8FB7D8">
              <a:alpha val="40000"/>
            </a:srgbClr>
          </a:solidFill>
          <a:ln/>
        </p:spPr>
        <p:txBody>
          <a:bodyPr/>
          <a:p/>
        </p:txBody>
      </p:sp>
      <p:sp>
        <p:nvSpPr>
          <p:cNvPr id="19" name="Text 17">
            <a:hlinkClick r:id="rId4" tooltip=""/>
          </p:cNvPr>
          <p:cNvSpPr/>
          <p:nvPr/>
        </p:nvSpPr>
        <p:spPr>
          <a:xfrm>
            <a:off x="9667875" y="5191125"/>
            <a:ext cx="8046720" cy="371475"/>
          </a:xfrm>
          <a:prstGeom prst="rect">
            <a:avLst/>
          </a:prstGeom>
          <a:noFill/>
          <a:ln/>
        </p:spPr>
        <p:txBody>
          <a:bodyPr wrap="square" lIns="25400" tIns="25400" rIns="25400" bIns="25400" rtlCol="0" anchor="t">
            <a:normAutofit/>
          </a:bodyPr>
          <a:lstStyle/>
          <a:p>
            <a:pPr algn="l" indent="0" marL="0">
              <a:buNone/>
            </a:pPr>
            <a:r>
              <a:rPr lang="en-US" sz="1950" u="sng" dirty="0">
                <a:solidFill>
                  <a:srgbClr val="8FB7D8"/>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Dayan 2010 — PPO ΔG210 ↗</a:t>
            </a:r>
            <a:endParaRPr lang="en-US" sz="1950" dirty="0"/>
          </a:p>
        </p:txBody>
      </p:sp>
      <p:sp>
        <p:nvSpPr>
          <p:cNvPr id="20" name="Shape 18"/>
          <p:cNvSpPr/>
          <p:nvPr/>
        </p:nvSpPr>
        <p:spPr>
          <a:xfrm>
            <a:off x="914400" y="7486650"/>
            <a:ext cx="16459200" cy="2038350"/>
          </a:xfrm>
          <a:prstGeom prst="roundRect">
            <a:avLst>
              <a:gd name="adj" fmla="val 3738"/>
            </a:avLst>
          </a:prstGeom>
          <a:solidFill>
            <a:srgbClr val="F4F1EA"/>
          </a:solidFill>
          <a:ln/>
        </p:spPr>
        <p:txBody>
          <a:bodyPr/>
          <a:p/>
        </p:txBody>
      </p:sp>
      <p:sp>
        <p:nvSpPr>
          <p:cNvPr id="21" name="Text 19"/>
          <p:cNvSpPr/>
          <p:nvPr/>
        </p:nvSpPr>
        <p:spPr>
          <a:xfrm>
            <a:off x="1333500" y="8215313"/>
            <a:ext cx="6219870" cy="619125"/>
          </a:xfrm>
          <a:prstGeom prst="rect">
            <a:avLst/>
          </a:prstGeom>
          <a:noFill/>
          <a:ln/>
        </p:spPr>
        <p:txBody>
          <a:bodyPr wrap="square" lIns="25400" tIns="25400" rIns="25400" bIns="25400" rtlCol="0" anchor="t">
            <a:normAutofit/>
          </a:bodyPr>
          <a:lstStyle/>
          <a:p>
            <a:pPr algn="l" indent="0" marL="0">
              <a:buNone/>
            </a:pPr>
            <a:r>
              <a:rPr lang="en-US" sz="3000" dirty="0">
                <a:solidFill>
                  <a:srgbClr val="14211B"/>
                </a:solidFill>
                <a:latin typeface="Georgia" pitchFamily="34" charset="0"/>
                <a:ea typeface="Georgia" pitchFamily="34" charset="-122"/>
                <a:cs typeface="Georgia" pitchFamily="34" charset="-120"/>
              </a:rPr>
              <a:t>Thank you — questions welcome.</a:t>
            </a:r>
            <a:endParaRPr lang="en-US" sz="3000" dirty="0"/>
          </a:p>
        </p:txBody>
      </p:sp>
      <p:sp>
        <p:nvSpPr>
          <p:cNvPr id="22" name="Text 20"/>
          <p:cNvSpPr/>
          <p:nvPr/>
        </p:nvSpPr>
        <p:spPr>
          <a:xfrm>
            <a:off x="10165035" y="8370094"/>
            <a:ext cx="7468411" cy="309563"/>
          </a:xfrm>
          <a:prstGeom prst="rect">
            <a:avLst/>
          </a:prstGeom>
          <a:noFill/>
          <a:ln/>
        </p:spPr>
        <p:txBody>
          <a:bodyPr wrap="square" lIns="25400" tIns="25400" rIns="25400" bIns="25400" rtlCol="0" anchor="t">
            <a:normAutofit/>
          </a:bodyPr>
          <a:lstStyle/>
          <a:p>
            <a:pPr algn="l" indent="0" marL="0">
              <a:buNone/>
            </a:pPr>
            <a:r>
              <a:rPr lang="en-US" sz="1650" dirty="0">
                <a:solidFill>
                  <a:srgbClr val="5A6660"/>
                </a:solidFill>
                <a:latin typeface="Courier New" pitchFamily="34" charset="0"/>
                <a:ea typeface="Courier New" pitchFamily="34" charset="-122"/>
                <a:cs typeface="Courier New" pitchFamily="34" charset="-120"/>
              </a:rPr>
              <a:t>links above are live · full reference list in the repo</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2026-07-06T12:49:38Z</dcterms:created>
  <dcterms:modified xsi:type="dcterms:W3CDTF">2026-07-06T12:49:38Z</dcterms:modified>
</cp:coreProperties>
</file>